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83402fa2fc8458c" /><Relationship Type="http://schemas.openxmlformats.org/officeDocument/2006/relationships/extended-properties" Target="/docProps/app.xml" Id="R9e90e768f8144632" /><Relationship Type="http://schemas.openxmlformats.org/officeDocument/2006/relationships/officeDocument" Target="/ppt/presentation.xml" Id="R18ab32cd1bb544e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5958dbeebc244e8"/>
  </p:sldMasterIdLst>
  <p:notesMasterIdLst>
    <p:notesMasterId xmlns:r="http://schemas.openxmlformats.org/officeDocument/2006/relationships" r:id="R58ef46fd3dfc43c8"/>
  </p:notesMasterIdLst>
  <p:sldIdLst>
    <p:sldId xmlns:r="http://schemas.openxmlformats.org/officeDocument/2006/relationships" id="256" r:id="Rcc737b24b0a749b6"/>
    <p:sldId xmlns:r="http://schemas.openxmlformats.org/officeDocument/2006/relationships" id="257" r:id="R74c31b62938e4112"/>
    <p:sldId xmlns:r="http://schemas.openxmlformats.org/officeDocument/2006/relationships" id="258" r:id="Ra7ceaa8762814aea"/>
    <p:sldId xmlns:r="http://schemas.openxmlformats.org/officeDocument/2006/relationships" id="259" r:id="R717a7bf4076944a7"/>
    <p:sldId xmlns:r="http://schemas.openxmlformats.org/officeDocument/2006/relationships" id="260" r:id="R574f6bf776bd4210"/>
    <p:sldId xmlns:r="http://schemas.openxmlformats.org/officeDocument/2006/relationships" id="261" r:id="Rc9533c2917004235"/>
    <p:sldId xmlns:r="http://schemas.openxmlformats.org/officeDocument/2006/relationships" id="262" r:id="Rdbca3a1e3c8e47ba"/>
    <p:sldId xmlns:r="http://schemas.openxmlformats.org/officeDocument/2006/relationships" id="263" r:id="Rd0a4af427a064f5b"/>
    <p:sldId xmlns:r="http://schemas.openxmlformats.org/officeDocument/2006/relationships" id="264" r:id="R2b533d7ea90b41b5"/>
    <p:sldId xmlns:r="http://schemas.openxmlformats.org/officeDocument/2006/relationships" id="265" r:id="R1c2160ab223e4529"/>
    <p:sldId xmlns:r="http://schemas.openxmlformats.org/officeDocument/2006/relationships" id="266" r:id="R04338f72acd2412e"/>
    <p:sldId xmlns:r="http://schemas.openxmlformats.org/officeDocument/2006/relationships" id="267" r:id="R929e1d11781b42d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a32cb18fb164ee6" /><Relationship Type="http://schemas.openxmlformats.org/officeDocument/2006/relationships/slideMaster" Target="/ppt/slideMasters/slideMaster1.xml" Id="R45958dbeebc244e8" /><Relationship Type="http://schemas.openxmlformats.org/officeDocument/2006/relationships/notesMaster" Target="/ppt/notesMasters/notesMaster1.xml" Id="R58ef46fd3dfc43c8" /><Relationship Type="http://schemas.openxmlformats.org/officeDocument/2006/relationships/presProps" Target="/ppt/presProps.xml" Id="R5a7f3b441b0448ee" /><Relationship Type="http://schemas.openxmlformats.org/officeDocument/2006/relationships/tableStyles" Target="/ppt/tableStyles.xml" Id="Rbf93ce4b67b64b25" /><Relationship Type="http://schemas.openxmlformats.org/officeDocument/2006/relationships/slide" Target="/ppt/slides/slide1.xml" Id="Rcc737b24b0a749b6" /><Relationship Type="http://schemas.openxmlformats.org/officeDocument/2006/relationships/slide" Target="/ppt/slides/slide2.xml" Id="R74c31b62938e4112" /><Relationship Type="http://schemas.openxmlformats.org/officeDocument/2006/relationships/slide" Target="/ppt/slides/slide3.xml" Id="Ra7ceaa8762814aea" /><Relationship Type="http://schemas.openxmlformats.org/officeDocument/2006/relationships/slide" Target="/ppt/slides/slide4.xml" Id="R717a7bf4076944a7" /><Relationship Type="http://schemas.openxmlformats.org/officeDocument/2006/relationships/slide" Target="/ppt/slides/slide5.xml" Id="R574f6bf776bd4210" /><Relationship Type="http://schemas.openxmlformats.org/officeDocument/2006/relationships/slide" Target="/ppt/slides/slide6.xml" Id="Rc9533c2917004235" /><Relationship Type="http://schemas.openxmlformats.org/officeDocument/2006/relationships/slide" Target="/ppt/slides/slide7.xml" Id="Rdbca3a1e3c8e47ba" /><Relationship Type="http://schemas.openxmlformats.org/officeDocument/2006/relationships/slide" Target="/ppt/slides/slide8.xml" Id="Rd0a4af427a064f5b" /><Relationship Type="http://schemas.openxmlformats.org/officeDocument/2006/relationships/slide" Target="/ppt/slides/slide9.xml" Id="R2b533d7ea90b41b5" /><Relationship Type="http://schemas.openxmlformats.org/officeDocument/2006/relationships/slide" Target="/ppt/slides/slide10.xml" Id="R1c2160ab223e4529" /><Relationship Type="http://schemas.openxmlformats.org/officeDocument/2006/relationships/slide" Target="/ppt/slides/slide11.xml" Id="R04338f72acd2412e" /><Relationship Type="http://schemas.openxmlformats.org/officeDocument/2006/relationships/slide" Target="/ppt/slides/slide12.xml" Id="R929e1d11781b42d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9eca082471a4f4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0eaa9498e184f9b" /><Relationship Type="http://schemas.openxmlformats.org/officeDocument/2006/relationships/notesMaster" Target="/ppt/notesMasters/notesMaster1.xml" Id="R6588ae5935cc487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6ca4a2e525140b9" /><Relationship Type="http://schemas.openxmlformats.org/officeDocument/2006/relationships/notesMaster" Target="/ppt/notesMasters/notesMaster1.xml" Id="Rce5edef06cfc40e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e70f61044b54f5c" /><Relationship Type="http://schemas.openxmlformats.org/officeDocument/2006/relationships/notesMaster" Target="/ppt/notesMasters/notesMaster1.xml" Id="Raa27abd563ad4c9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540d0391d144fd5" /><Relationship Type="http://schemas.openxmlformats.org/officeDocument/2006/relationships/notesMaster" Target="/ppt/notesMasters/notesMaster1.xml" Id="R927b194d5cb4473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70ee0dd025543ee" /><Relationship Type="http://schemas.openxmlformats.org/officeDocument/2006/relationships/notesMaster" Target="/ppt/notesMasters/notesMaster1.xml" Id="R9dd9ee0f4104416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314342f852044b9" /><Relationship Type="http://schemas.openxmlformats.org/officeDocument/2006/relationships/notesMaster" Target="/ppt/notesMasters/notesMaster1.xml" Id="R8884b25eaa8446a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c3b83bfda6a43a6" /><Relationship Type="http://schemas.openxmlformats.org/officeDocument/2006/relationships/notesMaster" Target="/ppt/notesMasters/notesMaster1.xml" Id="R44fd52e482a740e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8bcb23d7821487b" /><Relationship Type="http://schemas.openxmlformats.org/officeDocument/2006/relationships/notesMaster" Target="/ppt/notesMasters/notesMaster1.xml" Id="Ra143637cfe3542b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453138bafe44451" /><Relationship Type="http://schemas.openxmlformats.org/officeDocument/2006/relationships/notesMaster" Target="/ppt/notesMasters/notesMaster1.xml" Id="R45e51005f4054dc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ced01631a604256" /><Relationship Type="http://schemas.openxmlformats.org/officeDocument/2006/relationships/notesMaster" Target="/ppt/notesMasters/notesMaster1.xml" Id="R57a19e36f43342b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99fdcd5e95d4371" /><Relationship Type="http://schemas.openxmlformats.org/officeDocument/2006/relationships/notesMaster" Target="/ppt/notesMasters/notesMaster1.xml" Id="R71f6aef3c06e416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452bbe279a24f56" /><Relationship Type="http://schemas.openxmlformats.org/officeDocument/2006/relationships/notesMaster" Target="/ppt/notesMasters/notesMaster1.xml" Id="R571085bc1ef144e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5084c53dc546c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81d23d002584116" /><Relationship Type="http://schemas.openxmlformats.org/officeDocument/2006/relationships/slideLayout" Target="/ppt/slideLayouts/slideLayout1.xml" Id="R8e72a949c43847e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e72a949c43847e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361265b2fa408f" /><Relationship Type="http://schemas.openxmlformats.org/officeDocument/2006/relationships/image" Target="/ppt/media/image.jpeg" Id="R092eaa0f34434815" /><Relationship Type="http://schemas.openxmlformats.org/officeDocument/2006/relationships/notesSlide" Target="/ppt/notesSlides/notesSlide1.xml" Id="R8d4a1d1fffc8457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e059ac8e8e4f53" /><Relationship Type="http://schemas.openxmlformats.org/officeDocument/2006/relationships/notesSlide" Target="/ppt/notesSlides/notesSlide2.xml" Id="Re5b9e8bbb185402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49b5004dce4a44" /><Relationship Type="http://schemas.openxmlformats.org/officeDocument/2006/relationships/image" Target="/ppt/media/image.png" Id="R53a0a46c78104091" /><Relationship Type="http://schemas.openxmlformats.org/officeDocument/2006/relationships/notesSlide" Target="/ppt/notesSlides/notesSlide3.xml" Id="R3994af566f96476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df3bde261a48ce" /><Relationship Type="http://schemas.openxmlformats.org/officeDocument/2006/relationships/image" Target="/ppt/media/image2.png" Id="R07e5b0bf84f34df8" /><Relationship Type="http://schemas.openxmlformats.org/officeDocument/2006/relationships/notesSlide" Target="/ppt/notesSlides/notesSlide4.xml" Id="R8414e4020a644cc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8a155be54e41c7" /><Relationship Type="http://schemas.openxmlformats.org/officeDocument/2006/relationships/notesSlide" Target="/ppt/notesSlides/notesSlide5.xml" Id="R6cd66870a756432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a469ff20cb4dd3" /><Relationship Type="http://schemas.openxmlformats.org/officeDocument/2006/relationships/notesSlide" Target="/ppt/notesSlides/notesSlide6.xml" Id="Rbfb00a9b44d0429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75ff82beda46cd" /><Relationship Type="http://schemas.openxmlformats.org/officeDocument/2006/relationships/image" Target="/ppt/media/image2.jpeg" Id="R1892eb4ac1524bc7" /><Relationship Type="http://schemas.openxmlformats.org/officeDocument/2006/relationships/image" Target="/ppt/media/image3.jpeg" Id="R4f77e5841a274bd7" /><Relationship Type="http://schemas.openxmlformats.org/officeDocument/2006/relationships/notesSlide" Target="/ppt/notesSlides/notesSlide7.xml" Id="Rfe7efa706b484de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2ae16e3d334256" /><Relationship Type="http://schemas.openxmlformats.org/officeDocument/2006/relationships/notesSlide" Target="/ppt/notesSlides/notesSlide8.xml" Id="R88a4817bf247433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6cf20d51374f8f" /><Relationship Type="http://schemas.openxmlformats.org/officeDocument/2006/relationships/image" Target="/ppt/media/image4.jpeg" Id="R7bdceec3b0794f75" /><Relationship Type="http://schemas.openxmlformats.org/officeDocument/2006/relationships/notesSlide" Target="/ppt/notesSlides/notesSlide9.xml" Id="Ra19f1bb198014a2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9230dc45214520" /><Relationship Type="http://schemas.openxmlformats.org/officeDocument/2006/relationships/notesSlide" Target="/ppt/notesSlides/notesSlide10.xml" Id="R6808a028fa9b4df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95d5bb0d454fd4" /><Relationship Type="http://schemas.openxmlformats.org/officeDocument/2006/relationships/notesSlide" Target="/ppt/notesSlides/notesSlide11.xml" Id="R295baa1c71fc487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052137543e4b4a" /><Relationship Type="http://schemas.openxmlformats.org/officeDocument/2006/relationships/image" Target="/ppt/media/image3.png" Id="R92483d7a53e24c69" /><Relationship Type="http://schemas.openxmlformats.org/officeDocument/2006/relationships/hyperlink" Target="mailto:ronnie@lumifyai.com" TargetMode="External" Id="R0c45a218d356423c" /><Relationship Type="http://schemas.openxmlformats.org/officeDocument/2006/relationships/hyperlink" Target="https://www.linkedin.com/in/ronniecleland" TargetMode="External" Id="R9c71bbff245845d3" /><Relationship Type="http://schemas.openxmlformats.org/officeDocument/2006/relationships/hyperlink" Target="https://www.ronniecleland.com/" TargetMode="External" Id="R982ee91ada1b4774" /><Relationship Type="http://schemas.openxmlformats.org/officeDocument/2006/relationships/notesSlide" Target="/ppt/notesSlides/notesSlide12.xml" Id="R76c5f4a3dbcd4d4d" /></Relationships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2070D"/>
            </a:gs>
            <a:gs pos="58000">
              <a:srgbClr val="061621"/>
            </a:gs>
            <a:gs pos="100000">
              <a:srgbClr val="02070D"/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erimeter">
            <a:extLst xmlns:a="http://schemas.openxmlformats.org/drawingml/2006/main">
              <a:ext uri="{FF2B5EF4-FFF2-40B4-BE49-F238E27FC236}">
                <a16:creationId xmlns:a16="http://schemas.microsoft.com/office/drawing/2014/main" id="{EE5ABCDF-3620-4BD1-8A6A-BBF76E358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152400"/>
            <a:ext cx="11887200" cy="6553200"/>
          </a:xfrm>
          <a:prstGeom xmlns:a="http://schemas.openxmlformats.org/drawingml/2006/main" prst="roundRect">
            <a:avLst>
              <a:gd name="adj" fmla="val 1163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176171"/>
            </a:solidFill>
            <a:prstDash val="solid"/>
          </a:ln>
        </p:spPr>
      </p:sp>
      <p:sp>
        <p:nvSpPr>
          <p:cNvPr id="2" name="left-guide">
            <a:extLst xmlns:a="http://schemas.openxmlformats.org/drawingml/2006/main">
              <a:ext uri="{FF2B5EF4-FFF2-40B4-BE49-F238E27FC236}">
                <a16:creationId xmlns:a16="http://schemas.microsoft.com/office/drawing/2014/main" id="{3024B793-E1E3-4DAE-878B-9527E2E4F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66700"/>
            <a:ext cx="9525" cy="632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3D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node">
            <a:extLst xmlns:a="http://schemas.openxmlformats.org/drawingml/2006/main">
              <a:ext uri="{FF2B5EF4-FFF2-40B4-BE49-F238E27FC236}">
                <a16:creationId xmlns:a16="http://schemas.microsoft.com/office/drawing/2014/main" id="{2EB2FA9A-437D-4398-ACCA-E369E4449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2381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F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ottom-node">
            <a:extLst xmlns:a="http://schemas.openxmlformats.org/drawingml/2006/main">
              <a:ext uri="{FF2B5EF4-FFF2-40B4-BE49-F238E27FC236}">
                <a16:creationId xmlns:a16="http://schemas.microsoft.com/office/drawing/2014/main" id="{6E16B3EB-9F3D-465B-AA12-7125ACA43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65627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B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ver-name">
            <a:extLst xmlns:a="http://schemas.openxmlformats.org/drawingml/2006/main">
              <a:ext uri="{FF2B5EF4-FFF2-40B4-BE49-F238E27FC236}">
                <a16:creationId xmlns:a16="http://schemas.microsoft.com/office/drawing/2014/main" id="{8DCEDEAA-AB3A-4B3C-B19E-E28C9B840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 i="0">
                <a:solidFill>
                  <a:srgbClr val="F5F8FA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 i="0">
                <a:solidFill>
                  <a:srgbClr val="F5F8FA"/>
                </a:solidFill>
                <a:latin typeface="Nimbus Sans"/>
                <a:ea typeface="Nimbus Sans"/>
                <a:cs typeface="Nimbus Sans"/>
              </a:rPr>
              <a:t>RONNIE CLELAND</a:t>
            </a:r>
          </a:p>
        </p:txBody>
      </p:sp>
      <p:sp>
        <p:nvSpPr>
          <p:cNvPr id="6" name="cover-role">
            <a:extLst xmlns:a="http://schemas.openxmlformats.org/drawingml/2006/main">
              <a:ext uri="{FF2B5EF4-FFF2-40B4-BE49-F238E27FC236}">
                <a16:creationId xmlns:a16="http://schemas.microsoft.com/office/drawing/2014/main" id="{0CE99220-A094-4C95-9052-9FEC6A67C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77F0E4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 i="0">
                <a:solidFill>
                  <a:srgbClr val="77F0E4"/>
                </a:solidFill>
                <a:latin typeface="Nimbus Sans"/>
                <a:ea typeface="Nimbus Sans"/>
                <a:cs typeface="Nimbus Sans"/>
              </a:rPr>
              <a:t>CREATIVE AI PLATFORM ARCHITECT</a:t>
            </a:r>
          </a:p>
        </p:txBody>
      </p:sp>
      <p:sp>
        <p:nvSpPr>
          <p:cNvPr id="7" name="cover-headline-1">
            <a:extLst xmlns:a="http://schemas.openxmlformats.org/drawingml/2006/main">
              <a:ext uri="{FF2B5EF4-FFF2-40B4-BE49-F238E27FC236}">
                <a16:creationId xmlns:a16="http://schemas.microsoft.com/office/drawing/2014/main" id="{2B61F958-7F9F-4CB6-93B3-DCB7B3BB9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 i="0">
                <a:solidFill>
                  <a:srgbClr val="F5F8FA"/>
                </a:solidFill>
                <a:latin typeface="Nimbus Sans"/>
                <a:ea typeface="Nimbus Sans"/>
                <a:cs typeface="Nimbus Sans"/>
              </a:defRPr>
            </a:pPr>
            <a:r>
              <a:rPr sz="3150" b="1" i="0">
                <a:solidFill>
                  <a:srgbClr val="F5F8FA"/>
                </a:solidFill>
                <a:latin typeface="Nimbus Sans"/>
                <a:ea typeface="Nimbus Sans"/>
                <a:cs typeface="Nimbus Sans"/>
              </a:rPr>
              <a:t>I turn artist</a:t>
            </a:r>
          </a:p>
        </p:txBody>
      </p:sp>
      <p:sp>
        <p:nvSpPr>
          <p:cNvPr id="8" name="cover-headline-2">
            <a:extLst xmlns:a="http://schemas.openxmlformats.org/drawingml/2006/main">
              <a:ext uri="{FF2B5EF4-FFF2-40B4-BE49-F238E27FC236}">
                <a16:creationId xmlns:a16="http://schemas.microsoft.com/office/drawing/2014/main" id="{3768BA25-BD74-4C47-AB45-DEF4BD8B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 i="0">
                <a:solidFill>
                  <a:srgbClr val="F5F8FA"/>
                </a:solidFill>
                <a:latin typeface="Nimbus Sans"/>
                <a:ea typeface="Nimbus Sans"/>
                <a:cs typeface="Nimbus Sans"/>
              </a:defRPr>
            </a:pPr>
            <a:r>
              <a:rPr sz="3150" b="1" i="0">
                <a:solidFill>
                  <a:srgbClr val="F5F8FA"/>
                </a:solidFill>
                <a:latin typeface="Nimbus Sans"/>
                <a:ea typeface="Nimbus Sans"/>
                <a:cs typeface="Nimbus Sans"/>
              </a:rPr>
              <a:t>judgment into</a:t>
            </a:r>
          </a:p>
        </p:txBody>
      </p:sp>
      <p:sp>
        <p:nvSpPr>
          <p:cNvPr id="9" name="cover-headline-3">
            <a:extLst xmlns:a="http://schemas.openxmlformats.org/drawingml/2006/main">
              <a:ext uri="{FF2B5EF4-FFF2-40B4-BE49-F238E27FC236}">
                <a16:creationId xmlns:a16="http://schemas.microsoft.com/office/drawing/2014/main" id="{30B7B4CE-075F-4A2E-A11D-C40590D62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 i="0">
                <a:solidFill>
                  <a:srgbClr val="77F0E4"/>
                </a:solidFill>
                <a:latin typeface="Nimbus Sans"/>
                <a:ea typeface="Nimbus Sans"/>
                <a:cs typeface="Nimbus Sans"/>
              </a:defRPr>
            </a:pPr>
            <a:r>
              <a:rPr sz="3150" b="1" i="0">
                <a:solidFill>
                  <a:srgbClr val="77F0E4"/>
                </a:solidFill>
                <a:latin typeface="Nimbus Sans"/>
                <a:ea typeface="Nimbus Sans"/>
                <a:cs typeface="Nimbus Sans"/>
              </a:rPr>
              <a:t>multimodal</a:t>
            </a:r>
          </a:p>
        </p:txBody>
      </p:sp>
      <p:sp>
        <p:nvSpPr>
          <p:cNvPr id="10" name="cover-headline-4">
            <a:extLst xmlns:a="http://schemas.openxmlformats.org/drawingml/2006/main">
              <a:ext uri="{FF2B5EF4-FFF2-40B4-BE49-F238E27FC236}">
                <a16:creationId xmlns:a16="http://schemas.microsoft.com/office/drawing/2014/main" id="{4CC9CE45-09AC-486A-A8B3-AEE8D58F0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52825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 i="0">
                <a:solidFill>
                  <a:srgbClr val="12B8E5"/>
                </a:solidFill>
                <a:latin typeface="Nimbus Sans"/>
                <a:ea typeface="Nimbus Sans"/>
                <a:cs typeface="Nimbus Sans"/>
              </a:defRPr>
            </a:pPr>
            <a:r>
              <a:rPr sz="3150" b="1" i="0">
                <a:solidFill>
                  <a:srgbClr val="12B8E5"/>
                </a:solidFill>
                <a:latin typeface="Nimbus Sans"/>
                <a:ea typeface="Nimbus Sans"/>
                <a:cs typeface="Nimbus Sans"/>
              </a:rPr>
              <a:t>creative systems.</a:t>
            </a:r>
          </a:p>
        </p:txBody>
      </p:sp>
      <p:sp>
        <p:nvSpPr>
          <p:cNvPr id="11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CB5B531F-4696-4BBD-8A4A-4594A6454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76725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E0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over-product-frame">
            <a:extLst xmlns:a="http://schemas.openxmlformats.org/drawingml/2006/main">
              <a:ext uri="{FF2B5EF4-FFF2-40B4-BE49-F238E27FC236}">
                <a16:creationId xmlns:a16="http://schemas.microsoft.com/office/drawing/2014/main" id="{A2A89744-42FD-426F-B783-BD865025E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523875"/>
            <a:ext cx="6819900" cy="3467100"/>
          </a:xfrm>
          <a:prstGeom xmlns:a="http://schemas.openxmlformats.org/drawingml/2006/main" prst="roundRect">
            <a:avLst>
              <a:gd name="adj" fmla="val 2198"/>
            </a:avLst>
          </a:prstGeom>
          <a:solidFill xmlns:a="http://schemas.openxmlformats.org/drawingml/2006/main">
            <a:srgbClr val="02070D"/>
          </a:solidFill>
          <a:ln xmlns:a="http://schemas.openxmlformats.org/drawingml/2006/main" w="9525">
            <a:solidFill>
              <a:srgbClr val="35E0DF"/>
            </a:solidFill>
            <a:prstDash val="solid"/>
          </a:ln>
        </p:spPr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2eaa0f34434815"/>
          <a:stretch xmlns:a="http://schemas.openxmlformats.org/drawingml/2006/main"/>
        </p:blipFill>
        <p:spPr>
          <a:xfrm xmlns:a="http://schemas.openxmlformats.org/drawingml/2006/main">
            <a:off x="4762500" y="560590"/>
            <a:ext cx="6762750" cy="3393671"/>
          </a:xfrm>
          <a:prstGeom xmlns:a="http://schemas.openxmlformats.org/drawingml/2006/main" prst="roundRect">
            <a:avLst>
              <a:gd name="adj" fmla="val 2793"/>
            </a:avLst>
          </a:prstGeom>
        </p:spPr>
      </p:pic>
      <p:sp>
        <p:nvSpPr>
          <p:cNvPr id="14" name="cover-product-label">
            <a:extLst xmlns:a="http://schemas.openxmlformats.org/drawingml/2006/main">
              <a:ext uri="{FF2B5EF4-FFF2-40B4-BE49-F238E27FC236}">
                <a16:creationId xmlns:a16="http://schemas.microsoft.com/office/drawing/2014/main" id="{475B4955-80A8-4725-80B6-3809103E5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7429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77F0E4"/>
                </a:solidFill>
                <a:latin typeface="Nimbus Sans"/>
                <a:ea typeface="Nimbus Sans"/>
                <a:cs typeface="Nimbus Sans"/>
              </a:defRPr>
            </a:pPr>
            <a:r>
              <a:rPr sz="900" b="1" i="0">
                <a:solidFill>
                  <a:srgbClr val="77F0E4"/>
                </a:solidFill>
                <a:latin typeface="Nimbus Sans"/>
                <a:ea typeface="Nimbus Sans"/>
                <a:cs typeface="Nimbus Sans"/>
              </a:rPr>
              <a:t>LUMIFY · LIVE PRODUCT</a:t>
            </a:r>
          </a:p>
        </p:txBody>
      </p:sp>
      <p:sp>
        <p:nvSpPr>
          <p:cNvPr id="15" name="architecture-line">
            <a:extLst xmlns:a="http://schemas.openxmlformats.org/drawingml/2006/main">
              <a:ext uri="{FF2B5EF4-FFF2-40B4-BE49-F238E27FC236}">
                <a16:creationId xmlns:a16="http://schemas.microsoft.com/office/drawing/2014/main" id="{30B9BE00-4F23-4BE5-9B4D-FBBB86013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619625"/>
            <a:ext cx="5572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17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tage-1-node">
            <a:extLst xmlns:a="http://schemas.openxmlformats.org/drawingml/2006/main">
              <a:ext uri="{FF2B5EF4-FFF2-40B4-BE49-F238E27FC236}">
                <a16:creationId xmlns:a16="http://schemas.microsoft.com/office/drawing/2014/main" id="{50498540-7850-468D-8A31-A7A102E20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4767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070D"/>
          </a:solidFill>
          <a:ln xmlns:a="http://schemas.openxmlformats.org/drawingml/2006/main" w="14288">
            <a:solidFill>
              <a:srgbClr val="35E0DF"/>
            </a:solidFill>
            <a:prstDash val="solid"/>
          </a:ln>
        </p:spPr>
      </p:sp>
      <p:sp>
        <p:nvSpPr>
          <p:cNvPr id="17" name="stage-1-number">
            <a:extLst xmlns:a="http://schemas.openxmlformats.org/drawingml/2006/main">
              <a:ext uri="{FF2B5EF4-FFF2-40B4-BE49-F238E27FC236}">
                <a16:creationId xmlns:a16="http://schemas.microsoft.com/office/drawing/2014/main" id="{1736C6DB-619B-43F9-B66E-3B1F68CFC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5339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 i="0">
                <a:solidFill>
                  <a:srgbClr val="77F0E4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77F0E4"/>
                </a:solidFill>
                <a:latin typeface="Nimbus Sans"/>
                <a:ea typeface="Nimbus Sans"/>
                <a:cs typeface="Nimbus Sans"/>
              </a:rPr>
              <a:t>01</a:t>
            </a:r>
          </a:p>
        </p:txBody>
      </p:sp>
      <p:sp>
        <p:nvSpPr>
          <p:cNvPr id="18" name="cover-stage-1">
            <a:extLst xmlns:a="http://schemas.openxmlformats.org/drawingml/2006/main">
              <a:ext uri="{FF2B5EF4-FFF2-40B4-BE49-F238E27FC236}">
                <a16:creationId xmlns:a16="http://schemas.microsoft.com/office/drawing/2014/main" id="{95A10844-E3C9-4744-BB60-D9D1DE07F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8577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 i="0">
                <a:solidFill>
                  <a:srgbClr val="D6E0E5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D6E0E5"/>
                </a:solidFill>
                <a:latin typeface="Nimbus Sans"/>
                <a:ea typeface="Nimbus Sans"/>
                <a:cs typeface="Nimbus Sans"/>
              </a:rPr>
              <a:t>ARTIST INTENT</a:t>
            </a:r>
          </a:p>
        </p:txBody>
      </p:sp>
      <p:sp>
        <p:nvSpPr>
          <p:cNvPr id="19" name="stage-2-node">
            <a:extLst xmlns:a="http://schemas.openxmlformats.org/drawingml/2006/main">
              <a:ext uri="{FF2B5EF4-FFF2-40B4-BE49-F238E27FC236}">
                <a16:creationId xmlns:a16="http://schemas.microsoft.com/office/drawing/2014/main" id="{A84CEDFD-50CA-465D-B012-507671FC2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4767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070D"/>
          </a:solidFill>
          <a:ln xmlns:a="http://schemas.openxmlformats.org/drawingml/2006/main" w="14288">
            <a:solidFill>
              <a:srgbClr val="35E0DF"/>
            </a:solidFill>
            <a:prstDash val="solid"/>
          </a:ln>
        </p:spPr>
      </p:sp>
      <p:sp>
        <p:nvSpPr>
          <p:cNvPr id="20" name="stage-2-number">
            <a:extLst xmlns:a="http://schemas.openxmlformats.org/drawingml/2006/main">
              <a:ext uri="{FF2B5EF4-FFF2-40B4-BE49-F238E27FC236}">
                <a16:creationId xmlns:a16="http://schemas.microsoft.com/office/drawing/2014/main" id="{C5D9D055-26AC-41FF-9491-9DAD4A23B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5339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 i="0">
                <a:solidFill>
                  <a:srgbClr val="77F0E4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77F0E4"/>
                </a:solidFill>
                <a:latin typeface="Nimbus Sans"/>
                <a:ea typeface="Nimbus Sans"/>
                <a:cs typeface="Nimbus Sans"/>
              </a:rPr>
              <a:t>02</a:t>
            </a:r>
          </a:p>
        </p:txBody>
      </p:sp>
      <p:sp>
        <p:nvSpPr>
          <p:cNvPr id="21" name="cover-stage-2">
            <a:extLst xmlns:a="http://schemas.openxmlformats.org/drawingml/2006/main">
              <a:ext uri="{FF2B5EF4-FFF2-40B4-BE49-F238E27FC236}">
                <a16:creationId xmlns:a16="http://schemas.microsoft.com/office/drawing/2014/main" id="{C48B00E6-ACB1-4953-BB38-FAF33D846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8577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 i="0">
                <a:solidFill>
                  <a:srgbClr val="D6E0E5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D6E0E5"/>
                </a:solidFill>
                <a:latin typeface="Nimbus Sans"/>
                <a:ea typeface="Nimbus Sans"/>
                <a:cs typeface="Nimbus Sans"/>
              </a:rPr>
              <a:t>MULTIMODAL UI</a:t>
            </a:r>
          </a:p>
        </p:txBody>
      </p:sp>
      <p:sp>
        <p:nvSpPr>
          <p:cNvPr id="22" name="stage-3-node">
            <a:extLst xmlns:a="http://schemas.openxmlformats.org/drawingml/2006/main">
              <a:ext uri="{FF2B5EF4-FFF2-40B4-BE49-F238E27FC236}">
                <a16:creationId xmlns:a16="http://schemas.microsoft.com/office/drawing/2014/main" id="{7F5F00BE-E37B-4C9E-BA6D-12CD7535A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4767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070D"/>
          </a:solidFill>
          <a:ln xmlns:a="http://schemas.openxmlformats.org/drawingml/2006/main" w="14288">
            <a:solidFill>
              <a:srgbClr val="35E0DF"/>
            </a:solidFill>
            <a:prstDash val="solid"/>
          </a:ln>
        </p:spPr>
      </p:sp>
      <p:sp>
        <p:nvSpPr>
          <p:cNvPr id="23" name="stage-3-number">
            <a:extLst xmlns:a="http://schemas.openxmlformats.org/drawingml/2006/main">
              <a:ext uri="{FF2B5EF4-FFF2-40B4-BE49-F238E27FC236}">
                <a16:creationId xmlns:a16="http://schemas.microsoft.com/office/drawing/2014/main" id="{11C34E23-352D-49E0-B8C3-AAAE6102E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5339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 i="0">
                <a:solidFill>
                  <a:srgbClr val="77F0E4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77F0E4"/>
                </a:solidFill>
                <a:latin typeface="Nimbus Sans"/>
                <a:ea typeface="Nimbus Sans"/>
                <a:cs typeface="Nimbus Sans"/>
              </a:rPr>
              <a:t>03</a:t>
            </a:r>
          </a:p>
        </p:txBody>
      </p:sp>
      <p:sp>
        <p:nvSpPr>
          <p:cNvPr id="24" name="cover-stage-3">
            <a:extLst xmlns:a="http://schemas.openxmlformats.org/drawingml/2006/main">
              <a:ext uri="{FF2B5EF4-FFF2-40B4-BE49-F238E27FC236}">
                <a16:creationId xmlns:a16="http://schemas.microsoft.com/office/drawing/2014/main" id="{606C124C-8D97-475E-B22C-A789A4A2F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577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 i="0">
                <a:solidFill>
                  <a:srgbClr val="D6E0E5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D6E0E5"/>
                </a:solidFill>
                <a:latin typeface="Nimbus Sans"/>
                <a:ea typeface="Nimbus Sans"/>
                <a:cs typeface="Nimbus Sans"/>
              </a:rPr>
              <a:t>PLATFORM SERVICES</a:t>
            </a:r>
          </a:p>
        </p:txBody>
      </p:sp>
      <p:sp>
        <p:nvSpPr>
          <p:cNvPr id="25" name="stage-4-node">
            <a:extLst xmlns:a="http://schemas.openxmlformats.org/drawingml/2006/main">
              <a:ext uri="{FF2B5EF4-FFF2-40B4-BE49-F238E27FC236}">
                <a16:creationId xmlns:a16="http://schemas.microsoft.com/office/drawing/2014/main" id="{CCEAA995-89BD-4025-A48B-8469726FC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44767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070D"/>
          </a:solidFill>
          <a:ln xmlns:a="http://schemas.openxmlformats.org/drawingml/2006/main" w="14288">
            <a:solidFill>
              <a:srgbClr val="35E0DF"/>
            </a:solidFill>
            <a:prstDash val="solid"/>
          </a:ln>
        </p:spPr>
      </p:sp>
      <p:sp>
        <p:nvSpPr>
          <p:cNvPr id="26" name="stage-4-number">
            <a:extLst xmlns:a="http://schemas.openxmlformats.org/drawingml/2006/main">
              <a:ext uri="{FF2B5EF4-FFF2-40B4-BE49-F238E27FC236}">
                <a16:creationId xmlns:a16="http://schemas.microsoft.com/office/drawing/2014/main" id="{714C8A4B-7C8D-4E91-B6B0-9CF4B2DF2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45339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 i="0">
                <a:solidFill>
                  <a:srgbClr val="77F0E4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77F0E4"/>
                </a:solidFill>
                <a:latin typeface="Nimbus Sans"/>
                <a:ea typeface="Nimbus Sans"/>
                <a:cs typeface="Nimbus Sans"/>
              </a:rPr>
              <a:t>04</a:t>
            </a:r>
          </a:p>
        </p:txBody>
      </p:sp>
      <p:sp>
        <p:nvSpPr>
          <p:cNvPr id="27" name="cover-stage-4">
            <a:extLst xmlns:a="http://schemas.openxmlformats.org/drawingml/2006/main">
              <a:ext uri="{FF2B5EF4-FFF2-40B4-BE49-F238E27FC236}">
                <a16:creationId xmlns:a16="http://schemas.microsoft.com/office/drawing/2014/main" id="{873B6A47-E34E-4B76-BD8D-5734E01E4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8577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 i="0">
                <a:solidFill>
                  <a:srgbClr val="D6E0E5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D6E0E5"/>
                </a:solidFill>
                <a:latin typeface="Nimbus Sans"/>
                <a:ea typeface="Nimbus Sans"/>
                <a:cs typeface="Nimbus Sans"/>
              </a:rPr>
              <a:t>PRODUCTION HANDOFF</a:t>
            </a:r>
          </a:p>
        </p:txBody>
      </p:sp>
      <p:sp>
        <p:nvSpPr>
          <p:cNvPr id="28" name="cover-meta-band">
            <a:extLst xmlns:a="http://schemas.openxmlformats.org/drawingml/2006/main">
              <a:ext uri="{FF2B5EF4-FFF2-40B4-BE49-F238E27FC236}">
                <a16:creationId xmlns:a16="http://schemas.microsoft.com/office/drawing/2014/main" id="{1E2B53B2-1464-4507-B6F8-D4012E46E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638800"/>
            <a:ext cx="114300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71923"/>
          </a:solidFill>
          <a:ln xmlns:a="http://schemas.openxmlformats.org/drawingml/2006/main" w="9525">
            <a:solidFill>
              <a:srgbClr val="0B3D4B"/>
            </a:solidFill>
            <a:prstDash val="solid"/>
          </a:ln>
        </p:spPr>
      </p:sp>
      <p:sp>
        <p:nvSpPr>
          <p:cNvPr id="29" name="cover-career-arc">
            <a:extLst xmlns:a="http://schemas.openxmlformats.org/drawingml/2006/main">
              <a:ext uri="{FF2B5EF4-FFF2-40B4-BE49-F238E27FC236}">
                <a16:creationId xmlns:a16="http://schemas.microsoft.com/office/drawing/2014/main" id="{7E5AB12B-33C1-432C-9693-785FB8B6A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38825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 i="0">
                <a:solidFill>
                  <a:srgbClr val="91A7B1"/>
                </a:solidFill>
                <a:latin typeface="Nimbus Sans"/>
                <a:ea typeface="Nimbus Sans"/>
                <a:cs typeface="Nimbus Sans"/>
              </a:defRPr>
            </a:pPr>
            <a:r>
              <a:rPr sz="1050" b="0" i="0">
                <a:solidFill>
                  <a:srgbClr val="91A7B1"/>
                </a:solidFill>
                <a:latin typeface="Nimbus Sans"/>
                <a:ea typeface="Nimbus Sans"/>
                <a:cs typeface="Nimbus Sans"/>
              </a:rPr>
              <a:t>20 YEARS IN ANIMATION + VFX → REAL-TIME → GENERATIVE AI PRODUCT</a:t>
            </a:r>
          </a:p>
        </p:txBody>
      </p:sp>
      <p:sp>
        <p:nvSpPr>
          <p:cNvPr id="30" name="meta-divider-1">
            <a:extLst xmlns:a="http://schemas.openxmlformats.org/drawingml/2006/main">
              <a:ext uri="{FF2B5EF4-FFF2-40B4-BE49-F238E27FC236}">
                <a16:creationId xmlns:a16="http://schemas.microsoft.com/office/drawing/2014/main" id="{3A782D7E-FFE3-42D4-9617-0B3AD169F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772150"/>
            <a:ext cx="95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17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cover-actions">
            <a:extLst xmlns:a="http://schemas.openxmlformats.org/drawingml/2006/main">
              <a:ext uri="{FF2B5EF4-FFF2-40B4-BE49-F238E27FC236}">
                <a16:creationId xmlns:a16="http://schemas.microsoft.com/office/drawing/2014/main" id="{5E57DE61-29A6-4F97-9859-044E09654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58293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77F0E4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 i="0">
                <a:solidFill>
                  <a:srgbClr val="77F0E4"/>
                </a:solidFill>
                <a:latin typeface="Nimbus Sans"/>
                <a:ea typeface="Nimbus Sans"/>
                <a:cs typeface="Nimbus Sans"/>
              </a:rPr>
              <a:t>DESIGN · ORCHESTRATE · SHIP</a:t>
            </a:r>
          </a:p>
        </p:txBody>
      </p:sp>
      <p:sp>
        <p:nvSpPr>
          <p:cNvPr id="32" name="meta-divider-2">
            <a:extLst xmlns:a="http://schemas.openxmlformats.org/drawingml/2006/main">
              <a:ext uri="{FF2B5EF4-FFF2-40B4-BE49-F238E27FC236}">
                <a16:creationId xmlns:a16="http://schemas.microsoft.com/office/drawing/2014/main" id="{0A47D072-C04D-4D81-93EE-1AF4AA301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772150"/>
            <a:ext cx="95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17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cover-anchors">
            <a:extLst xmlns:a="http://schemas.openxmlformats.org/drawingml/2006/main">
              <a:ext uri="{FF2B5EF4-FFF2-40B4-BE49-F238E27FC236}">
                <a16:creationId xmlns:a16="http://schemas.microsoft.com/office/drawing/2014/main" id="{EBECE7AE-7E50-4574-919F-7F89734DE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772150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 i="0">
                <a:solidFill>
                  <a:srgbClr val="D6E0E5"/>
                </a:solidFill>
                <a:latin typeface="Nimbus Sans"/>
                <a:ea typeface="Nimbus Sans"/>
                <a:cs typeface="Nimbus Sans"/>
              </a:defRPr>
            </a:pPr>
            <a:r>
              <a:rPr sz="1050" b="0" i="0">
                <a:solidFill>
                  <a:srgbClr val="D6E0E5"/>
                </a:solidFill>
                <a:latin typeface="Nimbus Sans"/>
                <a:ea typeface="Nimbus Sans"/>
                <a:cs typeface="Nimbus Sans"/>
              </a:rPr>
              <a:t>ARTIST-FIRST · FULL-STACK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050" b="0" i="0">
                <a:solidFill>
                  <a:srgbClr val="D6E0E5"/>
                </a:solidFill>
                <a:latin typeface="Nimbus Sans"/>
                <a:ea typeface="Nimbus Sans"/>
                <a:cs typeface="Nimbus Sans"/>
              </a:defRPr>
            </a:pPr>
            <a:r>
              <a:rPr sz="1050" b="0" i="0">
                <a:solidFill>
                  <a:srgbClr val="D6E0E5"/>
                </a:solidFill>
                <a:latin typeface="Nimbus Sans"/>
                <a:ea typeface="Nimbus Sans"/>
                <a:cs typeface="Nimbus Sans"/>
              </a:rPr>
              <a:t>PRODUCTION-READY</a:t>
            </a:r>
          </a:p>
        </p:txBody>
      </p:sp>
      <p:sp>
        <p:nvSpPr>
          <p:cNvPr id="34" name="cover-year">
            <a:extLst xmlns:a="http://schemas.openxmlformats.org/drawingml/2006/main">
              <a:ext uri="{FF2B5EF4-FFF2-40B4-BE49-F238E27FC236}">
                <a16:creationId xmlns:a16="http://schemas.microsoft.com/office/drawing/2014/main" id="{26A02FE1-B3CE-4953-A4DE-33893FCFD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624840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35E0DF"/>
                </a:solidFill>
                <a:latin typeface="Nimbus Sans"/>
                <a:ea typeface="Nimbus Sans"/>
                <a:cs typeface="Nimbus Sans"/>
              </a:defRPr>
            </a:pPr>
            <a:r>
              <a:rPr sz="825" b="0" i="0">
                <a:solidFill>
                  <a:srgbClr val="35E0DF"/>
                </a:solidFill>
                <a:latin typeface="Nimbus Sans"/>
                <a:ea typeface="Nimbus Sans"/>
                <a:cs typeface="Nimbus Sans"/>
              </a:rPr>
              <a:t>PORTFOLIO · 2026</a:t>
            </a:r>
          </a:p>
        </p:txBody>
      </p:sp>
    </p:spTree>
    <p:extLst>
      <p:ext uri="{BB962C8B-B14F-4D97-AF65-F5344CB8AC3E}">
        <p14:creationId xmlns:p14="http://schemas.microsoft.com/office/powerpoint/2010/main" val="369396901"/>
      </p:ext>
    </p:extLst>
  </p:cSld>
</p:sld>
</file>

<file path=ppt/slides/slide2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2070D"/>
            </a:gs>
            <a:gs pos="58000">
              <a:srgbClr val="061621"/>
            </a:gs>
            <a:gs pos="100000">
              <a:srgbClr val="02070D"/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erimeter">
            <a:extLst xmlns:a="http://schemas.openxmlformats.org/drawingml/2006/main">
              <a:ext uri="{FF2B5EF4-FFF2-40B4-BE49-F238E27FC236}">
                <a16:creationId xmlns:a16="http://schemas.microsoft.com/office/drawing/2014/main" id="{9E835158-28EB-4494-AB67-14074EE0B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152400"/>
            <a:ext cx="11887200" cy="6553200"/>
          </a:xfrm>
          <a:prstGeom xmlns:a="http://schemas.openxmlformats.org/drawingml/2006/main" prst="roundRect">
            <a:avLst>
              <a:gd name="adj" fmla="val 1163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176171"/>
            </a:solidFill>
            <a:prstDash val="solid"/>
          </a:ln>
        </p:spPr>
      </p:sp>
      <p:sp>
        <p:nvSpPr>
          <p:cNvPr id="2" name="left-guide">
            <a:extLst xmlns:a="http://schemas.openxmlformats.org/drawingml/2006/main">
              <a:ext uri="{FF2B5EF4-FFF2-40B4-BE49-F238E27FC236}">
                <a16:creationId xmlns:a16="http://schemas.microsoft.com/office/drawing/2014/main" id="{E3B8484C-0B4F-48FC-9007-CFABBD549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66700"/>
            <a:ext cx="9525" cy="632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3D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node">
            <a:extLst xmlns:a="http://schemas.openxmlformats.org/drawingml/2006/main">
              <a:ext uri="{FF2B5EF4-FFF2-40B4-BE49-F238E27FC236}">
                <a16:creationId xmlns:a16="http://schemas.microsoft.com/office/drawing/2014/main" id="{0B74EB03-3ED1-4584-A8FD-72948A5FD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2381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F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ottom-node">
            <a:extLst xmlns:a="http://schemas.openxmlformats.org/drawingml/2006/main">
              <a:ext uri="{FF2B5EF4-FFF2-40B4-BE49-F238E27FC236}">
                <a16:creationId xmlns:a16="http://schemas.microsoft.com/office/drawing/2014/main" id="{E38D4B62-004A-4C60-88F6-75BF1293E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65627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B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ge-eyebrow">
            <a:extLst xmlns:a="http://schemas.openxmlformats.org/drawingml/2006/main">
              <a:ext uri="{FF2B5EF4-FFF2-40B4-BE49-F238E27FC236}">
                <a16:creationId xmlns:a16="http://schemas.microsoft.com/office/drawing/2014/main" id="{44D527E6-ED6E-4564-8044-335C74A5D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35E0DF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 i="0">
                <a:solidFill>
                  <a:srgbClr val="35E0DF"/>
                </a:solidFill>
                <a:latin typeface="Nimbus Sans"/>
                <a:ea typeface="Nimbus Sans"/>
                <a:cs typeface="Nimbus Sans"/>
              </a:rPr>
              <a:t>02</a:t>
            </a:r>
          </a:p>
        </p:txBody>
      </p:sp>
      <p:sp>
        <p:nvSpPr>
          <p:cNvPr id="6" name="section-eyebrow">
            <a:extLst xmlns:a="http://schemas.openxmlformats.org/drawingml/2006/main">
              <a:ext uri="{FF2B5EF4-FFF2-40B4-BE49-F238E27FC236}">
                <a16:creationId xmlns:a16="http://schemas.microsoft.com/office/drawing/2014/main" id="{30C92B8F-733C-4A0C-A01C-8AD7E4296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622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77F0E4"/>
                </a:solidFill>
                <a:latin typeface="Nimbus Sans"/>
                <a:ea typeface="Nimbus Sans"/>
                <a:cs typeface="Nimbus Sans"/>
              </a:defRPr>
            </a:pPr>
            <a:r>
              <a:rPr sz="1125" b="1" i="0">
                <a:solidFill>
                  <a:srgbClr val="77F0E4"/>
                </a:solidFill>
                <a:latin typeface="Nimbus Sans"/>
                <a:ea typeface="Nimbus Sans"/>
                <a:cs typeface="Nimbus Sans"/>
              </a:rPr>
              <a:t>CAREER ARC</a:t>
            </a:r>
          </a:p>
        </p:txBody>
      </p:sp>
      <p:sp>
        <p:nvSpPr>
          <p:cNvPr id="7" name="section-rule">
            <a:extLst xmlns:a="http://schemas.openxmlformats.org/drawingml/2006/main">
              <a:ext uri="{FF2B5EF4-FFF2-40B4-BE49-F238E27FC236}">
                <a16:creationId xmlns:a16="http://schemas.microsoft.com/office/drawing/2014/main" id="{415B5A92-2F46-4883-8BB5-915038209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1500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E0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headline-white">
            <a:extLst xmlns:a="http://schemas.openxmlformats.org/drawingml/2006/main">
              <a:ext uri="{FF2B5EF4-FFF2-40B4-BE49-F238E27FC236}">
                <a16:creationId xmlns:a16="http://schemas.microsoft.com/office/drawing/2014/main" id="{E63844ED-0D68-42BB-8E88-D86316B03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42950"/>
            <a:ext cx="11201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225" b="1" i="0">
                <a:solidFill>
                  <a:srgbClr val="F5F8FA"/>
                </a:solidFill>
                <a:latin typeface="Nimbus Sans"/>
                <a:ea typeface="Nimbus Sans"/>
                <a:cs typeface="Nimbus Sans"/>
              </a:defRPr>
            </a:pPr>
            <a:r>
              <a:rPr sz="3225" b="1" i="0">
                <a:solidFill>
                  <a:srgbClr val="F5F8FA"/>
                </a:solidFill>
                <a:latin typeface="Nimbus Sans"/>
                <a:ea typeface="Nimbus Sans"/>
                <a:cs typeface="Nimbus Sans"/>
              </a:rPr>
              <a:t>My career moved from making shots</a:t>
            </a:r>
          </a:p>
        </p:txBody>
      </p:sp>
      <p:sp>
        <p:nvSpPr>
          <p:cNvPr id="9" name="headline-cyan">
            <a:extLst xmlns:a="http://schemas.openxmlformats.org/drawingml/2006/main">
              <a:ext uri="{FF2B5EF4-FFF2-40B4-BE49-F238E27FC236}">
                <a16:creationId xmlns:a16="http://schemas.microsoft.com/office/drawing/2014/main" id="{A4B273EC-123E-4775-82AB-141667826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0150"/>
            <a:ext cx="11201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225" b="1" i="0">
                <a:solidFill>
                  <a:srgbClr val="35E0DF"/>
                </a:solidFill>
                <a:latin typeface="Nimbus Sans"/>
                <a:ea typeface="Nimbus Sans"/>
                <a:cs typeface="Nimbus Sans"/>
              </a:defRPr>
            </a:pPr>
            <a:r>
              <a:rPr sz="3225" b="1" i="0">
                <a:solidFill>
                  <a:srgbClr val="35E0DF"/>
                </a:solidFill>
                <a:latin typeface="Nimbus Sans"/>
                <a:ea typeface="Nimbus Sans"/>
                <a:cs typeface="Nimbus Sans"/>
              </a:rPr>
              <a:t>to designing how artists make them.</a:t>
            </a:r>
          </a:p>
        </p:txBody>
      </p:sp>
      <p:sp>
        <p:nvSpPr>
          <p:cNvPr id="10" name="subhead">
            <a:extLst xmlns:a="http://schemas.openxmlformats.org/drawingml/2006/main">
              <a:ext uri="{FF2B5EF4-FFF2-40B4-BE49-F238E27FC236}">
                <a16:creationId xmlns:a16="http://schemas.microsoft.com/office/drawing/2014/main" id="{CC55D2D4-95B0-40F7-AC70-5FDFBEF08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526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 i="0">
                <a:solidFill>
                  <a:srgbClr val="D6E0E5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 i="0">
                <a:solidFill>
                  <a:srgbClr val="D6E0E5"/>
                </a:solidFill>
                <a:latin typeface="Nimbus Sans"/>
                <a:ea typeface="Nimbus Sans"/>
                <a:cs typeface="Nimbus Sans"/>
              </a:rPr>
              <a:t>The throughline is visual judgment—expanded from individual work into tools, systems, and product strategy.</a:t>
            </a:r>
          </a:p>
        </p:txBody>
      </p:sp>
      <p:sp>
        <p:nvSpPr>
          <p:cNvPr id="11" name="career-line">
            <a:extLst xmlns:a="http://schemas.openxmlformats.org/drawingml/2006/main">
              <a:ext uri="{FF2B5EF4-FFF2-40B4-BE49-F238E27FC236}">
                <a16:creationId xmlns:a16="http://schemas.microsoft.com/office/drawing/2014/main" id="{D2DA4FBF-9DA5-4036-8CE2-66676F32E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857500"/>
            <a:ext cx="923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17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tage-1-node">
            <a:extLst xmlns:a="http://schemas.openxmlformats.org/drawingml/2006/main">
              <a:ext uri="{FF2B5EF4-FFF2-40B4-BE49-F238E27FC236}">
                <a16:creationId xmlns:a16="http://schemas.microsoft.com/office/drawing/2014/main" id="{21F55CF2-BC3C-4A32-A5C5-D42FEB97A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6670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070D"/>
          </a:solidFill>
          <a:ln xmlns:a="http://schemas.openxmlformats.org/drawingml/2006/main" w="14288">
            <a:solidFill>
              <a:srgbClr val="35E0DF"/>
            </a:solidFill>
            <a:prstDash val="solid"/>
          </a:ln>
        </p:spPr>
      </p:sp>
      <p:sp>
        <p:nvSpPr>
          <p:cNvPr id="13" name="stage-1-number">
            <a:extLst xmlns:a="http://schemas.openxmlformats.org/drawingml/2006/main">
              <a:ext uri="{FF2B5EF4-FFF2-40B4-BE49-F238E27FC236}">
                <a16:creationId xmlns:a16="http://schemas.microsoft.com/office/drawing/2014/main" id="{B0002420-B61D-4092-81A4-BE6C1779A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7717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 i="0">
                <a:solidFill>
                  <a:srgbClr val="77F0E4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77F0E4"/>
                </a:solidFill>
                <a:latin typeface="Nimbus Sans"/>
                <a:ea typeface="Nimbus Sans"/>
                <a:cs typeface="Nimbus Sans"/>
              </a:rPr>
              <a:t>01</a:t>
            </a:r>
          </a:p>
        </p:txBody>
      </p:sp>
      <p:sp>
        <p:nvSpPr>
          <p:cNvPr id="14" name="career-1-eyebrow">
            <a:extLst xmlns:a="http://schemas.openxmlformats.org/drawingml/2006/main">
              <a:ext uri="{FF2B5EF4-FFF2-40B4-BE49-F238E27FC236}">
                <a16:creationId xmlns:a16="http://schemas.microsoft.com/office/drawing/2014/main" id="{B6D4B44A-36D5-4A30-B2A6-261CA08B1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35E0DF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35E0DF"/>
                </a:solidFill>
                <a:latin typeface="Nimbus Sans"/>
                <a:ea typeface="Nimbus Sans"/>
                <a:cs typeface="Nimbus Sans"/>
              </a:rPr>
              <a:t>20 YEARS</a:t>
            </a:r>
          </a:p>
        </p:txBody>
      </p:sp>
      <p:sp>
        <p:nvSpPr>
          <p:cNvPr id="15" name="career-1-title">
            <a:extLst xmlns:a="http://schemas.openxmlformats.org/drawingml/2006/main">
              <a:ext uri="{FF2B5EF4-FFF2-40B4-BE49-F238E27FC236}">
                <a16:creationId xmlns:a16="http://schemas.microsoft.com/office/drawing/2014/main" id="{C932486B-EA3D-4D07-A4B1-180E91045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F5F8FA"/>
                </a:solidFill>
                <a:latin typeface="Nimbus Sans"/>
                <a:ea typeface="Nimbus Sans"/>
                <a:cs typeface="Nimbus Sans"/>
              </a:defRPr>
            </a:pPr>
            <a:r>
              <a:rPr sz="1875" b="1" i="0">
                <a:solidFill>
                  <a:srgbClr val="F5F8FA"/>
                </a:solidFill>
                <a:latin typeface="Nimbus Sans"/>
                <a:ea typeface="Nimbus Sans"/>
                <a:cs typeface="Nimbus Sans"/>
              </a:rPr>
              <a:t>Animation + VFX</a:t>
            </a:r>
          </a:p>
        </p:txBody>
      </p:sp>
      <p:sp>
        <p:nvSpPr>
          <p:cNvPr id="16" name="career-1-rule">
            <a:extLst xmlns:a="http://schemas.openxmlformats.org/drawingml/2006/main">
              <a:ext uri="{FF2B5EF4-FFF2-40B4-BE49-F238E27FC236}">
                <a16:creationId xmlns:a16="http://schemas.microsoft.com/office/drawing/2014/main" id="{729F8DF3-8BD3-435A-89D6-D14CA869B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E0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career-1-body">
            <a:extLst xmlns:a="http://schemas.openxmlformats.org/drawingml/2006/main">
              <a:ext uri="{FF2B5EF4-FFF2-40B4-BE49-F238E27FC236}">
                <a16:creationId xmlns:a16="http://schemas.microsoft.com/office/drawing/2014/main" id="{B1B6F744-369C-4BC5-82B4-18B36CDE9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48150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 i="0">
                <a:solidFill>
                  <a:srgbClr val="D6E0E5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D6E0E5"/>
                </a:solidFill>
                <a:latin typeface="Nimbus Sans"/>
                <a:ea typeface="Nimbus Sans"/>
                <a:cs typeface="Nimbus Sans"/>
              </a:rPr>
              <a:t>Composition, lighting, storytelling, review, iteration, and studio pipeline reality.</a:t>
            </a:r>
          </a:p>
        </p:txBody>
      </p:sp>
      <p:sp>
        <p:nvSpPr>
          <p:cNvPr id="18" name="stage-2-node">
            <a:extLst xmlns:a="http://schemas.openxmlformats.org/drawingml/2006/main">
              <a:ext uri="{FF2B5EF4-FFF2-40B4-BE49-F238E27FC236}">
                <a16:creationId xmlns:a16="http://schemas.microsoft.com/office/drawing/2014/main" id="{8E16FC86-5E14-4C0F-B301-3B0664FBE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6670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070D"/>
          </a:solidFill>
          <a:ln xmlns:a="http://schemas.openxmlformats.org/drawingml/2006/main" w="14288">
            <a:solidFill>
              <a:srgbClr val="35E0DF"/>
            </a:solidFill>
            <a:prstDash val="solid"/>
          </a:ln>
        </p:spPr>
      </p:sp>
      <p:sp>
        <p:nvSpPr>
          <p:cNvPr id="19" name="stage-2-number">
            <a:extLst xmlns:a="http://schemas.openxmlformats.org/drawingml/2006/main">
              <a:ext uri="{FF2B5EF4-FFF2-40B4-BE49-F238E27FC236}">
                <a16:creationId xmlns:a16="http://schemas.microsoft.com/office/drawing/2014/main" id="{F3513D4E-BDF9-422F-9D28-AFDF96DEC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7717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 i="0">
                <a:solidFill>
                  <a:srgbClr val="77F0E4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77F0E4"/>
                </a:solidFill>
                <a:latin typeface="Nimbus Sans"/>
                <a:ea typeface="Nimbus Sans"/>
                <a:cs typeface="Nimbus Sans"/>
              </a:rPr>
              <a:t>02</a:t>
            </a:r>
          </a:p>
        </p:txBody>
      </p:sp>
      <p:sp>
        <p:nvSpPr>
          <p:cNvPr id="20" name="career-2-eyebrow">
            <a:extLst xmlns:a="http://schemas.openxmlformats.org/drawingml/2006/main">
              <a:ext uri="{FF2B5EF4-FFF2-40B4-BE49-F238E27FC236}">
                <a16:creationId xmlns:a16="http://schemas.microsoft.com/office/drawing/2014/main" id="{77A1D7A8-CB77-4774-8569-EF344D4F0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2385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35E0DF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35E0DF"/>
                </a:solidFill>
                <a:latin typeface="Nimbus Sans"/>
                <a:ea typeface="Nimbus Sans"/>
                <a:cs typeface="Nimbus Sans"/>
              </a:rPr>
              <a:t>NEXT</a:t>
            </a:r>
          </a:p>
        </p:txBody>
      </p:sp>
      <p:sp>
        <p:nvSpPr>
          <p:cNvPr id="21" name="career-2-title">
            <a:extLst xmlns:a="http://schemas.openxmlformats.org/drawingml/2006/main">
              <a:ext uri="{FF2B5EF4-FFF2-40B4-BE49-F238E27FC236}">
                <a16:creationId xmlns:a16="http://schemas.microsoft.com/office/drawing/2014/main" id="{CF2F5A71-CDB1-44B0-84B6-F7E3C75B9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5242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F5F8FA"/>
                </a:solidFill>
                <a:latin typeface="Nimbus Sans"/>
                <a:ea typeface="Nimbus Sans"/>
                <a:cs typeface="Nimbus Sans"/>
              </a:defRPr>
            </a:pPr>
            <a:r>
              <a:rPr sz="1875" b="1" i="0">
                <a:solidFill>
                  <a:srgbClr val="F5F8FA"/>
                </a:solidFill>
                <a:latin typeface="Nimbus Sans"/>
                <a:ea typeface="Nimbus Sans"/>
                <a:cs typeface="Nimbus Sans"/>
              </a:rPr>
              <a:t>Real-Time Technology</a:t>
            </a:r>
          </a:p>
        </p:txBody>
      </p:sp>
      <p:sp>
        <p:nvSpPr>
          <p:cNvPr id="22" name="career-2-rule">
            <a:extLst xmlns:a="http://schemas.openxmlformats.org/drawingml/2006/main">
              <a:ext uri="{FF2B5EF4-FFF2-40B4-BE49-F238E27FC236}">
                <a16:creationId xmlns:a16="http://schemas.microsoft.com/office/drawing/2014/main" id="{3C7BF3FC-F0E3-46BC-9D8F-B0F03C831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03860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E0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career-2-body">
            <a:extLst xmlns:a="http://schemas.openxmlformats.org/drawingml/2006/main">
              <a:ext uri="{FF2B5EF4-FFF2-40B4-BE49-F238E27FC236}">
                <a16:creationId xmlns:a16="http://schemas.microsoft.com/office/drawing/2014/main" id="{49BBFCC9-8065-4520-A2C2-3B9BDC3BD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248150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 i="0">
                <a:solidFill>
                  <a:srgbClr val="D6E0E5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D6E0E5"/>
                </a:solidFill>
                <a:latin typeface="Nimbus Sans"/>
                <a:ea typeface="Nimbus Sans"/>
                <a:cs typeface="Nimbus Sans"/>
              </a:rPr>
              <a:t>Faster feedback, interactive scenes, and a new relationship between artist and tool.</a:t>
            </a:r>
          </a:p>
        </p:txBody>
      </p:sp>
      <p:sp>
        <p:nvSpPr>
          <p:cNvPr id="24" name="stage-3-node">
            <a:extLst xmlns:a="http://schemas.openxmlformats.org/drawingml/2006/main">
              <a:ext uri="{FF2B5EF4-FFF2-40B4-BE49-F238E27FC236}">
                <a16:creationId xmlns:a16="http://schemas.microsoft.com/office/drawing/2014/main" id="{304AC534-D149-410E-B7B8-BC637DD14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6670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070D"/>
          </a:solidFill>
          <a:ln xmlns:a="http://schemas.openxmlformats.org/drawingml/2006/main" w="14288">
            <a:solidFill>
              <a:srgbClr val="35E0DF"/>
            </a:solidFill>
            <a:prstDash val="solid"/>
          </a:ln>
        </p:spPr>
      </p:sp>
      <p:sp>
        <p:nvSpPr>
          <p:cNvPr id="25" name="stage-3-number">
            <a:extLst xmlns:a="http://schemas.openxmlformats.org/drawingml/2006/main">
              <a:ext uri="{FF2B5EF4-FFF2-40B4-BE49-F238E27FC236}">
                <a16:creationId xmlns:a16="http://schemas.microsoft.com/office/drawing/2014/main" id="{C1E97CEC-489E-48FE-8619-41761628D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717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 i="0">
                <a:solidFill>
                  <a:srgbClr val="77F0E4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77F0E4"/>
                </a:solidFill>
                <a:latin typeface="Nimbus Sans"/>
                <a:ea typeface="Nimbus Sans"/>
                <a:cs typeface="Nimbus Sans"/>
              </a:rPr>
              <a:t>03</a:t>
            </a:r>
          </a:p>
        </p:txBody>
      </p:sp>
      <p:sp>
        <p:nvSpPr>
          <p:cNvPr id="26" name="career-3-eyebrow">
            <a:extLst xmlns:a="http://schemas.openxmlformats.org/drawingml/2006/main">
              <a:ext uri="{FF2B5EF4-FFF2-40B4-BE49-F238E27FC236}">
                <a16:creationId xmlns:a16="http://schemas.microsoft.com/office/drawing/2014/main" id="{4FCF40E9-E1A6-49C8-8137-3490D58C8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385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35E0DF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35E0DF"/>
                </a:solidFill>
                <a:latin typeface="Nimbus Sans"/>
                <a:ea typeface="Nimbus Sans"/>
                <a:cs typeface="Nimbus Sans"/>
              </a:rPr>
              <a:t>NOW</a:t>
            </a:r>
          </a:p>
        </p:txBody>
      </p:sp>
      <p:sp>
        <p:nvSpPr>
          <p:cNvPr id="27" name="career-3-title">
            <a:extLst xmlns:a="http://schemas.openxmlformats.org/drawingml/2006/main">
              <a:ext uri="{FF2B5EF4-FFF2-40B4-BE49-F238E27FC236}">
                <a16:creationId xmlns:a16="http://schemas.microsoft.com/office/drawing/2014/main" id="{196DFEF1-56E9-4983-8A52-9D4F64F02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5242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F5F8FA"/>
                </a:solidFill>
                <a:latin typeface="Nimbus Sans"/>
                <a:ea typeface="Nimbus Sans"/>
                <a:cs typeface="Nimbus Sans"/>
              </a:defRPr>
            </a:pPr>
            <a:r>
              <a:rPr sz="1875" b="1" i="0">
                <a:solidFill>
                  <a:srgbClr val="F5F8FA"/>
                </a:solidFill>
                <a:latin typeface="Nimbus Sans"/>
                <a:ea typeface="Nimbus Sans"/>
                <a:cs typeface="Nimbus Sans"/>
              </a:rPr>
              <a:t>Generative AI Product</a:t>
            </a:r>
          </a:p>
        </p:txBody>
      </p:sp>
      <p:sp>
        <p:nvSpPr>
          <p:cNvPr id="28" name="career-3-rule">
            <a:extLst xmlns:a="http://schemas.openxmlformats.org/drawingml/2006/main">
              <a:ext uri="{FF2B5EF4-FFF2-40B4-BE49-F238E27FC236}">
                <a16:creationId xmlns:a16="http://schemas.microsoft.com/office/drawing/2014/main" id="{41251016-FD13-4E3C-9AA5-731F79FB1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3860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E0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career-3-body">
            <a:extLst xmlns:a="http://schemas.openxmlformats.org/drawingml/2006/main">
              <a:ext uri="{FF2B5EF4-FFF2-40B4-BE49-F238E27FC236}">
                <a16:creationId xmlns:a16="http://schemas.microsoft.com/office/drawing/2014/main" id="{8952668A-1476-4715-8C0D-B74D3DEF5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248150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 i="0">
                <a:solidFill>
                  <a:srgbClr val="D6E0E5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D6E0E5"/>
                </a:solidFill>
                <a:latin typeface="Nimbus Sans"/>
                <a:ea typeface="Nimbus Sans"/>
                <a:cs typeface="Nimbus Sans"/>
              </a:rPr>
              <a:t>Lumify: artist-controlled multimodal workflows, shipped as a cohesive platform.</a:t>
            </a:r>
          </a:p>
        </p:txBody>
      </p:sp>
      <p:sp>
        <p:nvSpPr>
          <p:cNvPr id="30" name="career-quote-panel">
            <a:extLst xmlns:a="http://schemas.openxmlformats.org/drawingml/2006/main">
              <a:ext uri="{FF2B5EF4-FFF2-40B4-BE49-F238E27FC236}">
                <a16:creationId xmlns:a16="http://schemas.microsoft.com/office/drawing/2014/main" id="{60EBB90D-7769-400D-9648-AF00764E9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24500"/>
            <a:ext cx="9334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92330"/>
          </a:solidFill>
          <a:ln xmlns:a="http://schemas.openxmlformats.org/drawingml/2006/main" w="9525">
            <a:solidFill>
              <a:srgbClr val="176171"/>
            </a:solidFill>
            <a:prstDash val="solid"/>
          </a:ln>
        </p:spPr>
      </p:sp>
      <p:sp>
        <p:nvSpPr>
          <p:cNvPr id="31" name="career-quote">
            <a:extLst xmlns:a="http://schemas.openxmlformats.org/drawingml/2006/main">
              <a:ext uri="{FF2B5EF4-FFF2-40B4-BE49-F238E27FC236}">
                <a16:creationId xmlns:a16="http://schemas.microsoft.com/office/drawing/2014/main" id="{CB6AF1C6-D34C-4F49-8637-79C649EAD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6959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 i="0">
                <a:solidFill>
                  <a:srgbClr val="F5F8FA"/>
                </a:solidFill>
                <a:latin typeface="Nimbus Sans"/>
                <a:ea typeface="Nimbus Sans"/>
                <a:cs typeface="Nimbus Sans"/>
              </a:defRPr>
            </a:pPr>
            <a:r>
              <a:rPr sz="1425" b="1" i="0">
                <a:solidFill>
                  <a:srgbClr val="F5F8FA"/>
                </a:solidFill>
                <a:latin typeface="Nimbus Sans"/>
                <a:ea typeface="Nimbus Sans"/>
                <a:cs typeface="Nimbus Sans"/>
              </a:rPr>
              <a:t>The reel changed. The qualification did not disappear—it became product judgment.</a:t>
            </a:r>
          </a:p>
        </p:txBody>
      </p:sp>
      <p:sp>
        <p:nvSpPr>
          <p:cNvPr id="32" name="footer-rule">
            <a:extLst xmlns:a="http://schemas.openxmlformats.org/drawingml/2006/main">
              <a:ext uri="{FF2B5EF4-FFF2-40B4-BE49-F238E27FC236}">
                <a16:creationId xmlns:a16="http://schemas.microsoft.com/office/drawing/2014/main" id="{6BEF6F28-DFBC-4BEE-B566-981321BF9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29375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3D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footer-identity">
            <a:extLst xmlns:a="http://schemas.openxmlformats.org/drawingml/2006/main">
              <a:ext uri="{FF2B5EF4-FFF2-40B4-BE49-F238E27FC236}">
                <a16:creationId xmlns:a16="http://schemas.microsoft.com/office/drawing/2014/main" id="{32CC59B8-9666-40F4-8F74-0F3D2B136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 i="0">
                <a:solidFill>
                  <a:srgbClr val="91A7B1"/>
                </a:solidFill>
                <a:latin typeface="Nimbus Sans"/>
                <a:ea typeface="Nimbus Sans"/>
                <a:cs typeface="Nimbus Sans"/>
              </a:defRPr>
            </a:pPr>
            <a:r>
              <a:rPr sz="900" b="0" i="0">
                <a:solidFill>
                  <a:srgbClr val="91A7B1"/>
                </a:solidFill>
                <a:latin typeface="Nimbus Sans"/>
                <a:ea typeface="Nimbus Sans"/>
                <a:cs typeface="Nimbus Sans"/>
              </a:rPr>
              <a:t>RONNIE CLELAND · CREATIVE AI PLATFORM ARCHITECT</a:t>
            </a:r>
          </a:p>
        </p:txBody>
      </p:sp>
      <p:sp>
        <p:nvSpPr>
          <p:cNvPr id="3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06E87FA2-392E-4914-AFF8-CE1A404B2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1510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 i="0">
                <a:solidFill>
                  <a:srgbClr val="91A7B1"/>
                </a:solidFill>
                <a:latin typeface="Nimbus Sans"/>
                <a:ea typeface="Nimbus Sans"/>
                <a:cs typeface="Nimbus Sans"/>
              </a:defRPr>
            </a:pPr>
            <a:r>
              <a:rPr sz="900" b="0" i="0">
                <a:solidFill>
                  <a:srgbClr val="91A7B1"/>
                </a:solidFill>
                <a:latin typeface="Nimbus Sans"/>
                <a:ea typeface="Nimbus Sans"/>
                <a:cs typeface="Nimbus Sans"/>
              </a:rPr>
              <a:t>02 / 12</a:t>
            </a:r>
          </a:p>
        </p:txBody>
      </p:sp>
    </p:spTree>
    <p:extLst>
      <p:ext uri="{BB962C8B-B14F-4D97-AF65-F5344CB8AC3E}">
        <p14:creationId xmlns:p14="http://schemas.microsoft.com/office/powerpoint/2010/main" val="382019056"/>
      </p:ext>
    </p:extLst>
  </p:cSld>
</p:sld>
</file>

<file path=ppt/slides/slide3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2070D"/>
            </a:gs>
            <a:gs pos="58000">
              <a:srgbClr val="061621"/>
            </a:gs>
            <a:gs pos="100000">
              <a:srgbClr val="02070D"/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erimeter">
            <a:extLst xmlns:a="http://schemas.openxmlformats.org/drawingml/2006/main">
              <a:ext uri="{FF2B5EF4-FFF2-40B4-BE49-F238E27FC236}">
                <a16:creationId xmlns:a16="http://schemas.microsoft.com/office/drawing/2014/main" id="{F820BBEC-E631-498D-9F9D-2495D8A52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152400"/>
            <a:ext cx="11887200" cy="6553200"/>
          </a:xfrm>
          <a:prstGeom xmlns:a="http://schemas.openxmlformats.org/drawingml/2006/main" prst="roundRect">
            <a:avLst>
              <a:gd name="adj" fmla="val 1163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176171"/>
            </a:solidFill>
            <a:prstDash val="solid"/>
          </a:ln>
        </p:spPr>
      </p:sp>
      <p:sp>
        <p:nvSpPr>
          <p:cNvPr id="2" name="left-guide">
            <a:extLst xmlns:a="http://schemas.openxmlformats.org/drawingml/2006/main">
              <a:ext uri="{FF2B5EF4-FFF2-40B4-BE49-F238E27FC236}">
                <a16:creationId xmlns:a16="http://schemas.microsoft.com/office/drawing/2014/main" id="{2B14FA50-92AE-4BCF-976E-607B21853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66700"/>
            <a:ext cx="9525" cy="632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3D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node">
            <a:extLst xmlns:a="http://schemas.openxmlformats.org/drawingml/2006/main">
              <a:ext uri="{FF2B5EF4-FFF2-40B4-BE49-F238E27FC236}">
                <a16:creationId xmlns:a16="http://schemas.microsoft.com/office/drawing/2014/main" id="{B7EC9934-FFAF-4AD9-AC87-ADBD0AACC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2381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F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ottom-node">
            <a:extLst xmlns:a="http://schemas.openxmlformats.org/drawingml/2006/main">
              <a:ext uri="{FF2B5EF4-FFF2-40B4-BE49-F238E27FC236}">
                <a16:creationId xmlns:a16="http://schemas.microsoft.com/office/drawing/2014/main" id="{7BCAD94F-B0CF-4880-86EE-A322B7F75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65627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B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ge-eyebrow">
            <a:extLst xmlns:a="http://schemas.openxmlformats.org/drawingml/2006/main">
              <a:ext uri="{FF2B5EF4-FFF2-40B4-BE49-F238E27FC236}">
                <a16:creationId xmlns:a16="http://schemas.microsoft.com/office/drawing/2014/main" id="{96BB83E6-E01B-485C-BED9-B914EA8E3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35E0DF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 i="0">
                <a:solidFill>
                  <a:srgbClr val="35E0DF"/>
                </a:solidFill>
                <a:latin typeface="Nimbus Sans"/>
                <a:ea typeface="Nimbus Sans"/>
                <a:cs typeface="Nimbus Sans"/>
              </a:rPr>
              <a:t>03</a:t>
            </a:r>
          </a:p>
        </p:txBody>
      </p:sp>
      <p:sp>
        <p:nvSpPr>
          <p:cNvPr id="6" name="section-eyebrow">
            <a:extLst xmlns:a="http://schemas.openxmlformats.org/drawingml/2006/main">
              <a:ext uri="{FF2B5EF4-FFF2-40B4-BE49-F238E27FC236}">
                <a16:creationId xmlns:a16="http://schemas.microsoft.com/office/drawing/2014/main" id="{C32A8C76-643B-4DF3-BD29-A129F42FA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622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77F0E4"/>
                </a:solidFill>
                <a:latin typeface="Nimbus Sans"/>
                <a:ea typeface="Nimbus Sans"/>
                <a:cs typeface="Nimbus Sans"/>
              </a:defRPr>
            </a:pPr>
            <a:r>
              <a:rPr sz="1125" b="1" i="0">
                <a:solidFill>
                  <a:srgbClr val="77F0E4"/>
                </a:solidFill>
                <a:latin typeface="Nimbus Sans"/>
                <a:ea typeface="Nimbus Sans"/>
                <a:cs typeface="Nimbus Sans"/>
              </a:rPr>
              <a:t>PRODUCT PROOF</a:t>
            </a:r>
          </a:p>
        </p:txBody>
      </p:sp>
      <p:sp>
        <p:nvSpPr>
          <p:cNvPr id="7" name="section-rule">
            <a:extLst xmlns:a="http://schemas.openxmlformats.org/drawingml/2006/main">
              <a:ext uri="{FF2B5EF4-FFF2-40B4-BE49-F238E27FC236}">
                <a16:creationId xmlns:a16="http://schemas.microsoft.com/office/drawing/2014/main" id="{6D8ABD27-91B7-4436-BB4A-12B13942E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1500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E0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headline-white">
            <a:extLst xmlns:a="http://schemas.openxmlformats.org/drawingml/2006/main">
              <a:ext uri="{FF2B5EF4-FFF2-40B4-BE49-F238E27FC236}">
                <a16:creationId xmlns:a16="http://schemas.microsoft.com/office/drawing/2014/main" id="{16B0D603-3DD9-46AB-8CF2-BFA75FDA9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42950"/>
            <a:ext cx="11201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300" b="1" i="0">
                <a:solidFill>
                  <a:srgbClr val="F5F8FA"/>
                </a:solidFill>
                <a:latin typeface="Nimbus Sans"/>
                <a:ea typeface="Nimbus Sans"/>
                <a:cs typeface="Nimbus Sans"/>
              </a:defRPr>
            </a:pPr>
            <a:r>
              <a:rPr sz="3300" b="1" i="0">
                <a:solidFill>
                  <a:srgbClr val="F5F8FA"/>
                </a:solidFill>
                <a:latin typeface="Nimbus Sans"/>
                <a:ea typeface="Nimbus Sans"/>
                <a:cs typeface="Nimbus Sans"/>
              </a:rPr>
              <a:t>Lumify proves I can build</a:t>
            </a:r>
          </a:p>
        </p:txBody>
      </p:sp>
      <p:sp>
        <p:nvSpPr>
          <p:cNvPr id="9" name="headline-cyan">
            <a:extLst xmlns:a="http://schemas.openxmlformats.org/drawingml/2006/main">
              <a:ext uri="{FF2B5EF4-FFF2-40B4-BE49-F238E27FC236}">
                <a16:creationId xmlns:a16="http://schemas.microsoft.com/office/drawing/2014/main" id="{0C04E2A8-809E-44D2-94E0-882A6BB4A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0150"/>
            <a:ext cx="11201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300" b="1" i="0">
                <a:solidFill>
                  <a:srgbClr val="35E0DF"/>
                </a:solidFill>
                <a:latin typeface="Nimbus Sans"/>
                <a:ea typeface="Nimbus Sans"/>
                <a:cs typeface="Nimbus Sans"/>
              </a:defRPr>
            </a:pPr>
            <a:r>
              <a:rPr sz="3300" b="1" i="0">
                <a:solidFill>
                  <a:srgbClr val="35E0DF"/>
                </a:solidFill>
                <a:latin typeface="Nimbus Sans"/>
                <a:ea typeface="Nimbus Sans"/>
                <a:cs typeface="Nimbus Sans"/>
              </a:rPr>
              <a:t>an artist-first platform.</a:t>
            </a:r>
          </a:p>
        </p:txBody>
      </p:sp>
      <p:sp>
        <p:nvSpPr>
          <p:cNvPr id="10" name="subhead">
            <a:extLst xmlns:a="http://schemas.openxmlformats.org/drawingml/2006/main">
              <a:ext uri="{FF2B5EF4-FFF2-40B4-BE49-F238E27FC236}">
                <a16:creationId xmlns:a16="http://schemas.microsoft.com/office/drawing/2014/main" id="{D116EA10-BC89-4D68-AE07-F75E1094E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526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 i="0">
                <a:solidFill>
                  <a:srgbClr val="D6E0E5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 i="0">
                <a:solidFill>
                  <a:srgbClr val="D6E0E5"/>
                </a:solidFill>
                <a:latin typeface="Nimbus Sans"/>
                <a:ea typeface="Nimbus Sans"/>
                <a:cs typeface="Nimbus Sans"/>
              </a:rPr>
              <a:t>I stepped away from studio work to build the creative environment I believed artists would need next.</a:t>
            </a:r>
          </a:p>
        </p:txBody>
      </p:sp>
      <p:sp>
        <p:nvSpPr>
          <p:cNvPr id="11" name="proof-1-number">
            <a:extLst xmlns:a="http://schemas.openxmlformats.org/drawingml/2006/main">
              <a:ext uri="{FF2B5EF4-FFF2-40B4-BE49-F238E27FC236}">
                <a16:creationId xmlns:a16="http://schemas.microsoft.com/office/drawing/2014/main" id="{F3335C78-2AF3-41DA-B541-2E1F00BA2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717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35E0DF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35E0DF"/>
                </a:solidFill>
                <a:latin typeface="Nimbus Sans"/>
                <a:ea typeface="Nimbus Sans"/>
                <a:cs typeface="Nimbus Sans"/>
              </a:rPr>
              <a:t>01</a:t>
            </a:r>
          </a:p>
        </p:txBody>
      </p:sp>
      <p:sp>
        <p:nvSpPr>
          <p:cNvPr id="12" name="proof-1-title">
            <a:extLst xmlns:a="http://schemas.openxmlformats.org/drawingml/2006/main">
              <a:ext uri="{FF2B5EF4-FFF2-40B4-BE49-F238E27FC236}">
                <a16:creationId xmlns:a16="http://schemas.microsoft.com/office/drawing/2014/main" id="{DE673824-0534-43A6-BCE3-DB0E32AE8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527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 i="0">
                <a:solidFill>
                  <a:srgbClr val="F5F8FA"/>
                </a:solidFill>
                <a:latin typeface="Nimbus Sans"/>
                <a:ea typeface="Nimbus Sans"/>
                <a:cs typeface="Nimbus Sans"/>
              </a:defRPr>
            </a:pPr>
            <a:r>
              <a:rPr sz="1575" b="1" i="0">
                <a:solidFill>
                  <a:srgbClr val="F5F8FA"/>
                </a:solidFill>
                <a:latin typeface="Nimbus Sans"/>
                <a:ea typeface="Nimbus Sans"/>
                <a:cs typeface="Nimbus Sans"/>
              </a:rPr>
              <a:t>A coherent product</a:t>
            </a:r>
          </a:p>
        </p:txBody>
      </p:sp>
      <p:sp>
        <p:nvSpPr>
          <p:cNvPr id="13" name="proof-1-body">
            <a:extLst xmlns:a="http://schemas.openxmlformats.org/drawingml/2006/main">
              <a:ext uri="{FF2B5EF4-FFF2-40B4-BE49-F238E27FC236}">
                <a16:creationId xmlns:a16="http://schemas.microsoft.com/office/drawing/2014/main" id="{032CDCDC-0766-48A5-916C-B9FD95267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47975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 i="0">
                <a:solidFill>
                  <a:srgbClr val="D6E0E5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 i="0">
                <a:solidFill>
                  <a:srgbClr val="D6E0E5"/>
                </a:solidFill>
                <a:latin typeface="Nimbus Sans"/>
                <a:ea typeface="Nimbus Sans"/>
                <a:cs typeface="Nimbus Sans"/>
              </a:rPr>
              <a:t>Not a disconnected collection of AI demos.</a:t>
            </a:r>
          </a:p>
        </p:txBody>
      </p:sp>
      <p:sp>
        <p:nvSpPr>
          <p:cNvPr id="14" name="proof-1-divider">
            <a:extLst xmlns:a="http://schemas.openxmlformats.org/drawingml/2006/main">
              <a:ext uri="{FF2B5EF4-FFF2-40B4-BE49-F238E27FC236}">
                <a16:creationId xmlns:a16="http://schemas.microsoft.com/office/drawing/2014/main" id="{CA9D953B-5200-4C8E-802E-0C047813B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38500"/>
            <a:ext cx="3762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3D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roof-2-number">
            <a:extLst xmlns:a="http://schemas.openxmlformats.org/drawingml/2006/main">
              <a:ext uri="{FF2B5EF4-FFF2-40B4-BE49-F238E27FC236}">
                <a16:creationId xmlns:a16="http://schemas.microsoft.com/office/drawing/2014/main" id="{C0500E3A-08FA-47F2-9A46-D1FC79B8E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528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35E0DF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35E0DF"/>
                </a:solidFill>
                <a:latin typeface="Nimbus Sans"/>
                <a:ea typeface="Nimbus Sans"/>
                <a:cs typeface="Nimbus Sans"/>
              </a:rPr>
              <a:t>02</a:t>
            </a:r>
          </a:p>
        </p:txBody>
      </p:sp>
      <p:sp>
        <p:nvSpPr>
          <p:cNvPr id="16" name="proof-2-title">
            <a:extLst xmlns:a="http://schemas.openxmlformats.org/drawingml/2006/main">
              <a:ext uri="{FF2B5EF4-FFF2-40B4-BE49-F238E27FC236}">
                <a16:creationId xmlns:a16="http://schemas.microsoft.com/office/drawing/2014/main" id="{0F793ACD-CC07-43F0-A4CF-E6AB52365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33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 i="0">
                <a:solidFill>
                  <a:srgbClr val="F5F8FA"/>
                </a:solidFill>
                <a:latin typeface="Nimbus Sans"/>
                <a:ea typeface="Nimbus Sans"/>
                <a:cs typeface="Nimbus Sans"/>
              </a:defRPr>
            </a:pPr>
            <a:r>
              <a:rPr sz="1575" b="1" i="0">
                <a:solidFill>
                  <a:srgbClr val="F5F8FA"/>
                </a:solidFill>
                <a:latin typeface="Nimbus Sans"/>
                <a:ea typeface="Nimbus Sans"/>
                <a:cs typeface="Nimbus Sans"/>
              </a:rPr>
              <a:t>A visual point of view</a:t>
            </a:r>
          </a:p>
        </p:txBody>
      </p:sp>
      <p:sp>
        <p:nvSpPr>
          <p:cNvPr id="17" name="proof-2-body">
            <a:extLst xmlns:a="http://schemas.openxmlformats.org/drawingml/2006/main">
              <a:ext uri="{FF2B5EF4-FFF2-40B4-BE49-F238E27FC236}">
                <a16:creationId xmlns:a16="http://schemas.microsoft.com/office/drawing/2014/main" id="{2850B3C2-1AC1-4D5E-8477-8F0691B61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29025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 i="0">
                <a:solidFill>
                  <a:srgbClr val="D6E0E5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 i="0">
                <a:solidFill>
                  <a:srgbClr val="D6E0E5"/>
                </a:solidFill>
                <a:latin typeface="Nimbus Sans"/>
                <a:ea typeface="Nimbus Sans"/>
                <a:cs typeface="Nimbus Sans"/>
              </a:rPr>
              <a:t>Brand, interaction, hierarchy, and creative tone.</a:t>
            </a:r>
          </a:p>
        </p:txBody>
      </p:sp>
      <p:sp>
        <p:nvSpPr>
          <p:cNvPr id="18" name="proof-2-divider">
            <a:extLst xmlns:a="http://schemas.openxmlformats.org/drawingml/2006/main">
              <a:ext uri="{FF2B5EF4-FFF2-40B4-BE49-F238E27FC236}">
                <a16:creationId xmlns:a16="http://schemas.microsoft.com/office/drawing/2014/main" id="{D4D9E0B4-DAA1-4E10-85C6-82290E9D8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19550"/>
            <a:ext cx="3762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3D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roof-3-number">
            <a:extLst xmlns:a="http://schemas.openxmlformats.org/drawingml/2006/main">
              <a:ext uri="{FF2B5EF4-FFF2-40B4-BE49-F238E27FC236}">
                <a16:creationId xmlns:a16="http://schemas.microsoft.com/office/drawing/2014/main" id="{507CF752-C673-4B66-B7B1-15C26AA6B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338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35E0DF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35E0DF"/>
                </a:solidFill>
                <a:latin typeface="Nimbus Sans"/>
                <a:ea typeface="Nimbus Sans"/>
                <a:cs typeface="Nimbus Sans"/>
              </a:rPr>
              <a:t>03</a:t>
            </a:r>
          </a:p>
        </p:txBody>
      </p:sp>
      <p:sp>
        <p:nvSpPr>
          <p:cNvPr id="20" name="proof-3-title">
            <a:extLst xmlns:a="http://schemas.openxmlformats.org/drawingml/2006/main">
              <a:ext uri="{FF2B5EF4-FFF2-40B4-BE49-F238E27FC236}">
                <a16:creationId xmlns:a16="http://schemas.microsoft.com/office/drawing/2014/main" id="{D49A817C-402A-40C3-A9C7-312F84733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148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 i="0">
                <a:solidFill>
                  <a:srgbClr val="F5F8FA"/>
                </a:solidFill>
                <a:latin typeface="Nimbus Sans"/>
                <a:ea typeface="Nimbus Sans"/>
                <a:cs typeface="Nimbus Sans"/>
              </a:defRPr>
            </a:pPr>
            <a:r>
              <a:rPr sz="1575" b="1" i="0">
                <a:solidFill>
                  <a:srgbClr val="F5F8FA"/>
                </a:solidFill>
                <a:latin typeface="Nimbus Sans"/>
                <a:ea typeface="Nimbus Sans"/>
                <a:cs typeface="Nimbus Sans"/>
              </a:rPr>
              <a:t>A live B2C direction</a:t>
            </a:r>
          </a:p>
        </p:txBody>
      </p:sp>
      <p:sp>
        <p:nvSpPr>
          <p:cNvPr id="21" name="proof-3-body">
            <a:extLst xmlns:a="http://schemas.openxmlformats.org/drawingml/2006/main">
              <a:ext uri="{FF2B5EF4-FFF2-40B4-BE49-F238E27FC236}">
                <a16:creationId xmlns:a16="http://schemas.microsoft.com/office/drawing/2014/main" id="{73467EEB-91F3-4A44-B599-C4D3C80CA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10075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 i="0">
                <a:solidFill>
                  <a:srgbClr val="D6E0E5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 i="0">
                <a:solidFill>
                  <a:srgbClr val="D6E0E5"/>
                </a:solidFill>
                <a:latin typeface="Nimbus Sans"/>
                <a:ea typeface="Nimbus Sans"/>
                <a:cs typeface="Nimbus Sans"/>
              </a:rPr>
              <a:t>With an architecture that can mature toward studio use.</a:t>
            </a:r>
          </a:p>
        </p:txBody>
      </p:sp>
      <p:sp>
        <p:nvSpPr>
          <p:cNvPr id="22" name="proof-3-divider">
            <a:extLst xmlns:a="http://schemas.openxmlformats.org/drawingml/2006/main">
              <a:ext uri="{FF2B5EF4-FFF2-40B4-BE49-F238E27FC236}">
                <a16:creationId xmlns:a16="http://schemas.microsoft.com/office/drawing/2014/main" id="{E964E44A-3809-4E11-A94F-E847EC5B0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00600"/>
            <a:ext cx="3762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3D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roof-4-number">
            <a:extLst xmlns:a="http://schemas.openxmlformats.org/drawingml/2006/main">
              <a:ext uri="{FF2B5EF4-FFF2-40B4-BE49-F238E27FC236}">
                <a16:creationId xmlns:a16="http://schemas.microsoft.com/office/drawing/2014/main" id="{C66EC311-E2C2-44EA-8CE3-6E495B721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149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35E0DF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35E0DF"/>
                </a:solidFill>
                <a:latin typeface="Nimbus Sans"/>
                <a:ea typeface="Nimbus Sans"/>
                <a:cs typeface="Nimbus Sans"/>
              </a:rPr>
              <a:t>04</a:t>
            </a:r>
          </a:p>
        </p:txBody>
      </p:sp>
      <p:sp>
        <p:nvSpPr>
          <p:cNvPr id="24" name="proof-4-title">
            <a:extLst xmlns:a="http://schemas.openxmlformats.org/drawingml/2006/main">
              <a:ext uri="{FF2B5EF4-FFF2-40B4-BE49-F238E27FC236}">
                <a16:creationId xmlns:a16="http://schemas.microsoft.com/office/drawing/2014/main" id="{3C89C898-90E4-43A4-AD21-9A1591D75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958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 i="0">
                <a:solidFill>
                  <a:srgbClr val="F5F8FA"/>
                </a:solidFill>
                <a:latin typeface="Nimbus Sans"/>
                <a:ea typeface="Nimbus Sans"/>
                <a:cs typeface="Nimbus Sans"/>
              </a:defRPr>
            </a:pPr>
            <a:r>
              <a:rPr sz="1575" b="1" i="0">
                <a:solidFill>
                  <a:srgbClr val="F5F8FA"/>
                </a:solidFill>
                <a:latin typeface="Nimbus Sans"/>
                <a:ea typeface="Nimbus Sans"/>
                <a:cs typeface="Nimbus Sans"/>
              </a:rPr>
              <a:t>A builder’s commitment</a:t>
            </a:r>
          </a:p>
        </p:txBody>
      </p:sp>
      <p:sp>
        <p:nvSpPr>
          <p:cNvPr id="25" name="proof-4-body">
            <a:extLst xmlns:a="http://schemas.openxmlformats.org/drawingml/2006/main">
              <a:ext uri="{FF2B5EF4-FFF2-40B4-BE49-F238E27FC236}">
                <a16:creationId xmlns:a16="http://schemas.microsoft.com/office/drawing/2014/main" id="{37D7B07C-56EE-44F0-AFF0-3B3AD45FA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191125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 i="0">
                <a:solidFill>
                  <a:srgbClr val="D6E0E5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 i="0">
                <a:solidFill>
                  <a:srgbClr val="D6E0E5"/>
                </a:solidFill>
                <a:latin typeface="Nimbus Sans"/>
                <a:ea typeface="Nimbus Sans"/>
                <a:cs typeface="Nimbus Sans"/>
              </a:rPr>
              <a:t>Product decisions carried through interface and services.</a:t>
            </a:r>
          </a:p>
        </p:txBody>
      </p:sp>
      <p:sp>
        <p:nvSpPr>
          <p:cNvPr id="26" name="product-home-frame">
            <a:extLst xmlns:a="http://schemas.openxmlformats.org/drawingml/2006/main">
              <a:ext uri="{FF2B5EF4-FFF2-40B4-BE49-F238E27FC236}">
                <a16:creationId xmlns:a16="http://schemas.microsoft.com/office/drawing/2014/main" id="{E250BB1B-AD98-4CBB-9052-AB33D1566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2238375"/>
            <a:ext cx="6248400" cy="3295650"/>
          </a:xfrm>
          <a:prstGeom xmlns:a="http://schemas.openxmlformats.org/drawingml/2006/main" prst="roundRect">
            <a:avLst>
              <a:gd name="adj" fmla="val 2312"/>
            </a:avLst>
          </a:prstGeom>
          <a:solidFill xmlns:a="http://schemas.openxmlformats.org/drawingml/2006/main">
            <a:srgbClr val="02070D"/>
          </a:solidFill>
          <a:ln xmlns:a="http://schemas.openxmlformats.org/drawingml/2006/main" w="9525">
            <a:solidFill>
              <a:srgbClr val="35E0DF"/>
            </a:solidFill>
            <a:prstDash val="solid"/>
          </a:ln>
        </p:spPr>
      </p:sp>
      <p:pic>
        <p:nvPicPr>
          <p:cNvPr id="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a0a46c78104091"/>
          <a:stretch xmlns:a="http://schemas.openxmlformats.org/drawingml/2006/main"/>
        </p:blipFill>
        <p:spPr>
          <a:xfrm xmlns:a="http://schemas.openxmlformats.org/drawingml/2006/main">
            <a:off x="5336132" y="2266950"/>
            <a:ext cx="6186985" cy="3238500"/>
          </a:xfrm>
          <a:prstGeom xmlns:a="http://schemas.openxmlformats.org/drawingml/2006/main" prst="roundRect">
            <a:avLst>
              <a:gd name="adj" fmla="val 2941"/>
            </a:avLst>
          </a:prstGeom>
        </p:spPr>
      </p:pic>
      <p:sp>
        <p:nvSpPr>
          <p:cNvPr id="28" name="product-role">
            <a:extLst xmlns:a="http://schemas.openxmlformats.org/drawingml/2006/main">
              <a:ext uri="{FF2B5EF4-FFF2-40B4-BE49-F238E27FC236}">
                <a16:creationId xmlns:a16="http://schemas.microsoft.com/office/drawing/2014/main" id="{7BE177B2-1EA0-4210-B89E-25A72D6B3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57531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77F0E4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77F0E4"/>
                </a:solidFill>
                <a:latin typeface="Nimbus Sans"/>
                <a:ea typeface="Nimbus Sans"/>
                <a:cs typeface="Nimbus Sans"/>
              </a:rPr>
              <a:t>CO-FOUNDER &amp; CCTO · LUMIFY</a:t>
            </a:r>
          </a:p>
        </p:txBody>
      </p:sp>
      <p:sp>
        <p:nvSpPr>
          <p:cNvPr id="29" name="product-state">
            <a:extLst xmlns:a="http://schemas.openxmlformats.org/drawingml/2006/main">
              <a:ext uri="{FF2B5EF4-FFF2-40B4-BE49-F238E27FC236}">
                <a16:creationId xmlns:a16="http://schemas.microsoft.com/office/drawing/2014/main" id="{E4205E08-561B-4F94-B821-252E23415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7531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 i="0">
                <a:solidFill>
                  <a:srgbClr val="91A7B1"/>
                </a:solidFill>
                <a:latin typeface="Nimbus Sans"/>
                <a:ea typeface="Nimbus Sans"/>
                <a:cs typeface="Nimbus Sans"/>
              </a:defRPr>
            </a:pPr>
            <a:r>
              <a:rPr sz="975" b="0" i="0">
                <a:solidFill>
                  <a:srgbClr val="91A7B1"/>
                </a:solidFill>
                <a:latin typeface="Nimbus Sans"/>
                <a:ea typeface="Nimbus Sans"/>
                <a:cs typeface="Nimbus Sans"/>
              </a:rPr>
              <a:t>ONLINE · MULTIMODAL · CREATOR-FIRST</a:t>
            </a:r>
          </a:p>
        </p:txBody>
      </p:sp>
      <p:sp>
        <p:nvSpPr>
          <p:cNvPr id="30" name="footer-rule">
            <a:extLst xmlns:a="http://schemas.openxmlformats.org/drawingml/2006/main">
              <a:ext uri="{FF2B5EF4-FFF2-40B4-BE49-F238E27FC236}">
                <a16:creationId xmlns:a16="http://schemas.microsoft.com/office/drawing/2014/main" id="{A1A8F5C6-8AF2-40C0-B386-910FAC21D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29375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3D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footer-identity">
            <a:extLst xmlns:a="http://schemas.openxmlformats.org/drawingml/2006/main">
              <a:ext uri="{FF2B5EF4-FFF2-40B4-BE49-F238E27FC236}">
                <a16:creationId xmlns:a16="http://schemas.microsoft.com/office/drawing/2014/main" id="{8BB3B19F-34B9-4C85-8938-DF3EBD70E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 i="0">
                <a:solidFill>
                  <a:srgbClr val="91A7B1"/>
                </a:solidFill>
                <a:latin typeface="Nimbus Sans"/>
                <a:ea typeface="Nimbus Sans"/>
                <a:cs typeface="Nimbus Sans"/>
              </a:defRPr>
            </a:pPr>
            <a:r>
              <a:rPr sz="900" b="0" i="0">
                <a:solidFill>
                  <a:srgbClr val="91A7B1"/>
                </a:solidFill>
                <a:latin typeface="Nimbus Sans"/>
                <a:ea typeface="Nimbus Sans"/>
                <a:cs typeface="Nimbus Sans"/>
              </a:rPr>
              <a:t>RONNIE CLELAND · CREATIVE AI PLATFORM ARCHITECT</a:t>
            </a:r>
          </a:p>
        </p:txBody>
      </p:sp>
      <p:sp>
        <p:nvSpPr>
          <p:cNvPr id="32" name="footer-page">
            <a:extLst xmlns:a="http://schemas.openxmlformats.org/drawingml/2006/main">
              <a:ext uri="{FF2B5EF4-FFF2-40B4-BE49-F238E27FC236}">
                <a16:creationId xmlns:a16="http://schemas.microsoft.com/office/drawing/2014/main" id="{FDCA0FE8-078E-4650-8481-7617224CF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1510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 i="0">
                <a:solidFill>
                  <a:srgbClr val="91A7B1"/>
                </a:solidFill>
                <a:latin typeface="Nimbus Sans"/>
                <a:ea typeface="Nimbus Sans"/>
                <a:cs typeface="Nimbus Sans"/>
              </a:defRPr>
            </a:pPr>
            <a:r>
              <a:rPr sz="900" b="0" i="0">
                <a:solidFill>
                  <a:srgbClr val="91A7B1"/>
                </a:solidFill>
                <a:latin typeface="Nimbus Sans"/>
                <a:ea typeface="Nimbus Sans"/>
                <a:cs typeface="Nimbus Sans"/>
              </a:rPr>
              <a:t>03 / 12</a:t>
            </a:r>
          </a:p>
        </p:txBody>
      </p:sp>
    </p:spTree>
    <p:extLst>
      <p:ext uri="{BB962C8B-B14F-4D97-AF65-F5344CB8AC3E}">
        <p14:creationId xmlns:p14="http://schemas.microsoft.com/office/powerpoint/2010/main" val="590239303"/>
      </p:ext>
    </p:extLst>
  </p:cSld>
</p:sld>
</file>

<file path=ppt/slides/slide4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2070D"/>
            </a:gs>
            <a:gs pos="58000">
              <a:srgbClr val="061621"/>
            </a:gs>
            <a:gs pos="100000">
              <a:srgbClr val="02070D"/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erimeter">
            <a:extLst xmlns:a="http://schemas.openxmlformats.org/drawingml/2006/main">
              <a:ext uri="{FF2B5EF4-FFF2-40B4-BE49-F238E27FC236}">
                <a16:creationId xmlns:a16="http://schemas.microsoft.com/office/drawing/2014/main" id="{010E19BE-09A3-47FA-8FE9-1D6D69435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152400"/>
            <a:ext cx="11887200" cy="6553200"/>
          </a:xfrm>
          <a:prstGeom xmlns:a="http://schemas.openxmlformats.org/drawingml/2006/main" prst="roundRect">
            <a:avLst>
              <a:gd name="adj" fmla="val 1163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176171"/>
            </a:solidFill>
            <a:prstDash val="solid"/>
          </a:ln>
        </p:spPr>
      </p:sp>
      <p:sp>
        <p:nvSpPr>
          <p:cNvPr id="2" name="left-guide">
            <a:extLst xmlns:a="http://schemas.openxmlformats.org/drawingml/2006/main">
              <a:ext uri="{FF2B5EF4-FFF2-40B4-BE49-F238E27FC236}">
                <a16:creationId xmlns:a16="http://schemas.microsoft.com/office/drawing/2014/main" id="{F209E8C4-B12D-45E8-88CD-C685E86BC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66700"/>
            <a:ext cx="9525" cy="632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3D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node">
            <a:extLst xmlns:a="http://schemas.openxmlformats.org/drawingml/2006/main">
              <a:ext uri="{FF2B5EF4-FFF2-40B4-BE49-F238E27FC236}">
                <a16:creationId xmlns:a16="http://schemas.microsoft.com/office/drawing/2014/main" id="{CCADC503-4424-462E-8492-B536336C7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2381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F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ottom-node">
            <a:extLst xmlns:a="http://schemas.openxmlformats.org/drawingml/2006/main">
              <a:ext uri="{FF2B5EF4-FFF2-40B4-BE49-F238E27FC236}">
                <a16:creationId xmlns:a16="http://schemas.microsoft.com/office/drawing/2014/main" id="{2381FEFB-D266-47A8-82A2-F55742250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65627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B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ge-eyebrow">
            <a:extLst xmlns:a="http://schemas.openxmlformats.org/drawingml/2006/main">
              <a:ext uri="{FF2B5EF4-FFF2-40B4-BE49-F238E27FC236}">
                <a16:creationId xmlns:a16="http://schemas.microsoft.com/office/drawing/2014/main" id="{6E1FF80F-E01F-4967-A9CA-8A37EB615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35E0DF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 i="0">
                <a:solidFill>
                  <a:srgbClr val="35E0DF"/>
                </a:solidFill>
                <a:latin typeface="Nimbus Sans"/>
                <a:ea typeface="Nimbus Sans"/>
                <a:cs typeface="Nimbus Sans"/>
              </a:rPr>
              <a:t>04</a:t>
            </a:r>
          </a:p>
        </p:txBody>
      </p:sp>
      <p:sp>
        <p:nvSpPr>
          <p:cNvPr id="6" name="section-eyebrow">
            <a:extLst xmlns:a="http://schemas.openxmlformats.org/drawingml/2006/main">
              <a:ext uri="{FF2B5EF4-FFF2-40B4-BE49-F238E27FC236}">
                <a16:creationId xmlns:a16="http://schemas.microsoft.com/office/drawing/2014/main" id="{2DB14FE7-2B73-4530-AA69-AA2DDDA14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622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77F0E4"/>
                </a:solidFill>
                <a:latin typeface="Nimbus Sans"/>
                <a:ea typeface="Nimbus Sans"/>
                <a:cs typeface="Nimbus Sans"/>
              </a:defRPr>
            </a:pPr>
            <a:r>
              <a:rPr sz="1125" b="1" i="0">
                <a:solidFill>
                  <a:srgbClr val="77F0E4"/>
                </a:solidFill>
                <a:latin typeface="Nimbus Sans"/>
                <a:ea typeface="Nimbus Sans"/>
                <a:cs typeface="Nimbus Sans"/>
              </a:rPr>
              <a:t>INTERACTION DESIGN</a:t>
            </a:r>
          </a:p>
        </p:txBody>
      </p:sp>
      <p:sp>
        <p:nvSpPr>
          <p:cNvPr id="7" name="section-rule">
            <a:extLst xmlns:a="http://schemas.openxmlformats.org/drawingml/2006/main">
              <a:ext uri="{FF2B5EF4-FFF2-40B4-BE49-F238E27FC236}">
                <a16:creationId xmlns:a16="http://schemas.microsoft.com/office/drawing/2014/main" id="{9ADEF5D1-0D15-4B71-ADE3-4783DB8BD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1500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E0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headline-white">
            <a:extLst xmlns:a="http://schemas.openxmlformats.org/drawingml/2006/main">
              <a:ext uri="{FF2B5EF4-FFF2-40B4-BE49-F238E27FC236}">
                <a16:creationId xmlns:a16="http://schemas.microsoft.com/office/drawing/2014/main" id="{BF200C53-907F-4B5E-A992-F7862AC75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42950"/>
            <a:ext cx="11201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075" b="1" i="0">
                <a:solidFill>
                  <a:srgbClr val="F5F8FA"/>
                </a:solidFill>
                <a:latin typeface="Nimbus Sans"/>
                <a:ea typeface="Nimbus Sans"/>
                <a:cs typeface="Nimbus Sans"/>
              </a:defRPr>
            </a:pPr>
            <a:r>
              <a:rPr sz="3075" b="1" i="0">
                <a:solidFill>
                  <a:srgbClr val="F5F8FA"/>
                </a:solidFill>
                <a:latin typeface="Nimbus Sans"/>
                <a:ea typeface="Nimbus Sans"/>
                <a:cs typeface="Nimbus Sans"/>
              </a:rPr>
              <a:t>The interface translates production thinking</a:t>
            </a:r>
          </a:p>
        </p:txBody>
      </p:sp>
      <p:sp>
        <p:nvSpPr>
          <p:cNvPr id="9" name="headline-cyan">
            <a:extLst xmlns:a="http://schemas.openxmlformats.org/drawingml/2006/main">
              <a:ext uri="{FF2B5EF4-FFF2-40B4-BE49-F238E27FC236}">
                <a16:creationId xmlns:a16="http://schemas.microsoft.com/office/drawing/2014/main" id="{7C62A378-4E7A-44FA-99DC-A3A503865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81100"/>
            <a:ext cx="11201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075" b="1" i="0">
                <a:solidFill>
                  <a:srgbClr val="35E0DF"/>
                </a:solidFill>
                <a:latin typeface="Nimbus Sans"/>
                <a:ea typeface="Nimbus Sans"/>
                <a:cs typeface="Nimbus Sans"/>
              </a:defRPr>
            </a:pPr>
            <a:r>
              <a:rPr sz="3075" b="1" i="0">
                <a:solidFill>
                  <a:srgbClr val="35E0DF"/>
                </a:solidFill>
                <a:latin typeface="Nimbus Sans"/>
                <a:ea typeface="Nimbus Sans"/>
                <a:cs typeface="Nimbus Sans"/>
              </a:rPr>
              <a:t>into an approachable control surface.</a:t>
            </a:r>
          </a:p>
        </p:txBody>
      </p:sp>
      <p:sp>
        <p:nvSpPr>
          <p:cNvPr id="10" name="subhead">
            <a:extLst xmlns:a="http://schemas.openxmlformats.org/drawingml/2006/main">
              <a:ext uri="{FF2B5EF4-FFF2-40B4-BE49-F238E27FC236}">
                <a16:creationId xmlns:a16="http://schemas.microsoft.com/office/drawing/2014/main" id="{62E6990F-2646-4BD0-BE8A-9FD3D824F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85925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 i="0">
                <a:solidFill>
                  <a:srgbClr val="D6E0E5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 i="0">
                <a:solidFill>
                  <a:srgbClr val="D6E0E5"/>
                </a:solidFill>
                <a:latin typeface="Nimbus Sans"/>
                <a:ea typeface="Nimbus Sans"/>
                <a:cs typeface="Nimbus Sans"/>
              </a:rPr>
              <a:t>The UI is designed around artist decisions—mode, structure, timing, confidence, comparison, and handoff.</a:t>
            </a:r>
          </a:p>
        </p:txBody>
      </p:sp>
      <p:sp>
        <p:nvSpPr>
          <p:cNvPr id="11" name="interaction-ui-frame">
            <a:extLst xmlns:a="http://schemas.openxmlformats.org/drawingml/2006/main">
              <a:ext uri="{FF2B5EF4-FFF2-40B4-BE49-F238E27FC236}">
                <a16:creationId xmlns:a16="http://schemas.microsoft.com/office/drawing/2014/main" id="{0AB8BED5-E998-41A3-AF1E-1BFDAF4E8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2181225"/>
            <a:ext cx="7820025" cy="3924300"/>
          </a:xfrm>
          <a:prstGeom xmlns:a="http://schemas.openxmlformats.org/drawingml/2006/main" prst="roundRect">
            <a:avLst>
              <a:gd name="adj" fmla="val 1942"/>
            </a:avLst>
          </a:prstGeom>
          <a:solidFill xmlns:a="http://schemas.openxmlformats.org/drawingml/2006/main">
            <a:srgbClr val="02070D"/>
          </a:solidFill>
          <a:ln xmlns:a="http://schemas.openxmlformats.org/drawingml/2006/main" w="9525">
            <a:solidFill>
              <a:srgbClr val="35E0DF"/>
            </a:solidFill>
            <a:prstDash val="solid"/>
          </a:ln>
        </p:spPr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e5b0bf84f34df8"/>
          <a:stretch xmlns:a="http://schemas.openxmlformats.org/drawingml/2006/main"/>
        </p:blipFill>
        <p:spPr>
          <a:xfrm xmlns:a="http://schemas.openxmlformats.org/drawingml/2006/main">
            <a:off x="684798" y="2209800"/>
            <a:ext cx="7383879" cy="3867150"/>
          </a:xfrm>
          <a:prstGeom xmlns:a="http://schemas.openxmlformats.org/drawingml/2006/main" prst="roundRect">
            <a:avLst>
              <a:gd name="adj" fmla="val 2217"/>
            </a:avLst>
          </a:prstGeom>
        </p:spPr>
      </p:pic>
      <p:sp>
        <p:nvSpPr>
          <p:cNvPr id="13" name="interaction-1-number">
            <a:extLst xmlns:a="http://schemas.openxmlformats.org/drawingml/2006/main">
              <a:ext uri="{FF2B5EF4-FFF2-40B4-BE49-F238E27FC236}">
                <a16:creationId xmlns:a16="http://schemas.microsoft.com/office/drawing/2014/main" id="{0E7D122F-D8FE-4176-A50A-426F240AA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2098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35E0DF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35E0DF"/>
                </a:solidFill>
                <a:latin typeface="Nimbus Sans"/>
                <a:ea typeface="Nimbus Sans"/>
                <a:cs typeface="Nimbus Sans"/>
              </a:rPr>
              <a:t>01</a:t>
            </a:r>
          </a:p>
        </p:txBody>
      </p:sp>
      <p:sp>
        <p:nvSpPr>
          <p:cNvPr id="14" name="interaction-1-title">
            <a:extLst xmlns:a="http://schemas.openxmlformats.org/drawingml/2006/main">
              <a:ext uri="{FF2B5EF4-FFF2-40B4-BE49-F238E27FC236}">
                <a16:creationId xmlns:a16="http://schemas.microsoft.com/office/drawing/2014/main" id="{D04A3A06-7AA4-4482-AC40-BBB4A9536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1907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 i="0">
                <a:solidFill>
                  <a:srgbClr val="F5F8FA"/>
                </a:solidFill>
                <a:latin typeface="Nimbus Sans"/>
                <a:ea typeface="Nimbus Sans"/>
                <a:cs typeface="Nimbus Sans"/>
              </a:defRPr>
            </a:pPr>
            <a:r>
              <a:rPr sz="1500" b="1" i="0">
                <a:solidFill>
                  <a:srgbClr val="F5F8FA"/>
                </a:solidFill>
                <a:latin typeface="Nimbus Sans"/>
                <a:ea typeface="Nimbus Sans"/>
                <a:cs typeface="Nimbus Sans"/>
              </a:rPr>
              <a:t>Core setup</a:t>
            </a:r>
          </a:p>
        </p:txBody>
      </p:sp>
      <p:sp>
        <p:nvSpPr>
          <p:cNvPr id="15" name="interaction-1-body">
            <a:extLst xmlns:a="http://schemas.openxmlformats.org/drawingml/2006/main">
              <a:ext uri="{FF2B5EF4-FFF2-40B4-BE49-F238E27FC236}">
                <a16:creationId xmlns:a16="http://schemas.microsoft.com/office/drawing/2014/main" id="{D3AECB2D-F2FA-4DBC-853B-5368C1C5F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495550"/>
            <a:ext cx="2428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125" b="0" i="0">
                <a:solidFill>
                  <a:srgbClr val="D6E0E5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 i="0">
                <a:solidFill>
                  <a:srgbClr val="D6E0E5"/>
                </a:solidFill>
                <a:latin typeface="Nimbus Sans"/>
                <a:ea typeface="Nimbus Sans"/>
                <a:cs typeface="Nimbus Sans"/>
              </a:rPr>
              <a:t>Style and structural intent before generation.</a:t>
            </a:r>
          </a:p>
        </p:txBody>
      </p:sp>
      <p:sp>
        <p:nvSpPr>
          <p:cNvPr id="16" name="interaction-1-divider">
            <a:extLst xmlns:a="http://schemas.openxmlformats.org/drawingml/2006/main">
              <a:ext uri="{FF2B5EF4-FFF2-40B4-BE49-F238E27FC236}">
                <a16:creationId xmlns:a16="http://schemas.microsoft.com/office/drawing/2014/main" id="{F089688E-2FF3-42BD-A126-DC5F9AF46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0670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3D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interaction-2-number">
            <a:extLst xmlns:a="http://schemas.openxmlformats.org/drawingml/2006/main">
              <a:ext uri="{FF2B5EF4-FFF2-40B4-BE49-F238E27FC236}">
                <a16:creationId xmlns:a16="http://schemas.microsoft.com/office/drawing/2014/main" id="{DF2DCC7D-9256-4C0A-A2B4-3BB06C171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623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35E0DF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35E0DF"/>
                </a:solidFill>
                <a:latin typeface="Nimbus Sans"/>
                <a:ea typeface="Nimbus Sans"/>
                <a:cs typeface="Nimbus Sans"/>
              </a:rPr>
              <a:t>02</a:t>
            </a:r>
          </a:p>
        </p:txBody>
      </p:sp>
      <p:sp>
        <p:nvSpPr>
          <p:cNvPr id="18" name="interaction-2-title">
            <a:extLst xmlns:a="http://schemas.openxmlformats.org/drawingml/2006/main">
              <a:ext uri="{FF2B5EF4-FFF2-40B4-BE49-F238E27FC236}">
                <a16:creationId xmlns:a16="http://schemas.microsoft.com/office/drawing/2014/main" id="{291F58AA-1290-4C92-903A-0CEF277FE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1432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 i="0">
                <a:solidFill>
                  <a:srgbClr val="F5F8FA"/>
                </a:solidFill>
                <a:latin typeface="Nimbus Sans"/>
                <a:ea typeface="Nimbus Sans"/>
                <a:cs typeface="Nimbus Sans"/>
              </a:defRPr>
            </a:pPr>
            <a:r>
              <a:rPr sz="1500" b="1" i="0">
                <a:solidFill>
                  <a:srgbClr val="F5F8FA"/>
                </a:solidFill>
                <a:latin typeface="Nimbus Sans"/>
                <a:ea typeface="Nimbus Sans"/>
                <a:cs typeface="Nimbus Sans"/>
              </a:rPr>
              <a:t>Workflow HUDs</a:t>
            </a:r>
          </a:p>
        </p:txBody>
      </p:sp>
      <p:sp>
        <p:nvSpPr>
          <p:cNvPr id="19" name="interaction-2-body">
            <a:extLst xmlns:a="http://schemas.openxmlformats.org/drawingml/2006/main">
              <a:ext uri="{FF2B5EF4-FFF2-40B4-BE49-F238E27FC236}">
                <a16:creationId xmlns:a16="http://schemas.microsoft.com/office/drawing/2014/main" id="{B2540AEB-88F2-4D66-A1AB-D6D5D7CF3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448050"/>
            <a:ext cx="2428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125" b="0" i="0">
                <a:solidFill>
                  <a:srgbClr val="D6E0E5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 i="0">
                <a:solidFill>
                  <a:srgbClr val="D6E0E5"/>
                </a:solidFill>
                <a:latin typeface="Nimbus Sans"/>
                <a:ea typeface="Nimbus Sans"/>
                <a:cs typeface="Nimbus Sans"/>
              </a:rPr>
              <a:t>Purpose-built controls for video, camera, light, depth, material, and more.</a:t>
            </a:r>
          </a:p>
        </p:txBody>
      </p:sp>
      <p:sp>
        <p:nvSpPr>
          <p:cNvPr id="20" name="interaction-2-divider">
            <a:extLst xmlns:a="http://schemas.openxmlformats.org/drawingml/2006/main">
              <a:ext uri="{FF2B5EF4-FFF2-40B4-BE49-F238E27FC236}">
                <a16:creationId xmlns:a16="http://schemas.microsoft.com/office/drawing/2014/main" id="{D6F2A384-7ED2-421B-8274-E6F4382B0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0195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3D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interaction-3-number">
            <a:extLst xmlns:a="http://schemas.openxmlformats.org/drawingml/2006/main">
              <a:ext uri="{FF2B5EF4-FFF2-40B4-BE49-F238E27FC236}">
                <a16:creationId xmlns:a16="http://schemas.microsoft.com/office/drawing/2014/main" id="{C8DBF9EC-A9C9-450F-ADAA-B06B1033E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1148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35E0DF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35E0DF"/>
                </a:solidFill>
                <a:latin typeface="Nimbus Sans"/>
                <a:ea typeface="Nimbus Sans"/>
                <a:cs typeface="Nimbus Sans"/>
              </a:rPr>
              <a:t>03</a:t>
            </a:r>
          </a:p>
        </p:txBody>
      </p:sp>
      <p:sp>
        <p:nvSpPr>
          <p:cNvPr id="22" name="interaction-3-title">
            <a:extLst xmlns:a="http://schemas.openxmlformats.org/drawingml/2006/main">
              <a:ext uri="{FF2B5EF4-FFF2-40B4-BE49-F238E27FC236}">
                <a16:creationId xmlns:a16="http://schemas.microsoft.com/office/drawing/2014/main" id="{9F645EEC-832C-4EBE-AF87-F6047BD69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0957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 i="0">
                <a:solidFill>
                  <a:srgbClr val="F5F8FA"/>
                </a:solidFill>
                <a:latin typeface="Nimbus Sans"/>
                <a:ea typeface="Nimbus Sans"/>
                <a:cs typeface="Nimbus Sans"/>
              </a:defRPr>
            </a:pPr>
            <a:r>
              <a:rPr sz="1500" b="1" i="0">
                <a:solidFill>
                  <a:srgbClr val="F5F8FA"/>
                </a:solidFill>
                <a:latin typeface="Nimbus Sans"/>
                <a:ea typeface="Nimbus Sans"/>
                <a:cs typeface="Nimbus Sans"/>
              </a:rPr>
              <a:t>Confidence controls</a:t>
            </a:r>
          </a:p>
        </p:txBody>
      </p:sp>
      <p:sp>
        <p:nvSpPr>
          <p:cNvPr id="23" name="interaction-3-body">
            <a:extLst xmlns:a="http://schemas.openxmlformats.org/drawingml/2006/main">
              <a:ext uri="{FF2B5EF4-FFF2-40B4-BE49-F238E27FC236}">
                <a16:creationId xmlns:a16="http://schemas.microsoft.com/office/drawing/2014/main" id="{0EDF01B2-6B9D-4216-A238-8E0C19C52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400550"/>
            <a:ext cx="2428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125" b="0" i="0">
                <a:solidFill>
                  <a:srgbClr val="D6E0E5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 i="0">
                <a:solidFill>
                  <a:srgbClr val="D6E0E5"/>
                </a:solidFill>
                <a:latin typeface="Nimbus Sans"/>
                <a:ea typeface="Nimbus Sans"/>
                <a:cs typeface="Nimbus Sans"/>
              </a:rPr>
              <a:t>Timing, tuning, seed, steps, and model-specific parameters stay visible.</a:t>
            </a:r>
          </a:p>
        </p:txBody>
      </p:sp>
      <p:sp>
        <p:nvSpPr>
          <p:cNvPr id="24" name="interaction-3-divider">
            <a:extLst xmlns:a="http://schemas.openxmlformats.org/drawingml/2006/main">
              <a:ext uri="{FF2B5EF4-FFF2-40B4-BE49-F238E27FC236}">
                <a16:creationId xmlns:a16="http://schemas.microsoft.com/office/drawing/2014/main" id="{1816970B-46F5-4436-B13E-A71C529CB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9720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3D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interaction-4-number">
            <a:extLst xmlns:a="http://schemas.openxmlformats.org/drawingml/2006/main">
              <a:ext uri="{FF2B5EF4-FFF2-40B4-BE49-F238E27FC236}">
                <a16:creationId xmlns:a16="http://schemas.microsoft.com/office/drawing/2014/main" id="{CCD7D9B5-460C-4032-8C4D-6CB3136F6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0673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35E0DF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35E0DF"/>
                </a:solidFill>
                <a:latin typeface="Nimbus Sans"/>
                <a:ea typeface="Nimbus Sans"/>
                <a:cs typeface="Nimbus Sans"/>
              </a:rPr>
              <a:t>04</a:t>
            </a:r>
          </a:p>
        </p:txBody>
      </p:sp>
      <p:sp>
        <p:nvSpPr>
          <p:cNvPr id="26" name="interaction-4-title">
            <a:extLst xmlns:a="http://schemas.openxmlformats.org/drawingml/2006/main">
              <a:ext uri="{FF2B5EF4-FFF2-40B4-BE49-F238E27FC236}">
                <a16:creationId xmlns:a16="http://schemas.microsoft.com/office/drawing/2014/main" id="{B8A7419B-7E2C-4223-A342-62A03AF5F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0482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 i="0">
                <a:solidFill>
                  <a:srgbClr val="F5F8FA"/>
                </a:solidFill>
                <a:latin typeface="Nimbus Sans"/>
                <a:ea typeface="Nimbus Sans"/>
                <a:cs typeface="Nimbus Sans"/>
              </a:defRPr>
            </a:pPr>
            <a:r>
              <a:rPr sz="1500" b="1" i="0">
                <a:solidFill>
                  <a:srgbClr val="F5F8FA"/>
                </a:solidFill>
                <a:latin typeface="Nimbus Sans"/>
                <a:ea typeface="Nimbus Sans"/>
                <a:cs typeface="Nimbus Sans"/>
              </a:rPr>
              <a:t>Production handoff</a:t>
            </a:r>
          </a:p>
        </p:txBody>
      </p:sp>
      <p:sp>
        <p:nvSpPr>
          <p:cNvPr id="27" name="interaction-4-body">
            <a:extLst xmlns:a="http://schemas.openxmlformats.org/drawingml/2006/main">
              <a:ext uri="{FF2B5EF4-FFF2-40B4-BE49-F238E27FC236}">
                <a16:creationId xmlns:a16="http://schemas.microsoft.com/office/drawing/2014/main" id="{5FB9B312-D773-4CC8-A42F-646A95646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353050"/>
            <a:ext cx="2428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125" b="0" i="0">
                <a:solidFill>
                  <a:srgbClr val="D6E0E5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 i="0">
                <a:solidFill>
                  <a:srgbClr val="D6E0E5"/>
                </a:solidFill>
                <a:latin typeface="Nimbus Sans"/>
                <a:ea typeface="Nimbus Sans"/>
                <a:cs typeface="Nimbus Sans"/>
              </a:rPr>
              <a:t>Import, gallery, projects, assets, packages, and review remain connected.</a:t>
            </a:r>
          </a:p>
        </p:txBody>
      </p:sp>
      <p:sp>
        <p:nvSpPr>
          <p:cNvPr id="28" name="footer-rule">
            <a:extLst xmlns:a="http://schemas.openxmlformats.org/drawingml/2006/main">
              <a:ext uri="{FF2B5EF4-FFF2-40B4-BE49-F238E27FC236}">
                <a16:creationId xmlns:a16="http://schemas.microsoft.com/office/drawing/2014/main" id="{DB5F8560-B8B3-497D-A6DA-8477B3417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29375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3D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footer-identity">
            <a:extLst xmlns:a="http://schemas.openxmlformats.org/drawingml/2006/main">
              <a:ext uri="{FF2B5EF4-FFF2-40B4-BE49-F238E27FC236}">
                <a16:creationId xmlns:a16="http://schemas.microsoft.com/office/drawing/2014/main" id="{58B9013C-A5F6-4B92-A7B8-D8429B076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 i="0">
                <a:solidFill>
                  <a:srgbClr val="91A7B1"/>
                </a:solidFill>
                <a:latin typeface="Nimbus Sans"/>
                <a:ea typeface="Nimbus Sans"/>
                <a:cs typeface="Nimbus Sans"/>
              </a:defRPr>
            </a:pPr>
            <a:r>
              <a:rPr sz="900" b="0" i="0">
                <a:solidFill>
                  <a:srgbClr val="91A7B1"/>
                </a:solidFill>
                <a:latin typeface="Nimbus Sans"/>
                <a:ea typeface="Nimbus Sans"/>
                <a:cs typeface="Nimbus Sans"/>
              </a:rPr>
              <a:t>RONNIE CLELAND · CREATIVE AI PLATFORM ARCHITECT</a:t>
            </a:r>
          </a:p>
        </p:txBody>
      </p:sp>
      <p:sp>
        <p:nvSpPr>
          <p:cNvPr id="30" name="footer-page">
            <a:extLst xmlns:a="http://schemas.openxmlformats.org/drawingml/2006/main">
              <a:ext uri="{FF2B5EF4-FFF2-40B4-BE49-F238E27FC236}">
                <a16:creationId xmlns:a16="http://schemas.microsoft.com/office/drawing/2014/main" id="{489B96BE-48AA-4F67-8EC2-60A06F9CA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1510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 i="0">
                <a:solidFill>
                  <a:srgbClr val="91A7B1"/>
                </a:solidFill>
                <a:latin typeface="Nimbus Sans"/>
                <a:ea typeface="Nimbus Sans"/>
                <a:cs typeface="Nimbus Sans"/>
              </a:defRPr>
            </a:pPr>
            <a:r>
              <a:rPr sz="900" b="0" i="0">
                <a:solidFill>
                  <a:srgbClr val="91A7B1"/>
                </a:solidFill>
                <a:latin typeface="Nimbus Sans"/>
                <a:ea typeface="Nimbus Sans"/>
                <a:cs typeface="Nimbus Sans"/>
              </a:rPr>
              <a:t>04 / 12</a:t>
            </a:r>
          </a:p>
        </p:txBody>
      </p:sp>
    </p:spTree>
    <p:extLst>
      <p:ext uri="{BB962C8B-B14F-4D97-AF65-F5344CB8AC3E}">
        <p14:creationId xmlns:p14="http://schemas.microsoft.com/office/powerpoint/2010/main" val="1826419633"/>
      </p:ext>
    </p:extLst>
  </p:cSld>
</p:sld>
</file>

<file path=ppt/slides/slide5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2070D"/>
            </a:gs>
            <a:gs pos="58000">
              <a:srgbClr val="061621"/>
            </a:gs>
            <a:gs pos="100000">
              <a:srgbClr val="02070D"/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erimeter">
            <a:extLst xmlns:a="http://schemas.openxmlformats.org/drawingml/2006/main">
              <a:ext uri="{FF2B5EF4-FFF2-40B4-BE49-F238E27FC236}">
                <a16:creationId xmlns:a16="http://schemas.microsoft.com/office/drawing/2014/main" id="{50D3908A-B50B-449D-A0AF-EDD4BF720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152400"/>
            <a:ext cx="11887200" cy="6553200"/>
          </a:xfrm>
          <a:prstGeom xmlns:a="http://schemas.openxmlformats.org/drawingml/2006/main" prst="roundRect">
            <a:avLst>
              <a:gd name="adj" fmla="val 1163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176171"/>
            </a:solidFill>
            <a:prstDash val="solid"/>
          </a:ln>
        </p:spPr>
      </p:sp>
      <p:sp>
        <p:nvSpPr>
          <p:cNvPr id="2" name="left-guide">
            <a:extLst xmlns:a="http://schemas.openxmlformats.org/drawingml/2006/main">
              <a:ext uri="{FF2B5EF4-FFF2-40B4-BE49-F238E27FC236}">
                <a16:creationId xmlns:a16="http://schemas.microsoft.com/office/drawing/2014/main" id="{03A4B6A0-CB2B-416D-98E6-385DA9CFD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66700"/>
            <a:ext cx="9525" cy="632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3D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node">
            <a:extLst xmlns:a="http://schemas.openxmlformats.org/drawingml/2006/main">
              <a:ext uri="{FF2B5EF4-FFF2-40B4-BE49-F238E27FC236}">
                <a16:creationId xmlns:a16="http://schemas.microsoft.com/office/drawing/2014/main" id="{E4FC6214-A8D1-492A-B68A-1BA4ABABD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2381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F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ottom-node">
            <a:extLst xmlns:a="http://schemas.openxmlformats.org/drawingml/2006/main">
              <a:ext uri="{FF2B5EF4-FFF2-40B4-BE49-F238E27FC236}">
                <a16:creationId xmlns:a16="http://schemas.microsoft.com/office/drawing/2014/main" id="{C408B8C6-67F1-4C25-84E5-38D9E89AF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65627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B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ge-eyebrow">
            <a:extLst xmlns:a="http://schemas.openxmlformats.org/drawingml/2006/main">
              <a:ext uri="{FF2B5EF4-FFF2-40B4-BE49-F238E27FC236}">
                <a16:creationId xmlns:a16="http://schemas.microsoft.com/office/drawing/2014/main" id="{2987F7D1-84D8-44A3-9D51-471A074AA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35E0DF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 i="0">
                <a:solidFill>
                  <a:srgbClr val="35E0DF"/>
                </a:solidFill>
                <a:latin typeface="Nimbus Sans"/>
                <a:ea typeface="Nimbus Sans"/>
                <a:cs typeface="Nimbus Sans"/>
              </a:rPr>
              <a:t>05</a:t>
            </a:r>
          </a:p>
        </p:txBody>
      </p:sp>
      <p:sp>
        <p:nvSpPr>
          <p:cNvPr id="6" name="section-eyebrow">
            <a:extLst xmlns:a="http://schemas.openxmlformats.org/drawingml/2006/main">
              <a:ext uri="{FF2B5EF4-FFF2-40B4-BE49-F238E27FC236}">
                <a16:creationId xmlns:a16="http://schemas.microsoft.com/office/drawing/2014/main" id="{A78CED43-A13B-48B7-9F11-BF3E1533B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622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77F0E4"/>
                </a:solidFill>
                <a:latin typeface="Nimbus Sans"/>
                <a:ea typeface="Nimbus Sans"/>
                <a:cs typeface="Nimbus Sans"/>
              </a:defRPr>
            </a:pPr>
            <a:r>
              <a:rPr sz="1125" b="1" i="0">
                <a:solidFill>
                  <a:srgbClr val="77F0E4"/>
                </a:solidFill>
                <a:latin typeface="Nimbus Sans"/>
                <a:ea typeface="Nimbus Sans"/>
                <a:cs typeface="Nimbus Sans"/>
              </a:rPr>
              <a:t>WORKFLOW ARCHITECTURE</a:t>
            </a:r>
          </a:p>
        </p:txBody>
      </p:sp>
      <p:sp>
        <p:nvSpPr>
          <p:cNvPr id="7" name="section-rule">
            <a:extLst xmlns:a="http://schemas.openxmlformats.org/drawingml/2006/main">
              <a:ext uri="{FF2B5EF4-FFF2-40B4-BE49-F238E27FC236}">
                <a16:creationId xmlns:a16="http://schemas.microsoft.com/office/drawing/2014/main" id="{70A7C897-1692-4FD3-AB4B-4132615FE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1500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E0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headline-white">
            <a:extLst xmlns:a="http://schemas.openxmlformats.org/drawingml/2006/main">
              <a:ext uri="{FF2B5EF4-FFF2-40B4-BE49-F238E27FC236}">
                <a16:creationId xmlns:a16="http://schemas.microsoft.com/office/drawing/2014/main" id="{695192E2-E163-4B69-B1DB-AC0F004CF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42950"/>
            <a:ext cx="11201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300" b="1" i="0">
                <a:solidFill>
                  <a:srgbClr val="F5F8FA"/>
                </a:solidFill>
                <a:latin typeface="Nimbus Sans"/>
                <a:ea typeface="Nimbus Sans"/>
                <a:cs typeface="Nimbus Sans"/>
              </a:defRPr>
            </a:pPr>
            <a:r>
              <a:rPr sz="3300" b="1" i="0">
                <a:solidFill>
                  <a:srgbClr val="F5F8FA"/>
                </a:solidFill>
                <a:latin typeface="Nimbus Sans"/>
                <a:ea typeface="Nimbus Sans"/>
                <a:cs typeface="Nimbus Sans"/>
              </a:rPr>
              <a:t>The product is a workflow system—</a:t>
            </a:r>
          </a:p>
        </p:txBody>
      </p:sp>
      <p:sp>
        <p:nvSpPr>
          <p:cNvPr id="9" name="headline-cyan">
            <a:extLst xmlns:a="http://schemas.openxmlformats.org/drawingml/2006/main">
              <a:ext uri="{FF2B5EF4-FFF2-40B4-BE49-F238E27FC236}">
                <a16:creationId xmlns:a16="http://schemas.microsoft.com/office/drawing/2014/main" id="{3C7BA46D-00FD-49EC-9CCE-335A3C7CE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0150"/>
            <a:ext cx="11201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300" b="1" i="0">
                <a:solidFill>
                  <a:srgbClr val="35E0DF"/>
                </a:solidFill>
                <a:latin typeface="Nimbus Sans"/>
                <a:ea typeface="Nimbus Sans"/>
                <a:cs typeface="Nimbus Sans"/>
              </a:defRPr>
            </a:pPr>
            <a:r>
              <a:rPr sz="3300" b="1" i="0">
                <a:solidFill>
                  <a:srgbClr val="35E0DF"/>
                </a:solidFill>
                <a:latin typeface="Nimbus Sans"/>
                <a:ea typeface="Nimbus Sans"/>
                <a:cs typeface="Nimbus Sans"/>
              </a:rPr>
              <a:t>not a model menu.</a:t>
            </a:r>
          </a:p>
        </p:txBody>
      </p:sp>
      <p:sp>
        <p:nvSpPr>
          <p:cNvPr id="10" name="subhead">
            <a:extLst xmlns:a="http://schemas.openxmlformats.org/drawingml/2006/main">
              <a:ext uri="{FF2B5EF4-FFF2-40B4-BE49-F238E27FC236}">
                <a16:creationId xmlns:a16="http://schemas.microsoft.com/office/drawing/2014/main" id="{D93620A0-4FA8-4BF6-BAF6-589D871D2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526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 i="0">
                <a:solidFill>
                  <a:srgbClr val="D6E0E5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 i="0">
                <a:solidFill>
                  <a:srgbClr val="D6E0E5"/>
                </a:solidFill>
                <a:latin typeface="Nimbus Sans"/>
                <a:ea typeface="Nimbus Sans"/>
                <a:cs typeface="Nimbus Sans"/>
              </a:rPr>
              <a:t>Models can change. The artist’s creative progression should remain legible and stable.</a:t>
            </a:r>
          </a:p>
        </p:txBody>
      </p:sp>
      <p:sp>
        <p:nvSpPr>
          <p:cNvPr id="11" name="workflow-line">
            <a:extLst xmlns:a="http://schemas.openxmlformats.org/drawingml/2006/main">
              <a:ext uri="{FF2B5EF4-FFF2-40B4-BE49-F238E27FC236}">
                <a16:creationId xmlns:a16="http://schemas.microsoft.com/office/drawing/2014/main" id="{04D36D47-5AC7-462F-BB60-ECE6E8468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857500"/>
            <a:ext cx="8991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17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tage-1-node">
            <a:extLst xmlns:a="http://schemas.openxmlformats.org/drawingml/2006/main">
              <a:ext uri="{FF2B5EF4-FFF2-40B4-BE49-F238E27FC236}">
                <a16:creationId xmlns:a16="http://schemas.microsoft.com/office/drawing/2014/main" id="{16D600BD-8E88-4564-BC96-767049285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6860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070D"/>
          </a:solidFill>
          <a:ln xmlns:a="http://schemas.openxmlformats.org/drawingml/2006/main" w="14288">
            <a:solidFill>
              <a:srgbClr val="35E0DF"/>
            </a:solidFill>
            <a:prstDash val="solid"/>
          </a:ln>
        </p:spPr>
      </p:sp>
      <p:sp>
        <p:nvSpPr>
          <p:cNvPr id="13" name="stage-1-number">
            <a:extLst xmlns:a="http://schemas.openxmlformats.org/drawingml/2006/main">
              <a:ext uri="{FF2B5EF4-FFF2-40B4-BE49-F238E27FC236}">
                <a16:creationId xmlns:a16="http://schemas.microsoft.com/office/drawing/2014/main" id="{27D36736-BC8A-45CE-BCC8-A007BE642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77177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 i="0">
                <a:solidFill>
                  <a:srgbClr val="77F0E4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77F0E4"/>
                </a:solidFill>
                <a:latin typeface="Nimbus Sans"/>
                <a:ea typeface="Nimbus Sans"/>
                <a:cs typeface="Nimbus Sans"/>
              </a:rPr>
              <a:t>01</a:t>
            </a:r>
          </a:p>
        </p:txBody>
      </p:sp>
      <p:sp>
        <p:nvSpPr>
          <p:cNvPr id="14" name="workflow-1-label">
            <a:extLst xmlns:a="http://schemas.openxmlformats.org/drawingml/2006/main">
              <a:ext uri="{FF2B5EF4-FFF2-40B4-BE49-F238E27FC236}">
                <a16:creationId xmlns:a16="http://schemas.microsoft.com/office/drawing/2014/main" id="{8C84D86F-9CBA-4D38-91F0-DC76E5A31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194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35E0DF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 i="0">
                <a:solidFill>
                  <a:srgbClr val="35E0DF"/>
                </a:solidFill>
                <a:latin typeface="Nimbus Sans"/>
                <a:ea typeface="Nimbus Sans"/>
                <a:cs typeface="Nimbus Sans"/>
              </a:rPr>
              <a:t>CREATE</a:t>
            </a:r>
          </a:p>
        </p:txBody>
      </p:sp>
      <p:sp>
        <p:nvSpPr>
          <p:cNvPr id="15" name="workflow-1-title">
            <a:extLst xmlns:a="http://schemas.openxmlformats.org/drawingml/2006/main">
              <a:ext uri="{FF2B5EF4-FFF2-40B4-BE49-F238E27FC236}">
                <a16:creationId xmlns:a16="http://schemas.microsoft.com/office/drawing/2014/main" id="{359E5DF1-1979-49D5-906D-8A653A178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24250"/>
            <a:ext cx="228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 i="0">
                <a:solidFill>
                  <a:srgbClr val="F5F8FA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 i="0">
                <a:solidFill>
                  <a:srgbClr val="F5F8FA"/>
                </a:solidFill>
                <a:latin typeface="Nimbus Sans"/>
                <a:ea typeface="Nimbus Sans"/>
                <a:cs typeface="Nimbus Sans"/>
              </a:rPr>
              <a:t>Start the idea</a:t>
            </a:r>
          </a:p>
        </p:txBody>
      </p:sp>
      <p:sp>
        <p:nvSpPr>
          <p:cNvPr id="16" name="workflow-1-rule">
            <a:extLst xmlns:a="http://schemas.openxmlformats.org/drawingml/2006/main">
              <a:ext uri="{FF2B5EF4-FFF2-40B4-BE49-F238E27FC236}">
                <a16:creationId xmlns:a16="http://schemas.microsoft.com/office/drawing/2014/main" id="{6DCBA57E-53B1-42CC-96F0-8C03DEACD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0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E0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workflow-1-list">
            <a:extLst xmlns:a="http://schemas.openxmlformats.org/drawingml/2006/main">
              <a:ext uri="{FF2B5EF4-FFF2-40B4-BE49-F238E27FC236}">
                <a16:creationId xmlns:a16="http://schemas.microsoft.com/office/drawing/2014/main" id="{37E8C0DA-BFBB-4D89-AAB2-3BA6D2535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05300"/>
            <a:ext cx="23336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 i="0">
                <a:solidFill>
                  <a:srgbClr val="D6E0E5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D6E0E5"/>
                </a:solidFill>
                <a:latin typeface="Nimbus Sans"/>
                <a:ea typeface="Nimbus Sans"/>
                <a:cs typeface="Nimbus Sans"/>
              </a:rPr>
              <a:t>Prompt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75" b="0" i="0">
                <a:solidFill>
                  <a:srgbClr val="D6E0E5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D6E0E5"/>
                </a:solidFill>
                <a:latin typeface="Nimbus Sans"/>
                <a:ea typeface="Nimbus Sans"/>
                <a:cs typeface="Nimbus Sans"/>
              </a:rPr>
              <a:t>Storyboard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75" b="0" i="0">
                <a:solidFill>
                  <a:srgbClr val="D6E0E5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D6E0E5"/>
                </a:solidFill>
                <a:latin typeface="Nimbus Sans"/>
                <a:ea typeface="Nimbus Sans"/>
                <a:cs typeface="Nimbus Sans"/>
              </a:rPr>
              <a:t>Image + reference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75" b="0" i="0">
                <a:solidFill>
                  <a:srgbClr val="D6E0E5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D6E0E5"/>
                </a:solidFill>
                <a:latin typeface="Nimbus Sans"/>
                <a:ea typeface="Nimbus Sans"/>
                <a:cs typeface="Nimbus Sans"/>
              </a:rPr>
              <a:t>Project setup</a:t>
            </a:r>
          </a:p>
        </p:txBody>
      </p:sp>
      <p:sp>
        <p:nvSpPr>
          <p:cNvPr id="18" name="stage-2-node">
            <a:extLst xmlns:a="http://schemas.openxmlformats.org/drawingml/2006/main">
              <a:ext uri="{FF2B5EF4-FFF2-40B4-BE49-F238E27FC236}">
                <a16:creationId xmlns:a16="http://schemas.microsoft.com/office/drawing/2014/main" id="{87533F9B-E5BF-4875-B105-6E6D7D8D0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6860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070D"/>
          </a:solidFill>
          <a:ln xmlns:a="http://schemas.openxmlformats.org/drawingml/2006/main" w="14288">
            <a:solidFill>
              <a:srgbClr val="35E0DF"/>
            </a:solidFill>
            <a:prstDash val="solid"/>
          </a:ln>
        </p:spPr>
      </p:sp>
      <p:sp>
        <p:nvSpPr>
          <p:cNvPr id="19" name="stage-2-number">
            <a:extLst xmlns:a="http://schemas.openxmlformats.org/drawingml/2006/main">
              <a:ext uri="{FF2B5EF4-FFF2-40B4-BE49-F238E27FC236}">
                <a16:creationId xmlns:a16="http://schemas.microsoft.com/office/drawing/2014/main" id="{78AF503B-DF10-41E7-914E-D302AFA8D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77177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 i="0">
                <a:solidFill>
                  <a:srgbClr val="77F0E4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77F0E4"/>
                </a:solidFill>
                <a:latin typeface="Nimbus Sans"/>
                <a:ea typeface="Nimbus Sans"/>
                <a:cs typeface="Nimbus Sans"/>
              </a:rPr>
              <a:t>02</a:t>
            </a:r>
          </a:p>
        </p:txBody>
      </p:sp>
      <p:sp>
        <p:nvSpPr>
          <p:cNvPr id="20" name="workflow-2-label">
            <a:extLst xmlns:a="http://schemas.openxmlformats.org/drawingml/2006/main">
              <a:ext uri="{FF2B5EF4-FFF2-40B4-BE49-F238E27FC236}">
                <a16:creationId xmlns:a16="http://schemas.microsoft.com/office/drawing/2014/main" id="{47A40C0D-0E24-4FFA-A8D2-2C8074C03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2194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35E0DF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 i="0">
                <a:solidFill>
                  <a:srgbClr val="35E0DF"/>
                </a:solidFill>
                <a:latin typeface="Nimbus Sans"/>
                <a:ea typeface="Nimbus Sans"/>
                <a:cs typeface="Nimbus Sans"/>
              </a:rPr>
              <a:t>REFINE</a:t>
            </a:r>
          </a:p>
        </p:txBody>
      </p:sp>
      <p:sp>
        <p:nvSpPr>
          <p:cNvPr id="21" name="workflow-2-title">
            <a:extLst xmlns:a="http://schemas.openxmlformats.org/drawingml/2006/main">
              <a:ext uri="{FF2B5EF4-FFF2-40B4-BE49-F238E27FC236}">
                <a16:creationId xmlns:a16="http://schemas.microsoft.com/office/drawing/2014/main" id="{CEFE2F80-009D-44A4-BDBF-CD8B3663E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524250"/>
            <a:ext cx="228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 i="0">
                <a:solidFill>
                  <a:srgbClr val="F5F8FA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 i="0">
                <a:solidFill>
                  <a:srgbClr val="F5F8FA"/>
                </a:solidFill>
                <a:latin typeface="Nimbus Sans"/>
                <a:ea typeface="Nimbus Sans"/>
                <a:cs typeface="Nimbus Sans"/>
              </a:rPr>
              <a:t>Shape the result</a:t>
            </a:r>
          </a:p>
        </p:txBody>
      </p:sp>
      <p:sp>
        <p:nvSpPr>
          <p:cNvPr id="22" name="workflow-2-rule">
            <a:extLst xmlns:a="http://schemas.openxmlformats.org/drawingml/2006/main">
              <a:ext uri="{FF2B5EF4-FFF2-40B4-BE49-F238E27FC236}">
                <a16:creationId xmlns:a16="http://schemas.microsoft.com/office/drawing/2014/main" id="{9B49DF09-A572-4498-AD91-DB9C45F00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095750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E0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workflow-2-list">
            <a:extLst xmlns:a="http://schemas.openxmlformats.org/drawingml/2006/main">
              <a:ext uri="{FF2B5EF4-FFF2-40B4-BE49-F238E27FC236}">
                <a16:creationId xmlns:a16="http://schemas.microsoft.com/office/drawing/2014/main" id="{165444A9-E7B4-44DF-9E32-27AB67D9A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305300"/>
            <a:ext cx="23336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 i="0">
                <a:solidFill>
                  <a:srgbClr val="D6E0E5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D6E0E5"/>
                </a:solidFill>
                <a:latin typeface="Nimbus Sans"/>
                <a:ea typeface="Nimbus Sans"/>
                <a:cs typeface="Nimbus Sans"/>
              </a:rPr>
              <a:t>Composite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75" b="0" i="0">
                <a:solidFill>
                  <a:srgbClr val="D6E0E5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D6E0E5"/>
                </a:solidFill>
                <a:latin typeface="Nimbus Sans"/>
                <a:ea typeface="Nimbus Sans"/>
                <a:cs typeface="Nimbus Sans"/>
              </a:rPr>
              <a:t>Time of Day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75" b="0" i="0">
                <a:solidFill>
                  <a:srgbClr val="D6E0E5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D6E0E5"/>
                </a:solidFill>
                <a:latin typeface="Nimbus Sans"/>
                <a:ea typeface="Nimbus Sans"/>
                <a:cs typeface="Nimbus Sans"/>
              </a:rPr>
              <a:t>Stylize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75" b="0" i="0">
                <a:solidFill>
                  <a:srgbClr val="D6E0E5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D6E0E5"/>
                </a:solidFill>
                <a:latin typeface="Nimbus Sans"/>
                <a:ea typeface="Nimbus Sans"/>
                <a:cs typeface="Nimbus Sans"/>
              </a:rPr>
              <a:t>Material + lookdev</a:t>
            </a:r>
          </a:p>
        </p:txBody>
      </p:sp>
      <p:sp>
        <p:nvSpPr>
          <p:cNvPr id="24" name="stage-3-node">
            <a:extLst xmlns:a="http://schemas.openxmlformats.org/drawingml/2006/main">
              <a:ext uri="{FF2B5EF4-FFF2-40B4-BE49-F238E27FC236}">
                <a16:creationId xmlns:a16="http://schemas.microsoft.com/office/drawing/2014/main" id="{E4582CF8-A0CC-4694-9DAC-AE644A359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6860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070D"/>
          </a:solidFill>
          <a:ln xmlns:a="http://schemas.openxmlformats.org/drawingml/2006/main" w="14288">
            <a:solidFill>
              <a:srgbClr val="35E0DF"/>
            </a:solidFill>
            <a:prstDash val="solid"/>
          </a:ln>
        </p:spPr>
      </p:sp>
      <p:sp>
        <p:nvSpPr>
          <p:cNvPr id="25" name="stage-3-number">
            <a:extLst xmlns:a="http://schemas.openxmlformats.org/drawingml/2006/main">
              <a:ext uri="{FF2B5EF4-FFF2-40B4-BE49-F238E27FC236}">
                <a16:creationId xmlns:a16="http://schemas.microsoft.com/office/drawing/2014/main" id="{4F5B0950-06E0-47ED-8B0B-1A4D25292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77177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 i="0">
                <a:solidFill>
                  <a:srgbClr val="77F0E4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77F0E4"/>
                </a:solidFill>
                <a:latin typeface="Nimbus Sans"/>
                <a:ea typeface="Nimbus Sans"/>
                <a:cs typeface="Nimbus Sans"/>
              </a:rPr>
              <a:t>03</a:t>
            </a:r>
          </a:p>
        </p:txBody>
      </p:sp>
      <p:sp>
        <p:nvSpPr>
          <p:cNvPr id="26" name="workflow-3-label">
            <a:extLst xmlns:a="http://schemas.openxmlformats.org/drawingml/2006/main">
              <a:ext uri="{FF2B5EF4-FFF2-40B4-BE49-F238E27FC236}">
                <a16:creationId xmlns:a16="http://schemas.microsoft.com/office/drawing/2014/main" id="{9394AE7C-5B61-43A2-BDD3-51FE9A2C5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194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35E0DF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 i="0">
                <a:solidFill>
                  <a:srgbClr val="35E0DF"/>
                </a:solidFill>
                <a:latin typeface="Nimbus Sans"/>
                <a:ea typeface="Nimbus Sans"/>
                <a:cs typeface="Nimbus Sans"/>
              </a:rPr>
              <a:t>CONTROL</a:t>
            </a:r>
          </a:p>
        </p:txBody>
      </p:sp>
      <p:sp>
        <p:nvSpPr>
          <p:cNvPr id="27" name="workflow-3-title">
            <a:extLst xmlns:a="http://schemas.openxmlformats.org/drawingml/2006/main">
              <a:ext uri="{FF2B5EF4-FFF2-40B4-BE49-F238E27FC236}">
                <a16:creationId xmlns:a16="http://schemas.microsoft.com/office/drawing/2014/main" id="{7FF45994-9FFD-4A0C-BF96-0B1A4FC37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524250"/>
            <a:ext cx="228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 i="0">
                <a:solidFill>
                  <a:srgbClr val="F5F8FA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 i="0">
                <a:solidFill>
                  <a:srgbClr val="F5F8FA"/>
                </a:solidFill>
                <a:latin typeface="Nimbus Sans"/>
                <a:ea typeface="Nimbus Sans"/>
                <a:cs typeface="Nimbus Sans"/>
              </a:rPr>
              <a:t>Direct the shot</a:t>
            </a:r>
          </a:p>
        </p:txBody>
      </p:sp>
      <p:sp>
        <p:nvSpPr>
          <p:cNvPr id="28" name="workflow-3-rule">
            <a:extLst xmlns:a="http://schemas.openxmlformats.org/drawingml/2006/main">
              <a:ext uri="{FF2B5EF4-FFF2-40B4-BE49-F238E27FC236}">
                <a16:creationId xmlns:a16="http://schemas.microsoft.com/office/drawing/2014/main" id="{92892DCE-AB62-496F-B161-847E97C03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095750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E0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workflow-3-list">
            <a:extLst xmlns:a="http://schemas.openxmlformats.org/drawingml/2006/main">
              <a:ext uri="{FF2B5EF4-FFF2-40B4-BE49-F238E27FC236}">
                <a16:creationId xmlns:a16="http://schemas.microsoft.com/office/drawing/2014/main" id="{5B784231-2EDE-4E3C-BBCC-620B361C5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305300"/>
            <a:ext cx="23336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 i="0">
                <a:solidFill>
                  <a:srgbClr val="D6E0E5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D6E0E5"/>
                </a:solidFill>
                <a:latin typeface="Nimbus Sans"/>
                <a:ea typeface="Nimbus Sans"/>
                <a:cs typeface="Nimbus Sans"/>
              </a:rPr>
              <a:t>Camera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75" b="0" i="0">
                <a:solidFill>
                  <a:srgbClr val="D6E0E5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D6E0E5"/>
                </a:solidFill>
                <a:latin typeface="Nimbus Sans"/>
                <a:ea typeface="Nimbus Sans"/>
                <a:cs typeface="Nimbus Sans"/>
              </a:rPr>
              <a:t>Layer + depth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75" b="0" i="0">
                <a:solidFill>
                  <a:srgbClr val="D6E0E5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D6E0E5"/>
                </a:solidFill>
                <a:latin typeface="Nimbus Sans"/>
                <a:ea typeface="Nimbus Sans"/>
                <a:cs typeface="Nimbus Sans"/>
              </a:rPr>
              <a:t>Lighting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75" b="0" i="0">
                <a:solidFill>
                  <a:srgbClr val="D6E0E5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D6E0E5"/>
                </a:solidFill>
                <a:latin typeface="Nimbus Sans"/>
                <a:ea typeface="Nimbus Sans"/>
                <a:cs typeface="Nimbus Sans"/>
              </a:rPr>
              <a:t>Video + motion</a:t>
            </a:r>
          </a:p>
        </p:txBody>
      </p:sp>
      <p:sp>
        <p:nvSpPr>
          <p:cNvPr id="30" name="stage-4-node">
            <a:extLst xmlns:a="http://schemas.openxmlformats.org/drawingml/2006/main">
              <a:ext uri="{FF2B5EF4-FFF2-40B4-BE49-F238E27FC236}">
                <a16:creationId xmlns:a16="http://schemas.microsoft.com/office/drawing/2014/main" id="{D96A3EDB-F575-49AC-A2E9-B7FF0E428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6860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070D"/>
          </a:solidFill>
          <a:ln xmlns:a="http://schemas.openxmlformats.org/drawingml/2006/main" w="14288">
            <a:solidFill>
              <a:srgbClr val="35E0DF"/>
            </a:solidFill>
            <a:prstDash val="solid"/>
          </a:ln>
        </p:spPr>
      </p:sp>
      <p:sp>
        <p:nvSpPr>
          <p:cNvPr id="31" name="stage-4-number">
            <a:extLst xmlns:a="http://schemas.openxmlformats.org/drawingml/2006/main">
              <a:ext uri="{FF2B5EF4-FFF2-40B4-BE49-F238E27FC236}">
                <a16:creationId xmlns:a16="http://schemas.microsoft.com/office/drawing/2014/main" id="{EBECF465-ABF6-458D-B05A-36BF29DDC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77177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 i="0">
                <a:solidFill>
                  <a:srgbClr val="77F0E4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77F0E4"/>
                </a:solidFill>
                <a:latin typeface="Nimbus Sans"/>
                <a:ea typeface="Nimbus Sans"/>
                <a:cs typeface="Nimbus Sans"/>
              </a:rPr>
              <a:t>04</a:t>
            </a:r>
          </a:p>
        </p:txBody>
      </p:sp>
      <p:sp>
        <p:nvSpPr>
          <p:cNvPr id="32" name="workflow-4-label">
            <a:extLst xmlns:a="http://schemas.openxmlformats.org/drawingml/2006/main">
              <a:ext uri="{FF2B5EF4-FFF2-40B4-BE49-F238E27FC236}">
                <a16:creationId xmlns:a16="http://schemas.microsoft.com/office/drawing/2014/main" id="{58D0A6F4-18A2-4A57-9CF3-2D9A457F4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2194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35E0DF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 i="0">
                <a:solidFill>
                  <a:srgbClr val="35E0DF"/>
                </a:solidFill>
                <a:latin typeface="Nimbus Sans"/>
                <a:ea typeface="Nimbus Sans"/>
                <a:cs typeface="Nimbus Sans"/>
              </a:rPr>
              <a:t>REVIEW</a:t>
            </a:r>
          </a:p>
        </p:txBody>
      </p:sp>
      <p:sp>
        <p:nvSpPr>
          <p:cNvPr id="33" name="workflow-4-title">
            <a:extLst xmlns:a="http://schemas.openxmlformats.org/drawingml/2006/main">
              <a:ext uri="{FF2B5EF4-FFF2-40B4-BE49-F238E27FC236}">
                <a16:creationId xmlns:a16="http://schemas.microsoft.com/office/drawing/2014/main" id="{EBF31A5A-6B83-4CDB-B812-543D03623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524250"/>
            <a:ext cx="228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 i="0">
                <a:solidFill>
                  <a:srgbClr val="F5F8FA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 i="0">
                <a:solidFill>
                  <a:srgbClr val="F5F8FA"/>
                </a:solidFill>
                <a:latin typeface="Nimbus Sans"/>
                <a:ea typeface="Nimbus Sans"/>
                <a:cs typeface="Nimbus Sans"/>
              </a:rPr>
              <a:t>Keep it production-ready</a:t>
            </a:r>
          </a:p>
        </p:txBody>
      </p:sp>
      <p:sp>
        <p:nvSpPr>
          <p:cNvPr id="34" name="workflow-4-rule">
            <a:extLst xmlns:a="http://schemas.openxmlformats.org/drawingml/2006/main">
              <a:ext uri="{FF2B5EF4-FFF2-40B4-BE49-F238E27FC236}">
                <a16:creationId xmlns:a16="http://schemas.microsoft.com/office/drawing/2014/main" id="{78321CD4-67F5-4D0E-BF01-81F0187B4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095750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E0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workflow-4-list">
            <a:extLst xmlns:a="http://schemas.openxmlformats.org/drawingml/2006/main">
              <a:ext uri="{FF2B5EF4-FFF2-40B4-BE49-F238E27FC236}">
                <a16:creationId xmlns:a16="http://schemas.microsoft.com/office/drawing/2014/main" id="{AD80DE5C-E378-42B6-92CA-06025BBBE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305300"/>
            <a:ext cx="23336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 i="0">
                <a:solidFill>
                  <a:srgbClr val="D6E0E5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D6E0E5"/>
                </a:solidFill>
                <a:latin typeface="Nimbus Sans"/>
                <a:ea typeface="Nimbus Sans"/>
                <a:cs typeface="Nimbus Sans"/>
              </a:rPr>
              <a:t>Compare + recent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75" b="0" i="0">
                <a:solidFill>
                  <a:srgbClr val="D6E0E5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D6E0E5"/>
                </a:solidFill>
                <a:latin typeface="Nimbus Sans"/>
                <a:ea typeface="Nimbus Sans"/>
                <a:cs typeface="Nimbus Sans"/>
              </a:rPr>
              <a:t>Asset Vault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75" b="0" i="0">
                <a:solidFill>
                  <a:srgbClr val="D6E0E5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D6E0E5"/>
                </a:solidFill>
                <a:latin typeface="Nimbus Sans"/>
                <a:ea typeface="Nimbus Sans"/>
                <a:cs typeface="Nimbus Sans"/>
              </a:rPr>
              <a:t>Bridge + packages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75" b="0" i="0">
                <a:solidFill>
                  <a:srgbClr val="D6E0E5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D6E0E5"/>
                </a:solidFill>
                <a:latin typeface="Nimbus Sans"/>
                <a:ea typeface="Nimbus Sans"/>
                <a:cs typeface="Nimbus Sans"/>
              </a:rPr>
              <a:t>Studio Sync</a:t>
            </a:r>
          </a:p>
        </p:txBody>
      </p:sp>
      <p:sp>
        <p:nvSpPr>
          <p:cNvPr id="36" name="workflow-callout-panel">
            <a:extLst xmlns:a="http://schemas.openxmlformats.org/drawingml/2006/main">
              <a:ext uri="{FF2B5EF4-FFF2-40B4-BE49-F238E27FC236}">
                <a16:creationId xmlns:a16="http://schemas.microsoft.com/office/drawing/2014/main" id="{5FDDCD9D-4BD3-491B-8605-2A020484C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619750"/>
            <a:ext cx="98298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92330"/>
          </a:solidFill>
          <a:ln xmlns:a="http://schemas.openxmlformats.org/drawingml/2006/main" w="9525">
            <a:solidFill>
              <a:srgbClr val="176171"/>
            </a:solidFill>
            <a:prstDash val="solid"/>
          </a:ln>
        </p:spPr>
      </p:sp>
      <p:sp>
        <p:nvSpPr>
          <p:cNvPr id="37" name="workflow-callout">
            <a:extLst xmlns:a="http://schemas.openxmlformats.org/drawingml/2006/main">
              <a:ext uri="{FF2B5EF4-FFF2-40B4-BE49-F238E27FC236}">
                <a16:creationId xmlns:a16="http://schemas.microsoft.com/office/drawing/2014/main" id="{254D0D65-E9AF-4568-B604-DF3FB3797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772150"/>
            <a:ext cx="929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 i="0">
                <a:solidFill>
                  <a:srgbClr val="F5F8FA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 i="0">
                <a:solidFill>
                  <a:srgbClr val="F5F8FA"/>
                </a:solidFill>
                <a:latin typeface="Nimbus Sans"/>
                <a:ea typeface="Nimbus Sans"/>
                <a:cs typeface="Nimbus Sans"/>
              </a:rPr>
              <a:t>A durable interaction language lets the platform swap, add, or retire models without making the artist relearn the product.</a:t>
            </a:r>
          </a:p>
        </p:txBody>
      </p:sp>
      <p:sp>
        <p:nvSpPr>
          <p:cNvPr id="38" name="footer-rule">
            <a:extLst xmlns:a="http://schemas.openxmlformats.org/drawingml/2006/main">
              <a:ext uri="{FF2B5EF4-FFF2-40B4-BE49-F238E27FC236}">
                <a16:creationId xmlns:a16="http://schemas.microsoft.com/office/drawing/2014/main" id="{A0974338-2BDB-4614-8E53-4FD8B6406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29375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3D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footer-identity">
            <a:extLst xmlns:a="http://schemas.openxmlformats.org/drawingml/2006/main">
              <a:ext uri="{FF2B5EF4-FFF2-40B4-BE49-F238E27FC236}">
                <a16:creationId xmlns:a16="http://schemas.microsoft.com/office/drawing/2014/main" id="{572DBF2C-BEE4-4E9E-A5A0-F617F177A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 i="0">
                <a:solidFill>
                  <a:srgbClr val="91A7B1"/>
                </a:solidFill>
                <a:latin typeface="Nimbus Sans"/>
                <a:ea typeface="Nimbus Sans"/>
                <a:cs typeface="Nimbus Sans"/>
              </a:defRPr>
            </a:pPr>
            <a:r>
              <a:rPr sz="900" b="0" i="0">
                <a:solidFill>
                  <a:srgbClr val="91A7B1"/>
                </a:solidFill>
                <a:latin typeface="Nimbus Sans"/>
                <a:ea typeface="Nimbus Sans"/>
                <a:cs typeface="Nimbus Sans"/>
              </a:rPr>
              <a:t>RONNIE CLELAND · CREATIVE AI PLATFORM ARCHITECT</a:t>
            </a:r>
          </a:p>
        </p:txBody>
      </p:sp>
      <p:sp>
        <p:nvSpPr>
          <p:cNvPr id="40" name="footer-page">
            <a:extLst xmlns:a="http://schemas.openxmlformats.org/drawingml/2006/main">
              <a:ext uri="{FF2B5EF4-FFF2-40B4-BE49-F238E27FC236}">
                <a16:creationId xmlns:a16="http://schemas.microsoft.com/office/drawing/2014/main" id="{D2C04A76-8706-431A-9EA4-49B708EEB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1510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 i="0">
                <a:solidFill>
                  <a:srgbClr val="91A7B1"/>
                </a:solidFill>
                <a:latin typeface="Nimbus Sans"/>
                <a:ea typeface="Nimbus Sans"/>
                <a:cs typeface="Nimbus Sans"/>
              </a:defRPr>
            </a:pPr>
            <a:r>
              <a:rPr sz="900" b="0" i="0">
                <a:solidFill>
                  <a:srgbClr val="91A7B1"/>
                </a:solidFill>
                <a:latin typeface="Nimbus Sans"/>
                <a:ea typeface="Nimbus Sans"/>
                <a:cs typeface="Nimbus Sans"/>
              </a:rPr>
              <a:t>05 / 12</a:t>
            </a:r>
          </a:p>
        </p:txBody>
      </p:sp>
    </p:spTree>
    <p:extLst>
      <p:ext uri="{BB962C8B-B14F-4D97-AF65-F5344CB8AC3E}">
        <p14:creationId xmlns:p14="http://schemas.microsoft.com/office/powerpoint/2010/main" val="1080392734"/>
      </p:ext>
    </p:extLst>
  </p:cSld>
</p:sld>
</file>

<file path=ppt/slides/slide6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2070D"/>
            </a:gs>
            <a:gs pos="58000">
              <a:srgbClr val="061621"/>
            </a:gs>
            <a:gs pos="100000">
              <a:srgbClr val="02070D"/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erimeter">
            <a:extLst xmlns:a="http://schemas.openxmlformats.org/drawingml/2006/main">
              <a:ext uri="{FF2B5EF4-FFF2-40B4-BE49-F238E27FC236}">
                <a16:creationId xmlns:a16="http://schemas.microsoft.com/office/drawing/2014/main" id="{CAC52D85-43C8-48AD-8EC0-834E54D19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152400"/>
            <a:ext cx="11887200" cy="6553200"/>
          </a:xfrm>
          <a:prstGeom xmlns:a="http://schemas.openxmlformats.org/drawingml/2006/main" prst="roundRect">
            <a:avLst>
              <a:gd name="adj" fmla="val 1163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176171"/>
            </a:solidFill>
            <a:prstDash val="solid"/>
          </a:ln>
        </p:spPr>
      </p:sp>
      <p:sp>
        <p:nvSpPr>
          <p:cNvPr id="2" name="left-guide">
            <a:extLst xmlns:a="http://schemas.openxmlformats.org/drawingml/2006/main">
              <a:ext uri="{FF2B5EF4-FFF2-40B4-BE49-F238E27FC236}">
                <a16:creationId xmlns:a16="http://schemas.microsoft.com/office/drawing/2014/main" id="{CAC90DA7-1D66-4A0B-AED5-33900E9B1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66700"/>
            <a:ext cx="9525" cy="632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3D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node">
            <a:extLst xmlns:a="http://schemas.openxmlformats.org/drawingml/2006/main">
              <a:ext uri="{FF2B5EF4-FFF2-40B4-BE49-F238E27FC236}">
                <a16:creationId xmlns:a16="http://schemas.microsoft.com/office/drawing/2014/main" id="{22BA9F09-E60A-4D12-A7B7-E95AAF5B9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2381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F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ottom-node">
            <a:extLst xmlns:a="http://schemas.openxmlformats.org/drawingml/2006/main">
              <a:ext uri="{FF2B5EF4-FFF2-40B4-BE49-F238E27FC236}">
                <a16:creationId xmlns:a16="http://schemas.microsoft.com/office/drawing/2014/main" id="{190EF5CB-BFEE-4C27-B2FD-76F33FCA8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65627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B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ge-eyebrow">
            <a:extLst xmlns:a="http://schemas.openxmlformats.org/drawingml/2006/main">
              <a:ext uri="{FF2B5EF4-FFF2-40B4-BE49-F238E27FC236}">
                <a16:creationId xmlns:a16="http://schemas.microsoft.com/office/drawing/2014/main" id="{DBBF7A63-F6DA-46AA-8396-6BD6E8981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35E0DF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 i="0">
                <a:solidFill>
                  <a:srgbClr val="35E0DF"/>
                </a:solidFill>
                <a:latin typeface="Nimbus Sans"/>
                <a:ea typeface="Nimbus Sans"/>
                <a:cs typeface="Nimbus Sans"/>
              </a:rPr>
              <a:t>06</a:t>
            </a:r>
          </a:p>
        </p:txBody>
      </p:sp>
      <p:sp>
        <p:nvSpPr>
          <p:cNvPr id="6" name="section-eyebrow">
            <a:extLst xmlns:a="http://schemas.openxmlformats.org/drawingml/2006/main">
              <a:ext uri="{FF2B5EF4-FFF2-40B4-BE49-F238E27FC236}">
                <a16:creationId xmlns:a16="http://schemas.microsoft.com/office/drawing/2014/main" id="{728C5902-F926-49CB-885F-5E0CF29ED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622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77F0E4"/>
                </a:solidFill>
                <a:latin typeface="Nimbus Sans"/>
                <a:ea typeface="Nimbus Sans"/>
                <a:cs typeface="Nimbus Sans"/>
              </a:defRPr>
            </a:pPr>
            <a:r>
              <a:rPr sz="1125" b="1" i="0">
                <a:solidFill>
                  <a:srgbClr val="77F0E4"/>
                </a:solidFill>
                <a:latin typeface="Nimbus Sans"/>
                <a:ea typeface="Nimbus Sans"/>
                <a:cs typeface="Nimbus Sans"/>
              </a:rPr>
              <a:t>FRONT END TO BACK END</a:t>
            </a:r>
          </a:p>
        </p:txBody>
      </p:sp>
      <p:sp>
        <p:nvSpPr>
          <p:cNvPr id="7" name="section-rule">
            <a:extLst xmlns:a="http://schemas.openxmlformats.org/drawingml/2006/main">
              <a:ext uri="{FF2B5EF4-FFF2-40B4-BE49-F238E27FC236}">
                <a16:creationId xmlns:a16="http://schemas.microsoft.com/office/drawing/2014/main" id="{3AACB2A9-BD6E-485D-9988-42D10170A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1500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E0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headline-white">
            <a:extLst xmlns:a="http://schemas.openxmlformats.org/drawingml/2006/main">
              <a:ext uri="{FF2B5EF4-FFF2-40B4-BE49-F238E27FC236}">
                <a16:creationId xmlns:a16="http://schemas.microsoft.com/office/drawing/2014/main" id="{D2E1945B-B035-44B9-8438-64A7B5971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42950"/>
            <a:ext cx="11201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225" b="1" i="0">
                <a:solidFill>
                  <a:srgbClr val="F5F8FA"/>
                </a:solidFill>
                <a:latin typeface="Nimbus Sans"/>
                <a:ea typeface="Nimbus Sans"/>
                <a:cs typeface="Nimbus Sans"/>
              </a:defRPr>
            </a:pPr>
            <a:r>
              <a:rPr sz="3225" b="1" i="0">
                <a:solidFill>
                  <a:srgbClr val="F5F8FA"/>
                </a:solidFill>
                <a:latin typeface="Nimbus Sans"/>
                <a:ea typeface="Nimbus Sans"/>
                <a:cs typeface="Nimbus Sans"/>
              </a:rPr>
              <a:t>I work from interaction concept</a:t>
            </a:r>
          </a:p>
        </p:txBody>
      </p:sp>
      <p:sp>
        <p:nvSpPr>
          <p:cNvPr id="9" name="headline-cyan">
            <a:extLst xmlns:a="http://schemas.openxmlformats.org/drawingml/2006/main">
              <a:ext uri="{FF2B5EF4-FFF2-40B4-BE49-F238E27FC236}">
                <a16:creationId xmlns:a16="http://schemas.microsoft.com/office/drawing/2014/main" id="{F7333CDF-AB07-47C2-B7F4-1C416790B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90625"/>
            <a:ext cx="11201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225" b="1" i="0">
                <a:solidFill>
                  <a:srgbClr val="35E0DF"/>
                </a:solidFill>
                <a:latin typeface="Nimbus Sans"/>
                <a:ea typeface="Nimbus Sans"/>
                <a:cs typeface="Nimbus Sans"/>
              </a:defRPr>
            </a:pPr>
            <a:r>
              <a:rPr sz="3225" b="1" i="0">
                <a:solidFill>
                  <a:srgbClr val="35E0DF"/>
                </a:solidFill>
                <a:latin typeface="Nimbus Sans"/>
                <a:ea typeface="Nimbus Sans"/>
                <a:cs typeface="Nimbus Sans"/>
              </a:rPr>
              <a:t>through backend execution.</a:t>
            </a:r>
          </a:p>
        </p:txBody>
      </p:sp>
      <p:sp>
        <p:nvSpPr>
          <p:cNvPr id="10" name="subhead">
            <a:extLst xmlns:a="http://schemas.openxmlformats.org/drawingml/2006/main">
              <a:ext uri="{FF2B5EF4-FFF2-40B4-BE49-F238E27FC236}">
                <a16:creationId xmlns:a16="http://schemas.microsoft.com/office/drawing/2014/main" id="{7C307D7F-79F3-4A05-9751-F4057E042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2402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 i="0">
                <a:solidFill>
                  <a:srgbClr val="D6E0E5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 i="0">
                <a:solidFill>
                  <a:srgbClr val="D6E0E5"/>
                </a:solidFill>
                <a:latin typeface="Nimbus Sans"/>
                <a:ea typeface="Nimbus Sans"/>
                <a:cs typeface="Nimbus Sans"/>
              </a:rPr>
              <a:t>My role is connective: translate visual intent into interface state, service contracts, model behavior, and a recoverable result.</a:t>
            </a:r>
          </a:p>
        </p:txBody>
      </p:sp>
      <p:sp>
        <p:nvSpPr>
          <p:cNvPr id="11" name="stack-line">
            <a:extLst xmlns:a="http://schemas.openxmlformats.org/drawingml/2006/main">
              <a:ext uri="{FF2B5EF4-FFF2-40B4-BE49-F238E27FC236}">
                <a16:creationId xmlns:a16="http://schemas.microsoft.com/office/drawing/2014/main" id="{14297EDA-CC7B-4EE7-9802-94FFF0450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57500"/>
            <a:ext cx="933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17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tage-1-node">
            <a:extLst xmlns:a="http://schemas.openxmlformats.org/drawingml/2006/main">
              <a:ext uri="{FF2B5EF4-FFF2-40B4-BE49-F238E27FC236}">
                <a16:creationId xmlns:a16="http://schemas.microsoft.com/office/drawing/2014/main" id="{7C418038-2A58-4DC1-8DFD-46C0172F5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26955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070D"/>
          </a:solidFill>
          <a:ln xmlns:a="http://schemas.openxmlformats.org/drawingml/2006/main" w="14288">
            <a:solidFill>
              <a:srgbClr val="35E0DF"/>
            </a:solidFill>
            <a:prstDash val="solid"/>
          </a:ln>
        </p:spPr>
      </p:sp>
      <p:sp>
        <p:nvSpPr>
          <p:cNvPr id="13" name="stage-1-number">
            <a:extLst xmlns:a="http://schemas.openxmlformats.org/drawingml/2006/main">
              <a:ext uri="{FF2B5EF4-FFF2-40B4-BE49-F238E27FC236}">
                <a16:creationId xmlns:a16="http://schemas.microsoft.com/office/drawing/2014/main" id="{B0619C30-A791-4C5D-8C8B-425493FCA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27717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 i="0">
                <a:solidFill>
                  <a:srgbClr val="77F0E4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77F0E4"/>
                </a:solidFill>
                <a:latin typeface="Nimbus Sans"/>
                <a:ea typeface="Nimbus Sans"/>
                <a:cs typeface="Nimbus Sans"/>
              </a:rPr>
              <a:t>01</a:t>
            </a:r>
          </a:p>
        </p:txBody>
      </p:sp>
      <p:sp>
        <p:nvSpPr>
          <p:cNvPr id="14" name="stack-1-label">
            <a:extLst xmlns:a="http://schemas.openxmlformats.org/drawingml/2006/main">
              <a:ext uri="{FF2B5EF4-FFF2-40B4-BE49-F238E27FC236}">
                <a16:creationId xmlns:a16="http://schemas.microsoft.com/office/drawing/2014/main" id="{F898753A-A5C0-4F28-B95E-98BBEEF84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19450"/>
            <a:ext cx="1981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35E0DF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35E0DF"/>
                </a:solidFill>
                <a:latin typeface="Nimbus Sans"/>
                <a:ea typeface="Nimbus Sans"/>
                <a:cs typeface="Nimbus Sans"/>
              </a:rPr>
              <a:t>ARTIST INTENT</a:t>
            </a:r>
          </a:p>
        </p:txBody>
      </p:sp>
      <p:sp>
        <p:nvSpPr>
          <p:cNvPr id="15" name="stack-1-title">
            <a:extLst xmlns:a="http://schemas.openxmlformats.org/drawingml/2006/main">
              <a:ext uri="{FF2B5EF4-FFF2-40B4-BE49-F238E27FC236}">
                <a16:creationId xmlns:a16="http://schemas.microsoft.com/office/drawing/2014/main" id="{66E5367A-D025-4937-B925-B3019BE5F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0"/>
            <a:ext cx="1981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F5F8FA"/>
                </a:solidFill>
                <a:latin typeface="Nimbus Sans"/>
                <a:ea typeface="Nimbus Sans"/>
                <a:cs typeface="Nimbus Sans"/>
              </a:defRPr>
            </a:pPr>
            <a:r>
              <a:rPr sz="1725" b="1" i="0">
                <a:solidFill>
                  <a:srgbClr val="F5F8FA"/>
                </a:solidFill>
                <a:latin typeface="Nimbus Sans"/>
                <a:ea typeface="Nimbus Sans"/>
                <a:cs typeface="Nimbus Sans"/>
              </a:rPr>
              <a:t>Visual goal</a:t>
            </a:r>
          </a:p>
        </p:txBody>
      </p:sp>
      <p:sp>
        <p:nvSpPr>
          <p:cNvPr id="16" name="stack-1-rule">
            <a:extLst xmlns:a="http://schemas.openxmlformats.org/drawingml/2006/main">
              <a:ext uri="{FF2B5EF4-FFF2-40B4-BE49-F238E27FC236}">
                <a16:creationId xmlns:a16="http://schemas.microsoft.com/office/drawing/2014/main" id="{C80E6F32-CD75-406E-B592-21BF85037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0"/>
            <a:ext cx="47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E0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tack-1-body">
            <a:extLst xmlns:a="http://schemas.openxmlformats.org/drawingml/2006/main">
              <a:ext uri="{FF2B5EF4-FFF2-40B4-BE49-F238E27FC236}">
                <a16:creationId xmlns:a16="http://schemas.microsoft.com/office/drawing/2014/main" id="{FDA38166-D186-42B9-8ADC-FB2D0FB21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10050"/>
            <a:ext cx="19812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 i="0">
                <a:solidFill>
                  <a:srgbClr val="D6E0E5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 i="0">
                <a:solidFill>
                  <a:srgbClr val="D6E0E5"/>
                </a:solidFill>
                <a:latin typeface="Nimbus Sans"/>
                <a:ea typeface="Nimbus Sans"/>
                <a:cs typeface="Nimbus Sans"/>
              </a:rPr>
              <a:t>Language, references, direct manipulation, workflow context.</a:t>
            </a:r>
          </a:p>
        </p:txBody>
      </p:sp>
      <p:sp>
        <p:nvSpPr>
          <p:cNvPr id="18" name="stage-2-node">
            <a:extLst xmlns:a="http://schemas.openxmlformats.org/drawingml/2006/main">
              <a:ext uri="{FF2B5EF4-FFF2-40B4-BE49-F238E27FC236}">
                <a16:creationId xmlns:a16="http://schemas.microsoft.com/office/drawing/2014/main" id="{914259B1-08FF-4E12-BB06-47C7829D1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6955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070D"/>
          </a:solidFill>
          <a:ln xmlns:a="http://schemas.openxmlformats.org/drawingml/2006/main" w="14288">
            <a:solidFill>
              <a:srgbClr val="35E0DF"/>
            </a:solidFill>
            <a:prstDash val="solid"/>
          </a:ln>
        </p:spPr>
      </p:sp>
      <p:sp>
        <p:nvSpPr>
          <p:cNvPr id="19" name="stage-2-number">
            <a:extLst xmlns:a="http://schemas.openxmlformats.org/drawingml/2006/main">
              <a:ext uri="{FF2B5EF4-FFF2-40B4-BE49-F238E27FC236}">
                <a16:creationId xmlns:a16="http://schemas.microsoft.com/office/drawing/2014/main" id="{F3BCBADF-6EAA-4A7C-8973-7DFC69E77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7717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 i="0">
                <a:solidFill>
                  <a:srgbClr val="77F0E4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77F0E4"/>
                </a:solidFill>
                <a:latin typeface="Nimbus Sans"/>
                <a:ea typeface="Nimbus Sans"/>
                <a:cs typeface="Nimbus Sans"/>
              </a:rPr>
              <a:t>02</a:t>
            </a:r>
          </a:p>
        </p:txBody>
      </p:sp>
      <p:sp>
        <p:nvSpPr>
          <p:cNvPr id="20" name="stack-2-label">
            <a:extLst xmlns:a="http://schemas.openxmlformats.org/drawingml/2006/main">
              <a:ext uri="{FF2B5EF4-FFF2-40B4-BE49-F238E27FC236}">
                <a16:creationId xmlns:a16="http://schemas.microsoft.com/office/drawing/2014/main" id="{4D9BC1F9-4D9B-48A1-9B31-750E85D18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219450"/>
            <a:ext cx="1981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35E0DF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35E0DF"/>
                </a:solidFill>
                <a:latin typeface="Nimbus Sans"/>
                <a:ea typeface="Nimbus Sans"/>
                <a:cs typeface="Nimbus Sans"/>
              </a:rPr>
              <a:t>FRONT END</a:t>
            </a:r>
          </a:p>
        </p:txBody>
      </p:sp>
      <p:sp>
        <p:nvSpPr>
          <p:cNvPr id="21" name="stack-2-title">
            <a:extLst xmlns:a="http://schemas.openxmlformats.org/drawingml/2006/main">
              <a:ext uri="{FF2B5EF4-FFF2-40B4-BE49-F238E27FC236}">
                <a16:creationId xmlns:a16="http://schemas.microsoft.com/office/drawing/2014/main" id="{E0CCE789-5C97-4BB9-B17F-0226079D5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524250"/>
            <a:ext cx="1981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F5F8FA"/>
                </a:solidFill>
                <a:latin typeface="Nimbus Sans"/>
                <a:ea typeface="Nimbus Sans"/>
                <a:cs typeface="Nimbus Sans"/>
              </a:defRPr>
            </a:pPr>
            <a:r>
              <a:rPr sz="1725" b="1" i="0">
                <a:solidFill>
                  <a:srgbClr val="F5F8FA"/>
                </a:solidFill>
                <a:latin typeface="Nimbus Sans"/>
                <a:ea typeface="Nimbus Sans"/>
                <a:cs typeface="Nimbus Sans"/>
              </a:rPr>
              <a:t>HUD + state</a:t>
            </a:r>
          </a:p>
        </p:txBody>
      </p:sp>
      <p:sp>
        <p:nvSpPr>
          <p:cNvPr id="22" name="stack-2-rule">
            <a:extLst xmlns:a="http://schemas.openxmlformats.org/drawingml/2006/main">
              <a:ext uri="{FF2B5EF4-FFF2-40B4-BE49-F238E27FC236}">
                <a16:creationId xmlns:a16="http://schemas.microsoft.com/office/drawing/2014/main" id="{397BBCC5-6486-4514-8EAB-A8880FE30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000500"/>
            <a:ext cx="47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E0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tack-2-body">
            <a:extLst xmlns:a="http://schemas.openxmlformats.org/drawingml/2006/main">
              <a:ext uri="{FF2B5EF4-FFF2-40B4-BE49-F238E27FC236}">
                <a16:creationId xmlns:a16="http://schemas.microsoft.com/office/drawing/2014/main" id="{548D55F2-3D0B-4CE6-BADC-FC634A384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210050"/>
            <a:ext cx="19812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 i="0">
                <a:solidFill>
                  <a:srgbClr val="D6E0E5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 i="0">
                <a:solidFill>
                  <a:srgbClr val="D6E0E5"/>
                </a:solidFill>
                <a:latin typeface="Nimbus Sans"/>
                <a:ea typeface="Nimbus Sans"/>
                <a:cs typeface="Nimbus Sans"/>
              </a:rPr>
              <a:t>HTML, CSS, JavaScript, validation, confidence controls.</a:t>
            </a:r>
          </a:p>
        </p:txBody>
      </p:sp>
      <p:sp>
        <p:nvSpPr>
          <p:cNvPr id="24" name="stage-3-node">
            <a:extLst xmlns:a="http://schemas.openxmlformats.org/drawingml/2006/main">
              <a:ext uri="{FF2B5EF4-FFF2-40B4-BE49-F238E27FC236}">
                <a16:creationId xmlns:a16="http://schemas.microsoft.com/office/drawing/2014/main" id="{8BB0CC6E-B27C-40C3-93C4-BA4C7B474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26955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070D"/>
          </a:solidFill>
          <a:ln xmlns:a="http://schemas.openxmlformats.org/drawingml/2006/main" w="14288">
            <a:solidFill>
              <a:srgbClr val="35E0DF"/>
            </a:solidFill>
            <a:prstDash val="solid"/>
          </a:ln>
        </p:spPr>
      </p:sp>
      <p:sp>
        <p:nvSpPr>
          <p:cNvPr id="25" name="stage-3-number">
            <a:extLst xmlns:a="http://schemas.openxmlformats.org/drawingml/2006/main">
              <a:ext uri="{FF2B5EF4-FFF2-40B4-BE49-F238E27FC236}">
                <a16:creationId xmlns:a16="http://schemas.microsoft.com/office/drawing/2014/main" id="{9CBB8B6B-75F0-4516-BD82-7D7461AFB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27717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 i="0">
                <a:solidFill>
                  <a:srgbClr val="77F0E4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77F0E4"/>
                </a:solidFill>
                <a:latin typeface="Nimbus Sans"/>
                <a:ea typeface="Nimbus Sans"/>
                <a:cs typeface="Nimbus Sans"/>
              </a:rPr>
              <a:t>03</a:t>
            </a:r>
          </a:p>
        </p:txBody>
      </p:sp>
      <p:sp>
        <p:nvSpPr>
          <p:cNvPr id="26" name="stack-3-label">
            <a:extLst xmlns:a="http://schemas.openxmlformats.org/drawingml/2006/main">
              <a:ext uri="{FF2B5EF4-FFF2-40B4-BE49-F238E27FC236}">
                <a16:creationId xmlns:a16="http://schemas.microsoft.com/office/drawing/2014/main" id="{0F24DC9C-A08A-41DB-AD33-9EED4BFC9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219450"/>
            <a:ext cx="1981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35E0DF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35E0DF"/>
                </a:solidFill>
                <a:latin typeface="Nimbus Sans"/>
                <a:ea typeface="Nimbus Sans"/>
                <a:cs typeface="Nimbus Sans"/>
              </a:rPr>
              <a:t>PRODUCT LOGIC</a:t>
            </a:r>
          </a:p>
        </p:txBody>
      </p:sp>
      <p:sp>
        <p:nvSpPr>
          <p:cNvPr id="27" name="stack-3-title">
            <a:extLst xmlns:a="http://schemas.openxmlformats.org/drawingml/2006/main">
              <a:ext uri="{FF2B5EF4-FFF2-40B4-BE49-F238E27FC236}">
                <a16:creationId xmlns:a16="http://schemas.microsoft.com/office/drawing/2014/main" id="{0035B23F-EC1F-42BE-B762-6185063A7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524250"/>
            <a:ext cx="1981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F5F8FA"/>
                </a:solidFill>
                <a:latin typeface="Nimbus Sans"/>
                <a:ea typeface="Nimbus Sans"/>
                <a:cs typeface="Nimbus Sans"/>
              </a:defRPr>
            </a:pPr>
            <a:r>
              <a:rPr sz="1725" b="1" i="0">
                <a:solidFill>
                  <a:srgbClr val="F5F8FA"/>
                </a:solidFill>
                <a:latin typeface="Nimbus Sans"/>
                <a:ea typeface="Nimbus Sans"/>
                <a:cs typeface="Nimbus Sans"/>
              </a:rPr>
              <a:t>Policy + route</a:t>
            </a:r>
          </a:p>
        </p:txBody>
      </p:sp>
      <p:sp>
        <p:nvSpPr>
          <p:cNvPr id="28" name="stack-3-rule">
            <a:extLst xmlns:a="http://schemas.openxmlformats.org/drawingml/2006/main">
              <a:ext uri="{FF2B5EF4-FFF2-40B4-BE49-F238E27FC236}">
                <a16:creationId xmlns:a16="http://schemas.microsoft.com/office/drawing/2014/main" id="{1A567D5A-22EE-44D8-B129-04429B276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000500"/>
            <a:ext cx="47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E0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stack-3-body">
            <a:extLst xmlns:a="http://schemas.openxmlformats.org/drawingml/2006/main">
              <a:ext uri="{FF2B5EF4-FFF2-40B4-BE49-F238E27FC236}">
                <a16:creationId xmlns:a16="http://schemas.microsoft.com/office/drawing/2014/main" id="{16A03F41-3EDB-49B4-9EC8-A0B333904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210050"/>
            <a:ext cx="19812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 i="0">
                <a:solidFill>
                  <a:srgbClr val="D6E0E5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 i="0">
                <a:solidFill>
                  <a:srgbClr val="D6E0E5"/>
                </a:solidFill>
                <a:latin typeface="Nimbus Sans"/>
                <a:ea typeface="Nimbus Sans"/>
                <a:cs typeface="Nimbus Sans"/>
              </a:rPr>
              <a:t>Capabilities, cost, provider, model, task, deployment.</a:t>
            </a:r>
          </a:p>
        </p:txBody>
      </p:sp>
      <p:sp>
        <p:nvSpPr>
          <p:cNvPr id="30" name="stage-4-node">
            <a:extLst xmlns:a="http://schemas.openxmlformats.org/drawingml/2006/main">
              <a:ext uri="{FF2B5EF4-FFF2-40B4-BE49-F238E27FC236}">
                <a16:creationId xmlns:a16="http://schemas.microsoft.com/office/drawing/2014/main" id="{6DD5AC72-0E0C-4ADC-8345-FCCE3FE5C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6955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070D"/>
          </a:solidFill>
          <a:ln xmlns:a="http://schemas.openxmlformats.org/drawingml/2006/main" w="14288">
            <a:solidFill>
              <a:srgbClr val="35E0DF"/>
            </a:solidFill>
            <a:prstDash val="solid"/>
          </a:ln>
        </p:spPr>
      </p:sp>
      <p:sp>
        <p:nvSpPr>
          <p:cNvPr id="31" name="stage-4-number">
            <a:extLst xmlns:a="http://schemas.openxmlformats.org/drawingml/2006/main">
              <a:ext uri="{FF2B5EF4-FFF2-40B4-BE49-F238E27FC236}">
                <a16:creationId xmlns:a16="http://schemas.microsoft.com/office/drawing/2014/main" id="{1DD898CF-5B79-49AD-8B3B-8D2887F19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7717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 i="0">
                <a:solidFill>
                  <a:srgbClr val="77F0E4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77F0E4"/>
                </a:solidFill>
                <a:latin typeface="Nimbus Sans"/>
                <a:ea typeface="Nimbus Sans"/>
                <a:cs typeface="Nimbus Sans"/>
              </a:rPr>
              <a:t>04</a:t>
            </a:r>
          </a:p>
        </p:txBody>
      </p:sp>
      <p:sp>
        <p:nvSpPr>
          <p:cNvPr id="32" name="stack-4-label">
            <a:extLst xmlns:a="http://schemas.openxmlformats.org/drawingml/2006/main">
              <a:ext uri="{FF2B5EF4-FFF2-40B4-BE49-F238E27FC236}">
                <a16:creationId xmlns:a16="http://schemas.microsoft.com/office/drawing/2014/main" id="{CCD83527-0C17-4494-A2DF-0E2DDD5B7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219450"/>
            <a:ext cx="1981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35E0DF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35E0DF"/>
                </a:solidFill>
                <a:latin typeface="Nimbus Sans"/>
                <a:ea typeface="Nimbus Sans"/>
                <a:cs typeface="Nimbus Sans"/>
              </a:rPr>
              <a:t>BACK END</a:t>
            </a:r>
          </a:p>
        </p:txBody>
      </p:sp>
      <p:sp>
        <p:nvSpPr>
          <p:cNvPr id="33" name="stack-4-title">
            <a:extLst xmlns:a="http://schemas.openxmlformats.org/drawingml/2006/main">
              <a:ext uri="{FF2B5EF4-FFF2-40B4-BE49-F238E27FC236}">
                <a16:creationId xmlns:a16="http://schemas.microsoft.com/office/drawing/2014/main" id="{764F004C-B3B4-4151-A725-F3B782687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524250"/>
            <a:ext cx="1981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F5F8FA"/>
                </a:solidFill>
                <a:latin typeface="Nimbus Sans"/>
                <a:ea typeface="Nimbus Sans"/>
                <a:cs typeface="Nimbus Sans"/>
              </a:defRPr>
            </a:pPr>
            <a:r>
              <a:rPr sz="1725" b="1" i="0">
                <a:solidFill>
                  <a:srgbClr val="F5F8FA"/>
                </a:solidFill>
                <a:latin typeface="Nimbus Sans"/>
                <a:ea typeface="Nimbus Sans"/>
                <a:cs typeface="Nimbus Sans"/>
              </a:rPr>
              <a:t>Jobs + services</a:t>
            </a:r>
          </a:p>
        </p:txBody>
      </p:sp>
      <p:sp>
        <p:nvSpPr>
          <p:cNvPr id="34" name="stack-4-rule">
            <a:extLst xmlns:a="http://schemas.openxmlformats.org/drawingml/2006/main">
              <a:ext uri="{FF2B5EF4-FFF2-40B4-BE49-F238E27FC236}">
                <a16:creationId xmlns:a16="http://schemas.microsoft.com/office/drawing/2014/main" id="{99617A98-BE22-4BE2-B9AB-C447D5AD2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000500"/>
            <a:ext cx="47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E0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stack-4-body">
            <a:extLst xmlns:a="http://schemas.openxmlformats.org/drawingml/2006/main">
              <a:ext uri="{FF2B5EF4-FFF2-40B4-BE49-F238E27FC236}">
                <a16:creationId xmlns:a16="http://schemas.microsoft.com/office/drawing/2014/main" id="{64D2082F-FEE9-47D3-B09C-6255C0289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210050"/>
            <a:ext cx="19812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 i="0">
                <a:solidFill>
                  <a:srgbClr val="D6E0E5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 i="0">
                <a:solidFill>
                  <a:srgbClr val="D6E0E5"/>
                </a:solidFill>
                <a:latin typeface="Nimbus Sans"/>
                <a:ea typeface="Nimbus Sans"/>
                <a:cs typeface="Nimbus Sans"/>
              </a:rPr>
              <a:t>Python/Flask, REST, adapters, progress, cancel, errors.</a:t>
            </a:r>
          </a:p>
        </p:txBody>
      </p:sp>
      <p:sp>
        <p:nvSpPr>
          <p:cNvPr id="36" name="stage-5-node">
            <a:extLst xmlns:a="http://schemas.openxmlformats.org/drawingml/2006/main">
              <a:ext uri="{FF2B5EF4-FFF2-40B4-BE49-F238E27FC236}">
                <a16:creationId xmlns:a16="http://schemas.microsoft.com/office/drawing/2014/main" id="{F203E9D6-80A6-4A1D-9FEB-AA624ED56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6955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070D"/>
          </a:solidFill>
          <a:ln xmlns:a="http://schemas.openxmlformats.org/drawingml/2006/main" w="14288">
            <a:solidFill>
              <a:srgbClr val="35E0DF"/>
            </a:solidFill>
            <a:prstDash val="solid"/>
          </a:ln>
        </p:spPr>
      </p:sp>
      <p:sp>
        <p:nvSpPr>
          <p:cNvPr id="37" name="stage-5-number">
            <a:extLst xmlns:a="http://schemas.openxmlformats.org/drawingml/2006/main">
              <a:ext uri="{FF2B5EF4-FFF2-40B4-BE49-F238E27FC236}">
                <a16:creationId xmlns:a16="http://schemas.microsoft.com/office/drawing/2014/main" id="{EC41C477-9384-4660-9C4A-BC5EA1329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7717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 i="0">
                <a:solidFill>
                  <a:srgbClr val="77F0E4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77F0E4"/>
                </a:solidFill>
                <a:latin typeface="Nimbus Sans"/>
                <a:ea typeface="Nimbus Sans"/>
                <a:cs typeface="Nimbus Sans"/>
              </a:rPr>
              <a:t>05</a:t>
            </a:r>
          </a:p>
        </p:txBody>
      </p:sp>
      <p:sp>
        <p:nvSpPr>
          <p:cNvPr id="38" name="stack-5-label">
            <a:extLst xmlns:a="http://schemas.openxmlformats.org/drawingml/2006/main">
              <a:ext uri="{FF2B5EF4-FFF2-40B4-BE49-F238E27FC236}">
                <a16:creationId xmlns:a16="http://schemas.microsoft.com/office/drawing/2014/main" id="{0A1A356B-2215-4689-ACAB-F7B5EAFAF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219450"/>
            <a:ext cx="1981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35E0DF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35E0DF"/>
                </a:solidFill>
                <a:latin typeface="Nimbus Sans"/>
                <a:ea typeface="Nimbus Sans"/>
                <a:cs typeface="Nimbus Sans"/>
              </a:rPr>
              <a:t>PRODUCTION</a:t>
            </a:r>
          </a:p>
        </p:txBody>
      </p:sp>
      <p:sp>
        <p:nvSpPr>
          <p:cNvPr id="39" name="stack-5-title">
            <a:extLst xmlns:a="http://schemas.openxmlformats.org/drawingml/2006/main">
              <a:ext uri="{FF2B5EF4-FFF2-40B4-BE49-F238E27FC236}">
                <a16:creationId xmlns:a16="http://schemas.microsoft.com/office/drawing/2014/main" id="{4D805556-3244-4B47-9104-96A6FDB77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524250"/>
            <a:ext cx="1981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F5F8FA"/>
                </a:solidFill>
                <a:latin typeface="Nimbus Sans"/>
                <a:ea typeface="Nimbus Sans"/>
                <a:cs typeface="Nimbus Sans"/>
              </a:defRPr>
            </a:pPr>
            <a:r>
              <a:rPr sz="1725" b="1" i="0">
                <a:solidFill>
                  <a:srgbClr val="F5F8FA"/>
                </a:solidFill>
                <a:latin typeface="Nimbus Sans"/>
                <a:ea typeface="Nimbus Sans"/>
                <a:cs typeface="Nimbus Sans"/>
              </a:rPr>
              <a:t>Result + asset</a:t>
            </a:r>
          </a:p>
        </p:txBody>
      </p:sp>
      <p:sp>
        <p:nvSpPr>
          <p:cNvPr id="40" name="stack-5-rule">
            <a:extLst xmlns:a="http://schemas.openxmlformats.org/drawingml/2006/main">
              <a:ext uri="{FF2B5EF4-FFF2-40B4-BE49-F238E27FC236}">
                <a16:creationId xmlns:a16="http://schemas.microsoft.com/office/drawing/2014/main" id="{0C022E24-BB2D-4161-AC88-0233EA97D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000500"/>
            <a:ext cx="47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E0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stack-5-body">
            <a:extLst xmlns:a="http://schemas.openxmlformats.org/drawingml/2006/main">
              <a:ext uri="{FF2B5EF4-FFF2-40B4-BE49-F238E27FC236}">
                <a16:creationId xmlns:a16="http://schemas.microsoft.com/office/drawing/2014/main" id="{B40AB273-51FF-4DE1-88A1-C61494CC5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210050"/>
            <a:ext cx="19812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 i="0">
                <a:solidFill>
                  <a:srgbClr val="D6E0E5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 i="0">
                <a:solidFill>
                  <a:srgbClr val="D6E0E5"/>
                </a:solidFill>
                <a:latin typeface="Nimbus Sans"/>
                <a:ea typeface="Nimbus Sans"/>
                <a:cs typeface="Nimbus Sans"/>
              </a:rPr>
              <a:t>Metadata, history, comparison, Asset Vault, package, sync.</a:t>
            </a:r>
          </a:p>
        </p:txBody>
      </p:sp>
      <p:sp>
        <p:nvSpPr>
          <p:cNvPr id="42" name="stack-callout-panel">
            <a:extLst xmlns:a="http://schemas.openxmlformats.org/drawingml/2006/main">
              <a:ext uri="{FF2B5EF4-FFF2-40B4-BE49-F238E27FC236}">
                <a16:creationId xmlns:a16="http://schemas.microsoft.com/office/drawing/2014/main" id="{98275DCC-7CD4-4F01-A10B-EC158ABC9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05450"/>
            <a:ext cx="104775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092330"/>
          </a:solidFill>
          <a:ln xmlns:a="http://schemas.openxmlformats.org/drawingml/2006/main" w="9525">
            <a:solidFill>
              <a:srgbClr val="176171"/>
            </a:solidFill>
            <a:prstDash val="solid"/>
          </a:ln>
        </p:spPr>
      </p:sp>
      <p:sp>
        <p:nvSpPr>
          <p:cNvPr id="43" name="stack-role-label">
            <a:extLst xmlns:a="http://schemas.openxmlformats.org/drawingml/2006/main">
              <a:ext uri="{FF2B5EF4-FFF2-40B4-BE49-F238E27FC236}">
                <a16:creationId xmlns:a16="http://schemas.microsoft.com/office/drawing/2014/main" id="{CBA4CAE7-4E26-4764-9A8C-876CC178C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65785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35E0DF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35E0DF"/>
                </a:solidFill>
                <a:latin typeface="Nimbus Sans"/>
                <a:ea typeface="Nimbus Sans"/>
                <a:cs typeface="Nimbus Sans"/>
              </a:rPr>
              <a:t>MY ROLE</a:t>
            </a:r>
          </a:p>
        </p:txBody>
      </p:sp>
      <p:sp>
        <p:nvSpPr>
          <p:cNvPr id="44" name="stack-role">
            <a:extLst xmlns:a="http://schemas.openxmlformats.org/drawingml/2006/main">
              <a:ext uri="{FF2B5EF4-FFF2-40B4-BE49-F238E27FC236}">
                <a16:creationId xmlns:a16="http://schemas.microsoft.com/office/drawing/2014/main" id="{0CD620CE-E0C2-4522-9D2A-A89AB28AA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6197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 i="0">
                <a:solidFill>
                  <a:srgbClr val="F5F8FA"/>
                </a:solidFill>
                <a:latin typeface="Nimbus Sans"/>
                <a:ea typeface="Nimbus Sans"/>
                <a:cs typeface="Nimbus Sans"/>
              </a:defRPr>
            </a:pPr>
            <a:r>
              <a:rPr sz="1575" b="1" i="0">
                <a:solidFill>
                  <a:srgbClr val="F5F8FA"/>
                </a:solidFill>
                <a:latin typeface="Nimbus Sans"/>
                <a:ea typeface="Nimbus Sans"/>
                <a:cs typeface="Nimbus Sans"/>
              </a:rPr>
              <a:t>Connect all five layers.</a:t>
            </a:r>
          </a:p>
        </p:txBody>
      </p:sp>
      <p:sp>
        <p:nvSpPr>
          <p:cNvPr id="45" name="stack-callout-divider">
            <a:extLst xmlns:a="http://schemas.openxmlformats.org/drawingml/2006/main">
              <a:ext uri="{FF2B5EF4-FFF2-40B4-BE49-F238E27FC236}">
                <a16:creationId xmlns:a16="http://schemas.microsoft.com/office/drawing/2014/main" id="{D457526D-077C-42D3-8438-699BDA6ED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638800"/>
            <a:ext cx="95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17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stack-differentiator">
            <a:extLst xmlns:a="http://schemas.openxmlformats.org/drawingml/2006/main">
              <a:ext uri="{FF2B5EF4-FFF2-40B4-BE49-F238E27FC236}">
                <a16:creationId xmlns:a16="http://schemas.microsoft.com/office/drawing/2014/main" id="{7D4BB23D-E153-4BAE-B6D6-66FB43FD5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6578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D6E0E5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D6E0E5"/>
                </a:solidFill>
                <a:latin typeface="Nimbus Sans"/>
                <a:ea typeface="Nimbus Sans"/>
                <a:cs typeface="Nimbus Sans"/>
              </a:rPr>
              <a:t>The differentiator is continuity: the artist’s intention survives every layer.</a:t>
            </a:r>
          </a:p>
        </p:txBody>
      </p:sp>
      <p:sp>
        <p:nvSpPr>
          <p:cNvPr id="4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2252305C-A3E5-48CB-8632-1CBF60FD5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29375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3D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footer-identity">
            <a:extLst xmlns:a="http://schemas.openxmlformats.org/drawingml/2006/main">
              <a:ext uri="{FF2B5EF4-FFF2-40B4-BE49-F238E27FC236}">
                <a16:creationId xmlns:a16="http://schemas.microsoft.com/office/drawing/2014/main" id="{0DB8FC7D-C8F4-4B25-A3E3-F0D5DF16A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 i="0">
                <a:solidFill>
                  <a:srgbClr val="91A7B1"/>
                </a:solidFill>
                <a:latin typeface="Nimbus Sans"/>
                <a:ea typeface="Nimbus Sans"/>
                <a:cs typeface="Nimbus Sans"/>
              </a:defRPr>
            </a:pPr>
            <a:r>
              <a:rPr sz="900" b="0" i="0">
                <a:solidFill>
                  <a:srgbClr val="91A7B1"/>
                </a:solidFill>
                <a:latin typeface="Nimbus Sans"/>
                <a:ea typeface="Nimbus Sans"/>
                <a:cs typeface="Nimbus Sans"/>
              </a:rPr>
              <a:t>RONNIE CLELAND · CREATIVE AI PLATFORM ARCHITECT</a:t>
            </a:r>
          </a:p>
        </p:txBody>
      </p:sp>
      <p:sp>
        <p:nvSpPr>
          <p:cNvPr id="49" name="footer-page">
            <a:extLst xmlns:a="http://schemas.openxmlformats.org/drawingml/2006/main">
              <a:ext uri="{FF2B5EF4-FFF2-40B4-BE49-F238E27FC236}">
                <a16:creationId xmlns:a16="http://schemas.microsoft.com/office/drawing/2014/main" id="{79327E07-0173-4B36-B3EA-C7F099771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1510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 i="0">
                <a:solidFill>
                  <a:srgbClr val="91A7B1"/>
                </a:solidFill>
                <a:latin typeface="Nimbus Sans"/>
                <a:ea typeface="Nimbus Sans"/>
                <a:cs typeface="Nimbus Sans"/>
              </a:defRPr>
            </a:pPr>
            <a:r>
              <a:rPr sz="900" b="0" i="0">
                <a:solidFill>
                  <a:srgbClr val="91A7B1"/>
                </a:solidFill>
                <a:latin typeface="Nimbus Sans"/>
                <a:ea typeface="Nimbus Sans"/>
                <a:cs typeface="Nimbus Sans"/>
              </a:rPr>
              <a:t>06 / 12</a:t>
            </a:r>
          </a:p>
        </p:txBody>
      </p:sp>
    </p:spTree>
    <p:extLst>
      <p:ext uri="{BB962C8B-B14F-4D97-AF65-F5344CB8AC3E}">
        <p14:creationId xmlns:p14="http://schemas.microsoft.com/office/powerpoint/2010/main" val="1465903863"/>
      </p:ext>
    </p:extLst>
  </p:cSld>
</p:sld>
</file>

<file path=ppt/slides/slide7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2070D"/>
            </a:gs>
            <a:gs pos="58000">
              <a:srgbClr val="061621"/>
            </a:gs>
            <a:gs pos="100000">
              <a:srgbClr val="02070D"/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erimeter">
            <a:extLst xmlns:a="http://schemas.openxmlformats.org/drawingml/2006/main">
              <a:ext uri="{FF2B5EF4-FFF2-40B4-BE49-F238E27FC236}">
                <a16:creationId xmlns:a16="http://schemas.microsoft.com/office/drawing/2014/main" id="{F3C697B4-B24F-4C88-B6F2-ACEBD1ABD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152400"/>
            <a:ext cx="11887200" cy="6553200"/>
          </a:xfrm>
          <a:prstGeom xmlns:a="http://schemas.openxmlformats.org/drawingml/2006/main" prst="roundRect">
            <a:avLst>
              <a:gd name="adj" fmla="val 1163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176171"/>
            </a:solidFill>
            <a:prstDash val="solid"/>
          </a:ln>
        </p:spPr>
      </p:sp>
      <p:sp>
        <p:nvSpPr>
          <p:cNvPr id="2" name="left-guide">
            <a:extLst xmlns:a="http://schemas.openxmlformats.org/drawingml/2006/main">
              <a:ext uri="{FF2B5EF4-FFF2-40B4-BE49-F238E27FC236}">
                <a16:creationId xmlns:a16="http://schemas.microsoft.com/office/drawing/2014/main" id="{751472B6-76A6-488B-842A-1816CAC4D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66700"/>
            <a:ext cx="9525" cy="632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3D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node">
            <a:extLst xmlns:a="http://schemas.openxmlformats.org/drawingml/2006/main">
              <a:ext uri="{FF2B5EF4-FFF2-40B4-BE49-F238E27FC236}">
                <a16:creationId xmlns:a16="http://schemas.microsoft.com/office/drawing/2014/main" id="{B8581069-8D8B-4CB8-9EB3-6E58B886B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2381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F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ottom-node">
            <a:extLst xmlns:a="http://schemas.openxmlformats.org/drawingml/2006/main">
              <a:ext uri="{FF2B5EF4-FFF2-40B4-BE49-F238E27FC236}">
                <a16:creationId xmlns:a16="http://schemas.microsoft.com/office/drawing/2014/main" id="{DD31E883-AD31-4E0E-B77C-FE732FF89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65627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B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ge-eyebrow">
            <a:extLst xmlns:a="http://schemas.openxmlformats.org/drawingml/2006/main">
              <a:ext uri="{FF2B5EF4-FFF2-40B4-BE49-F238E27FC236}">
                <a16:creationId xmlns:a16="http://schemas.microsoft.com/office/drawing/2014/main" id="{854F8766-BD4A-4C7A-9807-88ACAD599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35E0DF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 i="0">
                <a:solidFill>
                  <a:srgbClr val="35E0DF"/>
                </a:solidFill>
                <a:latin typeface="Nimbus Sans"/>
                <a:ea typeface="Nimbus Sans"/>
                <a:cs typeface="Nimbus Sans"/>
              </a:rPr>
              <a:t>07</a:t>
            </a:r>
          </a:p>
        </p:txBody>
      </p:sp>
      <p:sp>
        <p:nvSpPr>
          <p:cNvPr id="6" name="section-eyebrow">
            <a:extLst xmlns:a="http://schemas.openxmlformats.org/drawingml/2006/main">
              <a:ext uri="{FF2B5EF4-FFF2-40B4-BE49-F238E27FC236}">
                <a16:creationId xmlns:a16="http://schemas.microsoft.com/office/drawing/2014/main" id="{7345C15E-7A16-497C-AA5C-F2EC09F2D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622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77F0E4"/>
                </a:solidFill>
                <a:latin typeface="Nimbus Sans"/>
                <a:ea typeface="Nimbus Sans"/>
                <a:cs typeface="Nimbus Sans"/>
              </a:defRPr>
            </a:pPr>
            <a:r>
              <a:rPr sz="1125" b="1" i="0">
                <a:solidFill>
                  <a:srgbClr val="77F0E4"/>
                </a:solidFill>
                <a:latin typeface="Nimbus Sans"/>
                <a:ea typeface="Nimbus Sans"/>
                <a:cs typeface="Nimbus Sans"/>
              </a:rPr>
              <a:t>PLATFORM BREADTH</a:t>
            </a:r>
          </a:p>
        </p:txBody>
      </p:sp>
      <p:sp>
        <p:nvSpPr>
          <p:cNvPr id="7" name="section-rule">
            <a:extLst xmlns:a="http://schemas.openxmlformats.org/drawingml/2006/main">
              <a:ext uri="{FF2B5EF4-FFF2-40B4-BE49-F238E27FC236}">
                <a16:creationId xmlns:a16="http://schemas.microsoft.com/office/drawing/2014/main" id="{D9FB55E9-EA88-4A76-8C90-87CFE1B9A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1500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E0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headline-white">
            <a:extLst xmlns:a="http://schemas.openxmlformats.org/drawingml/2006/main">
              <a:ext uri="{FF2B5EF4-FFF2-40B4-BE49-F238E27FC236}">
                <a16:creationId xmlns:a16="http://schemas.microsoft.com/office/drawing/2014/main" id="{DAD460C1-C1E3-4688-854B-A78F180C8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42950"/>
            <a:ext cx="11201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225" b="1" i="0">
                <a:solidFill>
                  <a:srgbClr val="F5F8FA"/>
                </a:solidFill>
                <a:latin typeface="Nimbus Sans"/>
                <a:ea typeface="Nimbus Sans"/>
                <a:cs typeface="Nimbus Sans"/>
              </a:defRPr>
            </a:pPr>
            <a:r>
              <a:rPr sz="3225" b="1" i="0">
                <a:solidFill>
                  <a:srgbClr val="F5F8FA"/>
                </a:solidFill>
                <a:latin typeface="Nimbus Sans"/>
                <a:ea typeface="Nimbus Sans"/>
                <a:cs typeface="Nimbus Sans"/>
              </a:rPr>
              <a:t>Multimodal breadth is organized</a:t>
            </a:r>
          </a:p>
        </p:txBody>
      </p:sp>
      <p:sp>
        <p:nvSpPr>
          <p:cNvPr id="9" name="headline-cyan">
            <a:extLst xmlns:a="http://schemas.openxmlformats.org/drawingml/2006/main">
              <a:ext uri="{FF2B5EF4-FFF2-40B4-BE49-F238E27FC236}">
                <a16:creationId xmlns:a16="http://schemas.microsoft.com/office/drawing/2014/main" id="{D3B6B8F7-4372-4471-8F0A-9F826C520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90625"/>
            <a:ext cx="11201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225" b="1" i="0">
                <a:solidFill>
                  <a:srgbClr val="35E0DF"/>
                </a:solidFill>
                <a:latin typeface="Nimbus Sans"/>
                <a:ea typeface="Nimbus Sans"/>
                <a:cs typeface="Nimbus Sans"/>
              </a:defRPr>
            </a:pPr>
            <a:r>
              <a:rPr sz="3225" b="1" i="0">
                <a:solidFill>
                  <a:srgbClr val="35E0DF"/>
                </a:solidFill>
                <a:latin typeface="Nimbus Sans"/>
                <a:ea typeface="Nimbus Sans"/>
                <a:cs typeface="Nimbus Sans"/>
              </a:rPr>
              <a:t>around creative outcomes.</a:t>
            </a:r>
          </a:p>
        </p:txBody>
      </p:sp>
      <p:sp>
        <p:nvSpPr>
          <p:cNvPr id="10" name="subhead">
            <a:extLst xmlns:a="http://schemas.openxmlformats.org/drawingml/2006/main">
              <a:ext uri="{FF2B5EF4-FFF2-40B4-BE49-F238E27FC236}">
                <a16:creationId xmlns:a16="http://schemas.microsoft.com/office/drawing/2014/main" id="{91D4A200-A4B2-41B6-BC1D-67CE5F18C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2402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 i="0">
                <a:solidFill>
                  <a:srgbClr val="D6E0E5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 i="0">
                <a:solidFill>
                  <a:srgbClr val="D6E0E5"/>
                </a:solidFill>
                <a:latin typeface="Nimbus Sans"/>
                <a:ea typeface="Nimbus Sans"/>
                <a:cs typeface="Nimbus Sans"/>
              </a:rPr>
              <a:t>Lumify combines generation, refinement, control, analysis, and production handoff without losing the visual context of the work.</a:t>
            </a:r>
          </a:p>
        </p:txBody>
      </p:sp>
      <p:sp>
        <p:nvSpPr>
          <p:cNvPr id="11" name="breadth-create-label">
            <a:extLst xmlns:a="http://schemas.openxmlformats.org/drawingml/2006/main">
              <a:ext uri="{FF2B5EF4-FFF2-40B4-BE49-F238E27FC236}">
                <a16:creationId xmlns:a16="http://schemas.microsoft.com/office/drawing/2014/main" id="{6000D958-30E4-4740-8E9F-857847CAC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52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35E0DF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 i="0">
                <a:solidFill>
                  <a:srgbClr val="35E0DF"/>
                </a:solidFill>
                <a:latin typeface="Nimbus Sans"/>
                <a:ea typeface="Nimbus Sans"/>
                <a:cs typeface="Nimbus Sans"/>
              </a:rPr>
              <a:t>CREATE + REFINE</a:t>
            </a:r>
          </a:p>
        </p:txBody>
      </p:sp>
      <p:sp>
        <p:nvSpPr>
          <p:cNvPr id="12" name="breadth-create-body">
            <a:extLst xmlns:a="http://schemas.openxmlformats.org/drawingml/2006/main">
              <a:ext uri="{FF2B5EF4-FFF2-40B4-BE49-F238E27FC236}">
                <a16:creationId xmlns:a16="http://schemas.microsoft.com/office/drawing/2014/main" id="{242BDC64-87A5-4581-8AA6-5AD7D7B45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95600"/>
            <a:ext cx="37623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1" i="0">
                <a:solidFill>
                  <a:srgbClr val="F5F8FA"/>
                </a:solidFill>
                <a:latin typeface="Nimbus Sans"/>
                <a:ea typeface="Nimbus Sans"/>
                <a:cs typeface="Nimbus Sans"/>
              </a:defRPr>
            </a:pPr>
            <a:r>
              <a:rPr sz="1500" b="1" i="0">
                <a:solidFill>
                  <a:srgbClr val="F5F8FA"/>
                </a:solidFill>
                <a:latin typeface="Nimbus Sans"/>
                <a:ea typeface="Nimbus Sans"/>
                <a:cs typeface="Nimbus Sans"/>
              </a:rPr>
              <a:t>Image · reference · segmentation · depth · material · composite · camera · light</a:t>
            </a:r>
          </a:p>
        </p:txBody>
      </p:sp>
      <p:sp>
        <p:nvSpPr>
          <p:cNvPr id="13" name="breadth-create-rule">
            <a:extLst xmlns:a="http://schemas.openxmlformats.org/drawingml/2006/main">
              <a:ext uri="{FF2B5EF4-FFF2-40B4-BE49-F238E27FC236}">
                <a16:creationId xmlns:a16="http://schemas.microsoft.com/office/drawing/2014/main" id="{3859F10E-0958-44C3-AB0B-0464F4137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8620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E0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readth-motion-label">
            <a:extLst xmlns:a="http://schemas.openxmlformats.org/drawingml/2006/main">
              <a:ext uri="{FF2B5EF4-FFF2-40B4-BE49-F238E27FC236}">
                <a16:creationId xmlns:a16="http://schemas.microsoft.com/office/drawing/2014/main" id="{E68426A8-822B-4440-A488-6235E243B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291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35E0DF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 i="0">
                <a:solidFill>
                  <a:srgbClr val="35E0DF"/>
                </a:solidFill>
                <a:latin typeface="Nimbus Sans"/>
                <a:ea typeface="Nimbus Sans"/>
                <a:cs typeface="Nimbus Sans"/>
              </a:rPr>
              <a:t>MOTION + HANDOFF</a:t>
            </a:r>
          </a:p>
        </p:txBody>
      </p:sp>
      <p:sp>
        <p:nvSpPr>
          <p:cNvPr id="15" name="breadth-motion-body">
            <a:extLst xmlns:a="http://schemas.openxmlformats.org/drawingml/2006/main">
              <a:ext uri="{FF2B5EF4-FFF2-40B4-BE49-F238E27FC236}">
                <a16:creationId xmlns:a16="http://schemas.microsoft.com/office/drawing/2014/main" id="{B78AA3BA-77C4-4883-86E8-0D76CA498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0"/>
            <a:ext cx="37623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1" i="0">
                <a:solidFill>
                  <a:srgbClr val="F5F8FA"/>
                </a:solidFill>
                <a:latin typeface="Nimbus Sans"/>
                <a:ea typeface="Nimbus Sans"/>
                <a:cs typeface="Nimbus Sans"/>
              </a:defRPr>
            </a:pPr>
            <a:r>
              <a:rPr sz="1500" b="1" i="0">
                <a:solidFill>
                  <a:srgbClr val="F5F8FA"/>
                </a:solidFill>
                <a:latin typeface="Nimbus Sans"/>
                <a:ea typeface="Nimbus Sans"/>
                <a:cs typeface="Nimbus Sans"/>
              </a:rPr>
              <a:t>Video · storyboard · 3D · world view · review · assets · packages · bridge</a:t>
            </a:r>
          </a:p>
        </p:txBody>
      </p:sp>
      <p:sp>
        <p:nvSpPr>
          <p:cNvPr id="16" name="breadth-model-panel">
            <a:extLst xmlns:a="http://schemas.openxmlformats.org/drawingml/2006/main">
              <a:ext uri="{FF2B5EF4-FFF2-40B4-BE49-F238E27FC236}">
                <a16:creationId xmlns:a16="http://schemas.microsoft.com/office/drawing/2014/main" id="{9642B2B5-85D8-48F2-A030-95AA7B11A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00700"/>
            <a:ext cx="376237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92330"/>
          </a:solidFill>
          <a:ln xmlns:a="http://schemas.openxmlformats.org/drawingml/2006/main" w="9525">
            <a:solidFill>
              <a:srgbClr val="176171"/>
            </a:solidFill>
            <a:prstDash val="solid"/>
          </a:ln>
        </p:spPr>
      </p:sp>
      <p:sp>
        <p:nvSpPr>
          <p:cNvPr id="17" name="breadth-model-label">
            <a:extLst xmlns:a="http://schemas.openxmlformats.org/drawingml/2006/main">
              <a:ext uri="{FF2B5EF4-FFF2-40B4-BE49-F238E27FC236}">
                <a16:creationId xmlns:a16="http://schemas.microsoft.com/office/drawing/2014/main" id="{B2DDBD38-CA52-4613-816D-1B6E51838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 i="0">
                <a:solidFill>
                  <a:srgbClr val="77F0E4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 i="0">
                <a:solidFill>
                  <a:srgbClr val="77F0E4"/>
                </a:solidFill>
                <a:latin typeface="Nimbus Sans"/>
                <a:ea typeface="Nimbus Sans"/>
                <a:cs typeface="Nimbus Sans"/>
              </a:rPr>
              <a:t>HOSTED APIS + LOCAL MODELS</a:t>
            </a:r>
          </a:p>
        </p:txBody>
      </p:sp>
      <p:sp>
        <p:nvSpPr>
          <p:cNvPr id="18" name="breadth-review-frame">
            <a:extLst xmlns:a="http://schemas.openxmlformats.org/drawingml/2006/main">
              <a:ext uri="{FF2B5EF4-FFF2-40B4-BE49-F238E27FC236}">
                <a16:creationId xmlns:a16="http://schemas.microsoft.com/office/drawing/2014/main" id="{B143E8A7-F026-4E67-88FB-8B328968C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371725"/>
            <a:ext cx="4819650" cy="3581400"/>
          </a:xfrm>
          <a:prstGeom xmlns:a="http://schemas.openxmlformats.org/drawingml/2006/main" prst="roundRect">
            <a:avLst>
              <a:gd name="adj" fmla="val 2128"/>
            </a:avLst>
          </a:prstGeom>
          <a:solidFill xmlns:a="http://schemas.openxmlformats.org/drawingml/2006/main">
            <a:srgbClr val="02070D"/>
          </a:solidFill>
          <a:ln xmlns:a="http://schemas.openxmlformats.org/drawingml/2006/main" w="9525">
            <a:solidFill>
              <a:srgbClr val="35E0DF"/>
            </a:solidFill>
            <a:prstDash val="solid"/>
          </a:ln>
        </p:spPr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92eb4ac1524bc7"/>
          <a:stretch xmlns:a="http://schemas.openxmlformats.org/drawingml/2006/main"/>
        </p:blipFill>
        <p:spPr>
          <a:xfrm xmlns:a="http://schemas.openxmlformats.org/drawingml/2006/main">
            <a:off x="4762500" y="2934999"/>
            <a:ext cx="4762500" cy="2454852"/>
          </a:xfrm>
          <a:prstGeom xmlns:a="http://schemas.openxmlformats.org/drawingml/2006/main" prst="roundRect">
            <a:avLst>
              <a:gd name="adj" fmla="val 2432"/>
            </a:avLst>
          </a:prstGeom>
        </p:spPr>
      </p:pic>
      <p:sp>
        <p:nvSpPr>
          <p:cNvPr id="20" name="breadth-models-frame">
            <a:extLst xmlns:a="http://schemas.openxmlformats.org/drawingml/2006/main">
              <a:ext uri="{FF2B5EF4-FFF2-40B4-BE49-F238E27FC236}">
                <a16:creationId xmlns:a16="http://schemas.microsoft.com/office/drawing/2014/main" id="{CF2854DF-268A-4560-8C30-4C03124B5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2371725"/>
            <a:ext cx="1771650" cy="3581400"/>
          </a:xfrm>
          <a:prstGeom xmlns:a="http://schemas.openxmlformats.org/drawingml/2006/main" prst="roundRect">
            <a:avLst>
              <a:gd name="adj" fmla="val 4301"/>
            </a:avLst>
          </a:prstGeom>
          <a:solidFill xmlns:a="http://schemas.openxmlformats.org/drawingml/2006/main">
            <a:srgbClr val="02070D"/>
          </a:solidFill>
          <a:ln xmlns:a="http://schemas.openxmlformats.org/drawingml/2006/main" w="9525">
            <a:solidFill>
              <a:srgbClr val="176171"/>
            </a:solidFill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77e5841a274bd7"/>
          <a:stretch xmlns:a="http://schemas.openxmlformats.org/drawingml/2006/main"/>
        </p:blipFill>
        <p:spPr>
          <a:xfrm xmlns:a="http://schemas.openxmlformats.org/drawingml/2006/main">
            <a:off x="9810750" y="3169138"/>
            <a:ext cx="1714500" cy="1986574"/>
          </a:xfrm>
          <a:prstGeom xmlns:a="http://schemas.openxmlformats.org/drawingml/2006/main" prst="roundRect">
            <a:avLst>
              <a:gd name="adj" fmla="val 5000"/>
            </a:avLst>
          </a:prstGeom>
        </p:spPr>
      </p:pic>
      <p:sp>
        <p:nvSpPr>
          <p:cNvPr id="22" name="footer-rule">
            <a:extLst xmlns:a="http://schemas.openxmlformats.org/drawingml/2006/main">
              <a:ext uri="{FF2B5EF4-FFF2-40B4-BE49-F238E27FC236}">
                <a16:creationId xmlns:a16="http://schemas.microsoft.com/office/drawing/2014/main" id="{16BC843C-982A-49A3-85C5-1680BF9C9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29375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3D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footer-identity">
            <a:extLst xmlns:a="http://schemas.openxmlformats.org/drawingml/2006/main">
              <a:ext uri="{FF2B5EF4-FFF2-40B4-BE49-F238E27FC236}">
                <a16:creationId xmlns:a16="http://schemas.microsoft.com/office/drawing/2014/main" id="{9ACABED3-0022-4FD2-BB17-AE781E499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 i="0">
                <a:solidFill>
                  <a:srgbClr val="91A7B1"/>
                </a:solidFill>
                <a:latin typeface="Nimbus Sans"/>
                <a:ea typeface="Nimbus Sans"/>
                <a:cs typeface="Nimbus Sans"/>
              </a:defRPr>
            </a:pPr>
            <a:r>
              <a:rPr sz="900" b="0" i="0">
                <a:solidFill>
                  <a:srgbClr val="91A7B1"/>
                </a:solidFill>
                <a:latin typeface="Nimbus Sans"/>
                <a:ea typeface="Nimbus Sans"/>
                <a:cs typeface="Nimbus Sans"/>
              </a:rPr>
              <a:t>RONNIE CLELAND · CREATIVE AI PLATFORM ARCHITECT</a:t>
            </a:r>
          </a:p>
        </p:txBody>
      </p:sp>
      <p:sp>
        <p:nvSpPr>
          <p:cNvPr id="2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0EEAEF40-3FC4-4E14-A62E-0B9249895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1510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 i="0">
                <a:solidFill>
                  <a:srgbClr val="91A7B1"/>
                </a:solidFill>
                <a:latin typeface="Nimbus Sans"/>
                <a:ea typeface="Nimbus Sans"/>
                <a:cs typeface="Nimbus Sans"/>
              </a:defRPr>
            </a:pPr>
            <a:r>
              <a:rPr sz="900" b="0" i="0">
                <a:solidFill>
                  <a:srgbClr val="91A7B1"/>
                </a:solidFill>
                <a:latin typeface="Nimbus Sans"/>
                <a:ea typeface="Nimbus Sans"/>
                <a:cs typeface="Nimbus Sans"/>
              </a:rPr>
              <a:t>07 / 12</a:t>
            </a:r>
          </a:p>
        </p:txBody>
      </p:sp>
    </p:spTree>
    <p:extLst>
      <p:ext uri="{BB962C8B-B14F-4D97-AF65-F5344CB8AC3E}">
        <p14:creationId xmlns:p14="http://schemas.microsoft.com/office/powerpoint/2010/main" val="141112638"/>
      </p:ext>
    </p:extLst>
  </p:cSld>
</p:sld>
</file>

<file path=ppt/slides/slide8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2070D"/>
            </a:gs>
            <a:gs pos="58000">
              <a:srgbClr val="061621"/>
            </a:gs>
            <a:gs pos="100000">
              <a:srgbClr val="02070D"/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erimeter">
            <a:extLst xmlns:a="http://schemas.openxmlformats.org/drawingml/2006/main">
              <a:ext uri="{FF2B5EF4-FFF2-40B4-BE49-F238E27FC236}">
                <a16:creationId xmlns:a16="http://schemas.microsoft.com/office/drawing/2014/main" id="{D5130CB9-4911-4169-8DDF-19C252FF8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152400"/>
            <a:ext cx="11887200" cy="6553200"/>
          </a:xfrm>
          <a:prstGeom xmlns:a="http://schemas.openxmlformats.org/drawingml/2006/main" prst="roundRect">
            <a:avLst>
              <a:gd name="adj" fmla="val 1163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176171"/>
            </a:solidFill>
            <a:prstDash val="solid"/>
          </a:ln>
        </p:spPr>
      </p:sp>
      <p:sp>
        <p:nvSpPr>
          <p:cNvPr id="2" name="left-guide">
            <a:extLst xmlns:a="http://schemas.openxmlformats.org/drawingml/2006/main">
              <a:ext uri="{FF2B5EF4-FFF2-40B4-BE49-F238E27FC236}">
                <a16:creationId xmlns:a16="http://schemas.microsoft.com/office/drawing/2014/main" id="{EB57A95A-39EF-41DB-AFB7-6972F572D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66700"/>
            <a:ext cx="9525" cy="632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3D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node">
            <a:extLst xmlns:a="http://schemas.openxmlformats.org/drawingml/2006/main">
              <a:ext uri="{FF2B5EF4-FFF2-40B4-BE49-F238E27FC236}">
                <a16:creationId xmlns:a16="http://schemas.microsoft.com/office/drawing/2014/main" id="{258F97CC-C828-4AE7-BD39-2644052DD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2381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F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ottom-node">
            <a:extLst xmlns:a="http://schemas.openxmlformats.org/drawingml/2006/main">
              <a:ext uri="{FF2B5EF4-FFF2-40B4-BE49-F238E27FC236}">
                <a16:creationId xmlns:a16="http://schemas.microsoft.com/office/drawing/2014/main" id="{BF936989-2DC5-477D-93E1-2946548A0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65627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B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ge-eyebrow">
            <a:extLst xmlns:a="http://schemas.openxmlformats.org/drawingml/2006/main">
              <a:ext uri="{FF2B5EF4-FFF2-40B4-BE49-F238E27FC236}">
                <a16:creationId xmlns:a16="http://schemas.microsoft.com/office/drawing/2014/main" id="{B5D18D57-20C1-4A65-AA2A-84BACAB30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35E0DF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 i="0">
                <a:solidFill>
                  <a:srgbClr val="35E0DF"/>
                </a:solidFill>
                <a:latin typeface="Nimbus Sans"/>
                <a:ea typeface="Nimbus Sans"/>
                <a:cs typeface="Nimbus Sans"/>
              </a:rPr>
              <a:t>08</a:t>
            </a:r>
          </a:p>
        </p:txBody>
      </p:sp>
      <p:sp>
        <p:nvSpPr>
          <p:cNvPr id="6" name="section-eyebrow">
            <a:extLst xmlns:a="http://schemas.openxmlformats.org/drawingml/2006/main">
              <a:ext uri="{FF2B5EF4-FFF2-40B4-BE49-F238E27FC236}">
                <a16:creationId xmlns:a16="http://schemas.microsoft.com/office/drawing/2014/main" id="{A25B51A5-3EE8-44CB-8042-0C59C59A7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622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77F0E4"/>
                </a:solidFill>
                <a:latin typeface="Nimbus Sans"/>
                <a:ea typeface="Nimbus Sans"/>
                <a:cs typeface="Nimbus Sans"/>
              </a:defRPr>
            </a:pPr>
            <a:r>
              <a:rPr sz="1125" b="1" i="0">
                <a:solidFill>
                  <a:srgbClr val="77F0E4"/>
                </a:solidFill>
                <a:latin typeface="Nimbus Sans"/>
                <a:ea typeface="Nimbus Sans"/>
                <a:cs typeface="Nimbus Sans"/>
              </a:rPr>
              <a:t>PRODUCTION DESIGN</a:t>
            </a:r>
          </a:p>
        </p:txBody>
      </p:sp>
      <p:sp>
        <p:nvSpPr>
          <p:cNvPr id="7" name="section-rule">
            <a:extLst xmlns:a="http://schemas.openxmlformats.org/drawingml/2006/main">
              <a:ext uri="{FF2B5EF4-FFF2-40B4-BE49-F238E27FC236}">
                <a16:creationId xmlns:a16="http://schemas.microsoft.com/office/drawing/2014/main" id="{EBF3ADA4-46EA-4CED-AD51-D454FB5B2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1500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E0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headline-white">
            <a:extLst xmlns:a="http://schemas.openxmlformats.org/drawingml/2006/main">
              <a:ext uri="{FF2B5EF4-FFF2-40B4-BE49-F238E27FC236}">
                <a16:creationId xmlns:a16="http://schemas.microsoft.com/office/drawing/2014/main" id="{07D0552A-21D1-4E8D-84D9-455840FFD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42950"/>
            <a:ext cx="11201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300" b="1" i="0">
                <a:solidFill>
                  <a:srgbClr val="F5F8FA"/>
                </a:solidFill>
                <a:latin typeface="Nimbus Sans"/>
                <a:ea typeface="Nimbus Sans"/>
                <a:cs typeface="Nimbus Sans"/>
              </a:defRPr>
            </a:pPr>
            <a:r>
              <a:rPr sz="3300" b="1" i="0">
                <a:solidFill>
                  <a:srgbClr val="F5F8FA"/>
                </a:solidFill>
                <a:latin typeface="Nimbus Sans"/>
                <a:ea typeface="Nimbus Sans"/>
                <a:cs typeface="Nimbus Sans"/>
              </a:rPr>
              <a:t>Production trust is designed</a:t>
            </a:r>
          </a:p>
        </p:txBody>
      </p:sp>
      <p:sp>
        <p:nvSpPr>
          <p:cNvPr id="9" name="headline-cyan">
            <a:extLst xmlns:a="http://schemas.openxmlformats.org/drawingml/2006/main">
              <a:ext uri="{FF2B5EF4-FFF2-40B4-BE49-F238E27FC236}">
                <a16:creationId xmlns:a16="http://schemas.microsoft.com/office/drawing/2014/main" id="{1911CFE9-3327-4CDA-91BF-25F24A5A5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0150"/>
            <a:ext cx="11201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300" b="1" i="0">
                <a:solidFill>
                  <a:srgbClr val="35E0DF"/>
                </a:solidFill>
                <a:latin typeface="Nimbus Sans"/>
                <a:ea typeface="Nimbus Sans"/>
                <a:cs typeface="Nimbus Sans"/>
              </a:defRPr>
            </a:pPr>
            <a:r>
              <a:rPr sz="3300" b="1" i="0">
                <a:solidFill>
                  <a:srgbClr val="35E0DF"/>
                </a:solidFill>
                <a:latin typeface="Nimbus Sans"/>
                <a:ea typeface="Nimbus Sans"/>
                <a:cs typeface="Nimbus Sans"/>
              </a:rPr>
              <a:t>into the experience.</a:t>
            </a:r>
          </a:p>
        </p:txBody>
      </p:sp>
      <p:sp>
        <p:nvSpPr>
          <p:cNvPr id="10" name="subhead">
            <a:extLst xmlns:a="http://schemas.openxmlformats.org/drawingml/2006/main">
              <a:ext uri="{FF2B5EF4-FFF2-40B4-BE49-F238E27FC236}">
                <a16:creationId xmlns:a16="http://schemas.microsoft.com/office/drawing/2014/main" id="{1389FC3E-C150-43C5-8E57-6CA4957C9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52600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 i="0">
                <a:solidFill>
                  <a:srgbClr val="D6E0E5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 i="0">
                <a:solidFill>
                  <a:srgbClr val="D6E0E5"/>
                </a:solidFill>
                <a:latin typeface="Nimbus Sans"/>
                <a:ea typeface="Nimbus Sans"/>
                <a:cs typeface="Nimbus Sans"/>
              </a:rPr>
              <a:t>A creative AI tool earns repeat use when artists can understand, reproduce, interrupt, compare, and carry the work forward.</a:t>
            </a:r>
          </a:p>
        </p:txBody>
      </p:sp>
      <p:sp>
        <p:nvSpPr>
          <p:cNvPr id="11" name="trust-1-number">
            <a:extLst xmlns:a="http://schemas.openxmlformats.org/drawingml/2006/main">
              <a:ext uri="{FF2B5EF4-FFF2-40B4-BE49-F238E27FC236}">
                <a16:creationId xmlns:a16="http://schemas.microsoft.com/office/drawing/2014/main" id="{9B6C85B5-E434-43B0-A98E-061BD7380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35E0DF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35E0DF"/>
                </a:solidFill>
                <a:latin typeface="Nimbus Sans"/>
                <a:ea typeface="Nimbus Sans"/>
                <a:cs typeface="Nimbus Sans"/>
              </a:rPr>
              <a:t>01</a:t>
            </a:r>
          </a:p>
        </p:txBody>
      </p:sp>
      <p:sp>
        <p:nvSpPr>
          <p:cNvPr id="12" name="trust-1-title">
            <a:extLst xmlns:a="http://schemas.openxmlformats.org/drawingml/2006/main">
              <a:ext uri="{FF2B5EF4-FFF2-40B4-BE49-F238E27FC236}">
                <a16:creationId xmlns:a16="http://schemas.microsoft.com/office/drawing/2014/main" id="{4B26FA2D-3907-4EC3-9B64-7295E6DB8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527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F5F8FA"/>
                </a:solidFill>
                <a:latin typeface="Nimbus Sans"/>
                <a:ea typeface="Nimbus Sans"/>
                <a:cs typeface="Nimbus Sans"/>
              </a:defRPr>
            </a:pPr>
            <a:r>
              <a:rPr sz="1725" b="1" i="0">
                <a:solidFill>
                  <a:srgbClr val="F5F8FA"/>
                </a:solidFill>
                <a:latin typeface="Nimbus Sans"/>
                <a:ea typeface="Nimbus Sans"/>
                <a:cs typeface="Nimbus Sans"/>
              </a:rPr>
              <a:t>Repeatability</a:t>
            </a:r>
          </a:p>
        </p:txBody>
      </p:sp>
      <p:sp>
        <p:nvSpPr>
          <p:cNvPr id="13" name="trust-1-body">
            <a:extLst xmlns:a="http://schemas.openxmlformats.org/drawingml/2006/main">
              <a:ext uri="{FF2B5EF4-FFF2-40B4-BE49-F238E27FC236}">
                <a16:creationId xmlns:a16="http://schemas.microsoft.com/office/drawing/2014/main" id="{CEE20C8A-7FD9-426B-B55F-5F4084EB9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552700"/>
            <a:ext cx="704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 i="0">
                <a:solidFill>
                  <a:srgbClr val="D6E0E5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D6E0E5"/>
                </a:solidFill>
                <a:latin typeface="Nimbus Sans"/>
                <a:ea typeface="Nimbus Sans"/>
                <a:cs typeface="Nimbus Sans"/>
              </a:rPr>
              <a:t>Seed, parameters, references, model route, and metadata remain connected to the result.</a:t>
            </a:r>
          </a:p>
        </p:txBody>
      </p:sp>
      <p:sp>
        <p:nvSpPr>
          <p:cNvPr id="14" name="trust-1-divider">
            <a:extLst xmlns:a="http://schemas.openxmlformats.org/drawingml/2006/main">
              <a:ext uri="{FF2B5EF4-FFF2-40B4-BE49-F238E27FC236}">
                <a16:creationId xmlns:a16="http://schemas.microsoft.com/office/drawing/2014/main" id="{62FD57D6-6E30-4E81-A95E-EDD037E9D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143250"/>
            <a:ext cx="9677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3D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rust-2-number">
            <a:extLst xmlns:a="http://schemas.openxmlformats.org/drawingml/2006/main">
              <a:ext uri="{FF2B5EF4-FFF2-40B4-BE49-F238E27FC236}">
                <a16:creationId xmlns:a16="http://schemas.microsoft.com/office/drawing/2014/main" id="{D163A80B-2F76-4AAD-AD95-E1B20A86B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99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35E0DF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35E0DF"/>
                </a:solidFill>
                <a:latin typeface="Nimbus Sans"/>
                <a:ea typeface="Nimbus Sans"/>
                <a:cs typeface="Nimbus Sans"/>
              </a:rPr>
              <a:t>02</a:t>
            </a:r>
          </a:p>
        </p:txBody>
      </p:sp>
      <p:sp>
        <p:nvSpPr>
          <p:cNvPr id="16" name="trust-2-title">
            <a:extLst xmlns:a="http://schemas.openxmlformats.org/drawingml/2006/main">
              <a:ext uri="{FF2B5EF4-FFF2-40B4-BE49-F238E27FC236}">
                <a16:creationId xmlns:a16="http://schemas.microsoft.com/office/drawing/2014/main" id="{872F0398-5E3A-4590-B06E-D54AC5BC3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3337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F5F8FA"/>
                </a:solidFill>
                <a:latin typeface="Nimbus Sans"/>
                <a:ea typeface="Nimbus Sans"/>
                <a:cs typeface="Nimbus Sans"/>
              </a:defRPr>
            </a:pPr>
            <a:r>
              <a:rPr sz="1725" b="1" i="0">
                <a:solidFill>
                  <a:srgbClr val="F5F8FA"/>
                </a:solidFill>
                <a:latin typeface="Nimbus Sans"/>
                <a:ea typeface="Nimbus Sans"/>
                <a:cs typeface="Nimbus Sans"/>
              </a:rPr>
              <a:t>Visibility</a:t>
            </a:r>
          </a:p>
        </p:txBody>
      </p:sp>
      <p:sp>
        <p:nvSpPr>
          <p:cNvPr id="17" name="trust-2-body">
            <a:extLst xmlns:a="http://schemas.openxmlformats.org/drawingml/2006/main">
              <a:ext uri="{FF2B5EF4-FFF2-40B4-BE49-F238E27FC236}">
                <a16:creationId xmlns:a16="http://schemas.microsoft.com/office/drawing/2014/main" id="{87AC19F8-2842-491C-B269-4CAC75714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333750"/>
            <a:ext cx="704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 i="0">
                <a:solidFill>
                  <a:srgbClr val="D6E0E5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D6E0E5"/>
                </a:solidFill>
                <a:latin typeface="Nimbus Sans"/>
                <a:ea typeface="Nimbus Sans"/>
                <a:cs typeface="Nimbus Sans"/>
              </a:rPr>
              <a:t>Provider, model, task, timing, credits, progress, and confidence controls are surfaced.</a:t>
            </a:r>
          </a:p>
        </p:txBody>
      </p:sp>
      <p:sp>
        <p:nvSpPr>
          <p:cNvPr id="18" name="trust-2-divider">
            <a:extLst xmlns:a="http://schemas.openxmlformats.org/drawingml/2006/main">
              <a:ext uri="{FF2B5EF4-FFF2-40B4-BE49-F238E27FC236}">
                <a16:creationId xmlns:a16="http://schemas.microsoft.com/office/drawing/2014/main" id="{0F1D9BB6-F1BD-4F16-BD8B-303D301FF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924300"/>
            <a:ext cx="9677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3D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rust-3-number">
            <a:extLst xmlns:a="http://schemas.openxmlformats.org/drawingml/2006/main">
              <a:ext uri="{FF2B5EF4-FFF2-40B4-BE49-F238E27FC236}">
                <a16:creationId xmlns:a16="http://schemas.microsoft.com/office/drawing/2014/main" id="{D0B40549-33FD-4978-8EB1-4ECF88EA7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35E0DF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35E0DF"/>
                </a:solidFill>
                <a:latin typeface="Nimbus Sans"/>
                <a:ea typeface="Nimbus Sans"/>
                <a:cs typeface="Nimbus Sans"/>
              </a:rPr>
              <a:t>03</a:t>
            </a:r>
          </a:p>
        </p:txBody>
      </p:sp>
      <p:sp>
        <p:nvSpPr>
          <p:cNvPr id="20" name="trust-3-title">
            <a:extLst xmlns:a="http://schemas.openxmlformats.org/drawingml/2006/main">
              <a:ext uri="{FF2B5EF4-FFF2-40B4-BE49-F238E27FC236}">
                <a16:creationId xmlns:a16="http://schemas.microsoft.com/office/drawing/2014/main" id="{94E81DF4-8E5D-4A83-8260-E8454E614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1148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F5F8FA"/>
                </a:solidFill>
                <a:latin typeface="Nimbus Sans"/>
                <a:ea typeface="Nimbus Sans"/>
                <a:cs typeface="Nimbus Sans"/>
              </a:defRPr>
            </a:pPr>
            <a:r>
              <a:rPr sz="1725" b="1" i="0">
                <a:solidFill>
                  <a:srgbClr val="F5F8FA"/>
                </a:solidFill>
                <a:latin typeface="Nimbus Sans"/>
                <a:ea typeface="Nimbus Sans"/>
                <a:cs typeface="Nimbus Sans"/>
              </a:rPr>
              <a:t>Recoverability</a:t>
            </a:r>
          </a:p>
        </p:txBody>
      </p:sp>
      <p:sp>
        <p:nvSpPr>
          <p:cNvPr id="21" name="trust-3-body">
            <a:extLst xmlns:a="http://schemas.openxmlformats.org/drawingml/2006/main">
              <a:ext uri="{FF2B5EF4-FFF2-40B4-BE49-F238E27FC236}">
                <a16:creationId xmlns:a16="http://schemas.microsoft.com/office/drawing/2014/main" id="{85035AEF-9D8E-4B93-B4E3-E9FA63618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114800"/>
            <a:ext cx="704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 i="0">
                <a:solidFill>
                  <a:srgbClr val="D6E0E5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D6E0E5"/>
                </a:solidFill>
                <a:latin typeface="Nimbus Sans"/>
                <a:ea typeface="Nimbus Sans"/>
                <a:cs typeface="Nimbus Sans"/>
              </a:rPr>
              <a:t>Jobs expose progress, cancel, errors, recent history, A/B comparison, and promotion paths.</a:t>
            </a:r>
          </a:p>
        </p:txBody>
      </p:sp>
      <p:sp>
        <p:nvSpPr>
          <p:cNvPr id="22" name="trust-3-divider">
            <a:extLst xmlns:a="http://schemas.openxmlformats.org/drawingml/2006/main">
              <a:ext uri="{FF2B5EF4-FFF2-40B4-BE49-F238E27FC236}">
                <a16:creationId xmlns:a16="http://schemas.microsoft.com/office/drawing/2014/main" id="{3FFB2FC7-5F0A-4C52-8830-CE60EBF4B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705350"/>
            <a:ext cx="9677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3D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rust-4-number">
            <a:extLst xmlns:a="http://schemas.openxmlformats.org/drawingml/2006/main">
              <a:ext uri="{FF2B5EF4-FFF2-40B4-BE49-F238E27FC236}">
                <a16:creationId xmlns:a16="http://schemas.microsoft.com/office/drawing/2014/main" id="{A570077B-F181-42AB-B13D-EF5552D27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720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35E0DF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35E0DF"/>
                </a:solidFill>
                <a:latin typeface="Nimbus Sans"/>
                <a:ea typeface="Nimbus Sans"/>
                <a:cs typeface="Nimbus Sans"/>
              </a:rPr>
              <a:t>04</a:t>
            </a:r>
          </a:p>
        </p:txBody>
      </p:sp>
      <p:sp>
        <p:nvSpPr>
          <p:cNvPr id="24" name="trust-4-title">
            <a:extLst xmlns:a="http://schemas.openxmlformats.org/drawingml/2006/main">
              <a:ext uri="{FF2B5EF4-FFF2-40B4-BE49-F238E27FC236}">
                <a16:creationId xmlns:a16="http://schemas.microsoft.com/office/drawing/2014/main" id="{445627D5-2F3C-4213-9509-E66A69930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8958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F5F8FA"/>
                </a:solidFill>
                <a:latin typeface="Nimbus Sans"/>
                <a:ea typeface="Nimbus Sans"/>
                <a:cs typeface="Nimbus Sans"/>
              </a:defRPr>
            </a:pPr>
            <a:r>
              <a:rPr sz="1725" b="1" i="0">
                <a:solidFill>
                  <a:srgbClr val="F5F8FA"/>
                </a:solidFill>
                <a:latin typeface="Nimbus Sans"/>
                <a:ea typeface="Nimbus Sans"/>
                <a:cs typeface="Nimbus Sans"/>
              </a:rPr>
              <a:t>Portability</a:t>
            </a:r>
          </a:p>
        </p:txBody>
      </p:sp>
      <p:sp>
        <p:nvSpPr>
          <p:cNvPr id="25" name="trust-4-body">
            <a:extLst xmlns:a="http://schemas.openxmlformats.org/drawingml/2006/main">
              <a:ext uri="{FF2B5EF4-FFF2-40B4-BE49-F238E27FC236}">
                <a16:creationId xmlns:a16="http://schemas.microsoft.com/office/drawing/2014/main" id="{8A4076F9-F4CF-4CF7-9A25-E775BB011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895850"/>
            <a:ext cx="704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 i="0">
                <a:solidFill>
                  <a:srgbClr val="D6E0E5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D6E0E5"/>
                </a:solidFill>
                <a:latin typeface="Nimbus Sans"/>
                <a:ea typeface="Nimbus Sans"/>
                <a:cs typeface="Nimbus Sans"/>
              </a:rPr>
              <a:t>Asset Vault, export profiles, packages, shared directories, and Studio Sync support handoff.</a:t>
            </a:r>
          </a:p>
        </p:txBody>
      </p:sp>
      <p:sp>
        <p:nvSpPr>
          <p:cNvPr id="26" name="trust-4-divider">
            <a:extLst xmlns:a="http://schemas.openxmlformats.org/drawingml/2006/main">
              <a:ext uri="{FF2B5EF4-FFF2-40B4-BE49-F238E27FC236}">
                <a16:creationId xmlns:a16="http://schemas.microsoft.com/office/drawing/2014/main" id="{226FDAA1-D483-4B46-9A8E-3E11242DD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486400"/>
            <a:ext cx="9677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3D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rust-callout-panel">
            <a:extLst xmlns:a="http://schemas.openxmlformats.org/drawingml/2006/main">
              <a:ext uri="{FF2B5EF4-FFF2-40B4-BE49-F238E27FC236}">
                <a16:creationId xmlns:a16="http://schemas.microsoft.com/office/drawing/2014/main" id="{38AD5E80-A6AA-4CE8-9A83-B84A748D9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715000"/>
            <a:ext cx="99441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92330"/>
          </a:solidFill>
          <a:ln xmlns:a="http://schemas.openxmlformats.org/drawingml/2006/main" w="9525">
            <a:solidFill>
              <a:srgbClr val="35E0DF"/>
            </a:solidFill>
            <a:prstDash val="solid"/>
          </a:ln>
        </p:spPr>
      </p:sp>
      <p:sp>
        <p:nvSpPr>
          <p:cNvPr id="28" name="trust-callout">
            <a:extLst xmlns:a="http://schemas.openxmlformats.org/drawingml/2006/main">
              <a:ext uri="{FF2B5EF4-FFF2-40B4-BE49-F238E27FC236}">
                <a16:creationId xmlns:a16="http://schemas.microsoft.com/office/drawing/2014/main" id="{5790064C-D719-41AD-A856-567CED346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848350"/>
            <a:ext cx="9410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 i="0">
                <a:solidFill>
                  <a:srgbClr val="F5F8FA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 i="0">
                <a:solidFill>
                  <a:srgbClr val="F5F8FA"/>
                </a:solidFill>
                <a:latin typeface="Nimbus Sans"/>
                <a:ea typeface="Nimbus Sans"/>
                <a:cs typeface="Nimbus Sans"/>
              </a:rPr>
              <a:t>This is the difference between an impressive demo and a tool artists can build a practice around.</a:t>
            </a:r>
          </a:p>
        </p:txBody>
      </p:sp>
      <p:sp>
        <p:nvSpPr>
          <p:cNvPr id="2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A71AB539-524B-4E78-B636-C68CA9F10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29375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3D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footer-identity">
            <a:extLst xmlns:a="http://schemas.openxmlformats.org/drawingml/2006/main">
              <a:ext uri="{FF2B5EF4-FFF2-40B4-BE49-F238E27FC236}">
                <a16:creationId xmlns:a16="http://schemas.microsoft.com/office/drawing/2014/main" id="{ED40BDDC-F65A-497E-9D75-B7264EC77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 i="0">
                <a:solidFill>
                  <a:srgbClr val="91A7B1"/>
                </a:solidFill>
                <a:latin typeface="Nimbus Sans"/>
                <a:ea typeface="Nimbus Sans"/>
                <a:cs typeface="Nimbus Sans"/>
              </a:defRPr>
            </a:pPr>
            <a:r>
              <a:rPr sz="900" b="0" i="0">
                <a:solidFill>
                  <a:srgbClr val="91A7B1"/>
                </a:solidFill>
                <a:latin typeface="Nimbus Sans"/>
                <a:ea typeface="Nimbus Sans"/>
                <a:cs typeface="Nimbus Sans"/>
              </a:rPr>
              <a:t>RONNIE CLELAND · CREATIVE AI PLATFORM ARCHITECT</a:t>
            </a:r>
          </a:p>
        </p:txBody>
      </p:sp>
      <p:sp>
        <p:nvSpPr>
          <p:cNvPr id="31" name="footer-page">
            <a:extLst xmlns:a="http://schemas.openxmlformats.org/drawingml/2006/main">
              <a:ext uri="{FF2B5EF4-FFF2-40B4-BE49-F238E27FC236}">
                <a16:creationId xmlns:a16="http://schemas.microsoft.com/office/drawing/2014/main" id="{A302F962-DB56-4FE5-8500-415DE86FA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1510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 i="0">
                <a:solidFill>
                  <a:srgbClr val="91A7B1"/>
                </a:solidFill>
                <a:latin typeface="Nimbus Sans"/>
                <a:ea typeface="Nimbus Sans"/>
                <a:cs typeface="Nimbus Sans"/>
              </a:defRPr>
            </a:pPr>
            <a:r>
              <a:rPr sz="900" b="0" i="0">
                <a:solidFill>
                  <a:srgbClr val="91A7B1"/>
                </a:solidFill>
                <a:latin typeface="Nimbus Sans"/>
                <a:ea typeface="Nimbus Sans"/>
                <a:cs typeface="Nimbus Sans"/>
              </a:rPr>
              <a:t>08 / 12</a:t>
            </a:r>
          </a:p>
        </p:txBody>
      </p:sp>
    </p:spTree>
    <p:extLst>
      <p:ext uri="{BB962C8B-B14F-4D97-AF65-F5344CB8AC3E}">
        <p14:creationId xmlns:p14="http://schemas.microsoft.com/office/powerpoint/2010/main" val="27285949"/>
      </p:ext>
    </p:extLst>
  </p:cSld>
</p:sld>
</file>

<file path=ppt/slides/slide9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2070D"/>
            </a:gs>
            <a:gs pos="58000">
              <a:srgbClr val="061621"/>
            </a:gs>
            <a:gs pos="100000">
              <a:srgbClr val="02070D"/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erimeter">
            <a:extLst xmlns:a="http://schemas.openxmlformats.org/drawingml/2006/main">
              <a:ext uri="{FF2B5EF4-FFF2-40B4-BE49-F238E27FC236}">
                <a16:creationId xmlns:a16="http://schemas.microsoft.com/office/drawing/2014/main" id="{2770DE02-7247-45E0-97AA-2AAC47DD7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152400"/>
            <a:ext cx="11887200" cy="6553200"/>
          </a:xfrm>
          <a:prstGeom xmlns:a="http://schemas.openxmlformats.org/drawingml/2006/main" prst="roundRect">
            <a:avLst>
              <a:gd name="adj" fmla="val 1163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176171"/>
            </a:solidFill>
            <a:prstDash val="solid"/>
          </a:ln>
        </p:spPr>
      </p:sp>
      <p:sp>
        <p:nvSpPr>
          <p:cNvPr id="2" name="left-guide">
            <a:extLst xmlns:a="http://schemas.openxmlformats.org/drawingml/2006/main">
              <a:ext uri="{FF2B5EF4-FFF2-40B4-BE49-F238E27FC236}">
                <a16:creationId xmlns:a16="http://schemas.microsoft.com/office/drawing/2014/main" id="{9986ACFD-7C57-4E6A-82F2-3778C55C1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66700"/>
            <a:ext cx="9525" cy="632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3D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node">
            <a:extLst xmlns:a="http://schemas.openxmlformats.org/drawingml/2006/main">
              <a:ext uri="{FF2B5EF4-FFF2-40B4-BE49-F238E27FC236}">
                <a16:creationId xmlns:a16="http://schemas.microsoft.com/office/drawing/2014/main" id="{C15A76D0-8F77-4AB8-9B1C-99F5A4F1F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2381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F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ottom-node">
            <a:extLst xmlns:a="http://schemas.openxmlformats.org/drawingml/2006/main">
              <a:ext uri="{FF2B5EF4-FFF2-40B4-BE49-F238E27FC236}">
                <a16:creationId xmlns:a16="http://schemas.microsoft.com/office/drawing/2014/main" id="{DCC1650B-B809-44FB-AD1C-5404559C0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65627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B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ge-eyebrow">
            <a:extLst xmlns:a="http://schemas.openxmlformats.org/drawingml/2006/main">
              <a:ext uri="{FF2B5EF4-FFF2-40B4-BE49-F238E27FC236}">
                <a16:creationId xmlns:a16="http://schemas.microsoft.com/office/drawing/2014/main" id="{F2E0BF6D-C314-409F-AF44-901BC28C1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35E0DF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 i="0">
                <a:solidFill>
                  <a:srgbClr val="35E0DF"/>
                </a:solidFill>
                <a:latin typeface="Nimbus Sans"/>
                <a:ea typeface="Nimbus Sans"/>
                <a:cs typeface="Nimbus Sans"/>
              </a:rPr>
              <a:t>09</a:t>
            </a:r>
          </a:p>
        </p:txBody>
      </p:sp>
      <p:sp>
        <p:nvSpPr>
          <p:cNvPr id="6" name="section-eyebrow">
            <a:extLst xmlns:a="http://schemas.openxmlformats.org/drawingml/2006/main">
              <a:ext uri="{FF2B5EF4-FFF2-40B4-BE49-F238E27FC236}">
                <a16:creationId xmlns:a16="http://schemas.microsoft.com/office/drawing/2014/main" id="{466C5FFF-AA96-4651-889E-183FB2FCB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622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77F0E4"/>
                </a:solidFill>
                <a:latin typeface="Nimbus Sans"/>
                <a:ea typeface="Nimbus Sans"/>
                <a:cs typeface="Nimbus Sans"/>
              </a:defRPr>
            </a:pPr>
            <a:r>
              <a:rPr sz="1125" b="1" i="0">
                <a:solidFill>
                  <a:srgbClr val="77F0E4"/>
                </a:solidFill>
                <a:latin typeface="Nimbus Sans"/>
                <a:ea typeface="Nimbus Sans"/>
                <a:cs typeface="Nimbus Sans"/>
              </a:rPr>
              <a:t>FLAGSHIP CASE STUDY</a:t>
            </a:r>
          </a:p>
        </p:txBody>
      </p:sp>
      <p:sp>
        <p:nvSpPr>
          <p:cNvPr id="7" name="section-rule">
            <a:extLst xmlns:a="http://schemas.openxmlformats.org/drawingml/2006/main">
              <a:ext uri="{FF2B5EF4-FFF2-40B4-BE49-F238E27FC236}">
                <a16:creationId xmlns:a16="http://schemas.microsoft.com/office/drawing/2014/main" id="{2A2EEE84-5B11-47F4-A22A-E7FB9D309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1500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E0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headline-white">
            <a:extLst xmlns:a="http://schemas.openxmlformats.org/drawingml/2006/main">
              <a:ext uri="{FF2B5EF4-FFF2-40B4-BE49-F238E27FC236}">
                <a16:creationId xmlns:a16="http://schemas.microsoft.com/office/drawing/2014/main" id="{48DE2070-9C9B-49D8-AE56-684ED7682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42950"/>
            <a:ext cx="11201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225" b="1" i="0">
                <a:solidFill>
                  <a:srgbClr val="F5F8FA"/>
                </a:solidFill>
                <a:latin typeface="Nimbus Sans"/>
                <a:ea typeface="Nimbus Sans"/>
                <a:cs typeface="Nimbus Sans"/>
              </a:defRPr>
            </a:pPr>
            <a:r>
              <a:rPr sz="3225" b="1" i="0">
                <a:solidFill>
                  <a:srgbClr val="F5F8FA"/>
                </a:solidFill>
                <a:latin typeface="Nimbus Sans"/>
                <a:ea typeface="Nimbus Sans"/>
                <a:cs typeface="Nimbus Sans"/>
              </a:rPr>
              <a:t>Shift Light turns visual judgment</a:t>
            </a:r>
          </a:p>
        </p:txBody>
      </p:sp>
      <p:sp>
        <p:nvSpPr>
          <p:cNvPr id="9" name="headline-cyan">
            <a:extLst xmlns:a="http://schemas.openxmlformats.org/drawingml/2006/main">
              <a:ext uri="{FF2B5EF4-FFF2-40B4-BE49-F238E27FC236}">
                <a16:creationId xmlns:a16="http://schemas.microsoft.com/office/drawing/2014/main" id="{5E4F74A5-0FD1-4C09-9811-C589EEB15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90625"/>
            <a:ext cx="11201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225" b="1" i="0">
                <a:solidFill>
                  <a:srgbClr val="35E0DF"/>
                </a:solidFill>
                <a:latin typeface="Nimbus Sans"/>
                <a:ea typeface="Nimbus Sans"/>
                <a:cs typeface="Nimbus Sans"/>
              </a:defRPr>
            </a:pPr>
            <a:r>
              <a:rPr sz="3225" b="1" i="0">
                <a:solidFill>
                  <a:srgbClr val="35E0DF"/>
                </a:solidFill>
                <a:latin typeface="Nimbus Sans"/>
                <a:ea typeface="Nimbus Sans"/>
                <a:cs typeface="Nimbus Sans"/>
              </a:rPr>
              <a:t>into a product contract.</a:t>
            </a:r>
          </a:p>
        </p:txBody>
      </p:sp>
      <p:sp>
        <p:nvSpPr>
          <p:cNvPr id="10" name="subhead">
            <a:extLst xmlns:a="http://schemas.openxmlformats.org/drawingml/2006/main">
              <a:ext uri="{FF2B5EF4-FFF2-40B4-BE49-F238E27FC236}">
                <a16:creationId xmlns:a16="http://schemas.microsoft.com/office/drawing/2014/main" id="{E59856B5-87F0-46CF-BE86-FBB7C0BA6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2402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 i="0">
                <a:solidFill>
                  <a:srgbClr val="D6E0E5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 i="0">
                <a:solidFill>
                  <a:srgbClr val="D6E0E5"/>
                </a:solidFill>
                <a:latin typeface="Nimbus Sans"/>
                <a:ea typeface="Nimbus Sans"/>
                <a:cs typeface="Nimbus Sans"/>
              </a:rPr>
              <a:t>The feature begins with an artist’s request—move the light—then protects everything the request did not authorize changing.</a:t>
            </a:r>
          </a:p>
        </p:txBody>
      </p:sp>
      <p:sp>
        <p:nvSpPr>
          <p:cNvPr id="11" name="shift-light-visual-frame">
            <a:extLst xmlns:a="http://schemas.openxmlformats.org/drawingml/2006/main">
              <a:ext uri="{FF2B5EF4-FFF2-40B4-BE49-F238E27FC236}">
                <a16:creationId xmlns:a16="http://schemas.microsoft.com/office/drawing/2014/main" id="{A023E2B5-6870-4E85-9B72-BAE696E94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2314575"/>
            <a:ext cx="5867400" cy="3324225"/>
          </a:xfrm>
          <a:prstGeom xmlns:a="http://schemas.openxmlformats.org/drawingml/2006/main" prst="roundRect">
            <a:avLst>
              <a:gd name="adj" fmla="val 2292"/>
            </a:avLst>
          </a:prstGeom>
          <a:solidFill xmlns:a="http://schemas.openxmlformats.org/drawingml/2006/main">
            <a:srgbClr val="02070D"/>
          </a:solidFill>
          <a:ln xmlns:a="http://schemas.openxmlformats.org/drawingml/2006/main" w="9525">
            <a:solidFill>
              <a:srgbClr val="35E0DF"/>
            </a:solidFill>
            <a:prstDash val="solid"/>
          </a:ln>
        </p:spPr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dceec3b0794f75"/>
          <a:stretch xmlns:a="http://schemas.openxmlformats.org/drawingml/2006/main"/>
        </p:blipFill>
        <p:spPr>
          <a:xfrm xmlns:a="http://schemas.openxmlformats.org/drawingml/2006/main">
            <a:off x="495861" y="2343150"/>
            <a:ext cx="5809128" cy="3267075"/>
          </a:xfrm>
          <a:prstGeom xmlns:a="http://schemas.openxmlformats.org/drawingml/2006/main" prst="roundRect">
            <a:avLst>
              <a:gd name="adj" fmla="val 2915"/>
            </a:avLst>
          </a:prstGeom>
        </p:spPr>
      </p:pic>
      <p:sp>
        <p:nvSpPr>
          <p:cNvPr id="13" name="shift-1-label">
            <a:extLst xmlns:a="http://schemas.openxmlformats.org/drawingml/2006/main">
              <a:ext uri="{FF2B5EF4-FFF2-40B4-BE49-F238E27FC236}">
                <a16:creationId xmlns:a16="http://schemas.microsoft.com/office/drawing/2014/main" id="{F2B09BAD-629F-48C1-9001-602495D7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431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35E0DF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 i="0">
                <a:solidFill>
                  <a:srgbClr val="35E0DF"/>
                </a:solidFill>
                <a:latin typeface="Nimbus Sans"/>
                <a:ea typeface="Nimbus Sans"/>
                <a:cs typeface="Nimbus Sans"/>
              </a:rPr>
              <a:t>ARTIST GOAL</a:t>
            </a:r>
          </a:p>
        </p:txBody>
      </p:sp>
      <p:sp>
        <p:nvSpPr>
          <p:cNvPr id="14" name="shift-1-body">
            <a:extLst xmlns:a="http://schemas.openxmlformats.org/drawingml/2006/main">
              <a:ext uri="{FF2B5EF4-FFF2-40B4-BE49-F238E27FC236}">
                <a16:creationId xmlns:a16="http://schemas.microsoft.com/office/drawing/2014/main" id="{F9C69A60-6E55-46CE-8508-5AA35BBD4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647950"/>
            <a:ext cx="4524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 i="0">
                <a:solidFill>
                  <a:srgbClr val="D6E0E5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D6E0E5"/>
                </a:solidFill>
                <a:latin typeface="Nimbus Sans"/>
                <a:ea typeface="Nimbus Sans"/>
                <a:cs typeface="Nimbus Sans"/>
              </a:rPr>
              <a:t>Place or redirect the light source directly on the image; shape shadows and atmosphere without rebuilding the shot.</a:t>
            </a:r>
          </a:p>
        </p:txBody>
      </p:sp>
      <p:sp>
        <p:nvSpPr>
          <p:cNvPr id="15" name="shift-1-divider">
            <a:extLst xmlns:a="http://schemas.openxmlformats.org/drawingml/2006/main">
              <a:ext uri="{FF2B5EF4-FFF2-40B4-BE49-F238E27FC236}">
                <a16:creationId xmlns:a16="http://schemas.microsoft.com/office/drawing/2014/main" id="{9F668B87-5A7B-4C89-A5C8-F2E831075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14700"/>
            <a:ext cx="451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3D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hift-2-label">
            <a:extLst xmlns:a="http://schemas.openxmlformats.org/drawingml/2006/main">
              <a:ext uri="{FF2B5EF4-FFF2-40B4-BE49-F238E27FC236}">
                <a16:creationId xmlns:a16="http://schemas.microsoft.com/office/drawing/2014/main" id="{2403EE60-F9A0-4FAE-9616-6A06CC8DA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4099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35E0DF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 i="0">
                <a:solidFill>
                  <a:srgbClr val="35E0DF"/>
                </a:solidFill>
                <a:latin typeface="Nimbus Sans"/>
                <a:ea typeface="Nimbus Sans"/>
                <a:cs typeface="Nimbus Sans"/>
              </a:rPr>
              <a:t>INTERACTION</a:t>
            </a:r>
          </a:p>
        </p:txBody>
      </p:sp>
      <p:sp>
        <p:nvSpPr>
          <p:cNvPr id="17" name="shift-2-body">
            <a:extLst xmlns:a="http://schemas.openxmlformats.org/drawingml/2006/main">
              <a:ext uri="{FF2B5EF4-FFF2-40B4-BE49-F238E27FC236}">
                <a16:creationId xmlns:a16="http://schemas.microsoft.com/office/drawing/2014/main" id="{2F423CBB-3143-4691-8C65-9EF6F8C95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714750"/>
            <a:ext cx="4524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 i="0">
                <a:solidFill>
                  <a:srgbClr val="D6E0E5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D6E0E5"/>
                </a:solidFill>
                <a:latin typeface="Nimbus Sans"/>
                <a:ea typeface="Nimbus Sans"/>
                <a:cs typeface="Nimbus Sans"/>
              </a:rPr>
              <a:t>A direct visual action becomes structured HUD state, model instructions, optional polish, and a visible generation path.</a:t>
            </a:r>
          </a:p>
        </p:txBody>
      </p:sp>
      <p:sp>
        <p:nvSpPr>
          <p:cNvPr id="18" name="shift-2-divider">
            <a:extLst xmlns:a="http://schemas.openxmlformats.org/drawingml/2006/main">
              <a:ext uri="{FF2B5EF4-FFF2-40B4-BE49-F238E27FC236}">
                <a16:creationId xmlns:a16="http://schemas.microsoft.com/office/drawing/2014/main" id="{3FA8A0ED-3030-4FC0-B7F0-79F77A47C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381500"/>
            <a:ext cx="451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3D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hift-3-label">
            <a:extLst xmlns:a="http://schemas.openxmlformats.org/drawingml/2006/main">
              <a:ext uri="{FF2B5EF4-FFF2-40B4-BE49-F238E27FC236}">
                <a16:creationId xmlns:a16="http://schemas.microsoft.com/office/drawing/2014/main" id="{944A8991-47D5-4558-836A-1B90C5E8D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4767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35E0DF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 i="0">
                <a:solidFill>
                  <a:srgbClr val="35E0DF"/>
                </a:solidFill>
                <a:latin typeface="Nimbus Sans"/>
                <a:ea typeface="Nimbus Sans"/>
                <a:cs typeface="Nimbus Sans"/>
              </a:rPr>
              <a:t>SYSTEM GUARDRAILS</a:t>
            </a:r>
          </a:p>
        </p:txBody>
      </p:sp>
      <p:sp>
        <p:nvSpPr>
          <p:cNvPr id="20" name="shift-3-body">
            <a:extLst xmlns:a="http://schemas.openxmlformats.org/drawingml/2006/main">
              <a:ext uri="{FF2B5EF4-FFF2-40B4-BE49-F238E27FC236}">
                <a16:creationId xmlns:a16="http://schemas.microsoft.com/office/drawing/2014/main" id="{03387593-F4C0-4009-846D-D7136970D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781550"/>
            <a:ext cx="4524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 i="0">
                <a:solidFill>
                  <a:srgbClr val="D6E0E5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D6E0E5"/>
                </a:solidFill>
                <a:latin typeface="Nimbus Sans"/>
                <a:ea typeface="Nimbus Sans"/>
                <a:cs typeface="Nimbus Sans"/>
              </a:rPr>
              <a:t>Preserve camera, crop, subject identity, geometry, horizon, foreground placement, and the approved light origin.</a:t>
            </a:r>
          </a:p>
        </p:txBody>
      </p:sp>
      <p:sp>
        <p:nvSpPr>
          <p:cNvPr id="21" name="shift-instinct-panel">
            <a:extLst xmlns:a="http://schemas.openxmlformats.org/drawingml/2006/main">
              <a:ext uri="{FF2B5EF4-FFF2-40B4-BE49-F238E27FC236}">
                <a16:creationId xmlns:a16="http://schemas.microsoft.com/office/drawing/2014/main" id="{210C87BC-720A-4026-9182-1FC617C56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10250"/>
            <a:ext cx="100584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92330"/>
          </a:solidFill>
          <a:ln xmlns:a="http://schemas.openxmlformats.org/drawingml/2006/main" w="9525">
            <a:solidFill>
              <a:srgbClr val="176171"/>
            </a:solidFill>
            <a:prstDash val="solid"/>
          </a:ln>
        </p:spPr>
      </p:sp>
      <p:sp>
        <p:nvSpPr>
          <p:cNvPr id="22" name="shift-instinct">
            <a:extLst xmlns:a="http://schemas.openxmlformats.org/drawingml/2006/main">
              <a:ext uri="{FF2B5EF4-FFF2-40B4-BE49-F238E27FC236}">
                <a16:creationId xmlns:a16="http://schemas.microsoft.com/office/drawing/2014/main" id="{334E4893-2FC6-4933-8121-CC3F7ADF5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915025"/>
            <a:ext cx="9563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 i="0">
                <a:solidFill>
                  <a:srgbClr val="F5F8FA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 i="0">
                <a:solidFill>
                  <a:srgbClr val="F5F8FA"/>
                </a:solidFill>
                <a:latin typeface="Nimbus Sans"/>
                <a:ea typeface="Nimbus Sans"/>
                <a:cs typeface="Nimbus Sans"/>
              </a:rPr>
              <a:t>My product instinct: make the creative action simple, then make the system responsibilities explicit.</a:t>
            </a:r>
          </a:p>
        </p:txBody>
      </p:sp>
      <p:sp>
        <p:nvSpPr>
          <p:cNvPr id="2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050FF41B-47F8-4244-BD1A-172CA1273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29375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3D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footer-identity">
            <a:extLst xmlns:a="http://schemas.openxmlformats.org/drawingml/2006/main">
              <a:ext uri="{FF2B5EF4-FFF2-40B4-BE49-F238E27FC236}">
                <a16:creationId xmlns:a16="http://schemas.microsoft.com/office/drawing/2014/main" id="{7EDA6913-22AE-44AA-9FEC-A44CD49FF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 i="0">
                <a:solidFill>
                  <a:srgbClr val="91A7B1"/>
                </a:solidFill>
                <a:latin typeface="Nimbus Sans"/>
                <a:ea typeface="Nimbus Sans"/>
                <a:cs typeface="Nimbus Sans"/>
              </a:defRPr>
            </a:pPr>
            <a:r>
              <a:rPr sz="900" b="0" i="0">
                <a:solidFill>
                  <a:srgbClr val="91A7B1"/>
                </a:solidFill>
                <a:latin typeface="Nimbus Sans"/>
                <a:ea typeface="Nimbus Sans"/>
                <a:cs typeface="Nimbus Sans"/>
              </a:rPr>
              <a:t>RONNIE CLELAND · CREATIVE AI PLATFORM ARCHITECT</a:t>
            </a:r>
          </a:p>
        </p:txBody>
      </p:sp>
      <p:sp>
        <p:nvSpPr>
          <p:cNvPr id="25" name="footer-page">
            <a:extLst xmlns:a="http://schemas.openxmlformats.org/drawingml/2006/main">
              <a:ext uri="{FF2B5EF4-FFF2-40B4-BE49-F238E27FC236}">
                <a16:creationId xmlns:a16="http://schemas.microsoft.com/office/drawing/2014/main" id="{5F88699A-4AAB-4D2E-8177-0D3556E35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1510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 i="0">
                <a:solidFill>
                  <a:srgbClr val="91A7B1"/>
                </a:solidFill>
                <a:latin typeface="Nimbus Sans"/>
                <a:ea typeface="Nimbus Sans"/>
                <a:cs typeface="Nimbus Sans"/>
              </a:defRPr>
            </a:pPr>
            <a:r>
              <a:rPr sz="900" b="0" i="0">
                <a:solidFill>
                  <a:srgbClr val="91A7B1"/>
                </a:solidFill>
                <a:latin typeface="Nimbus Sans"/>
                <a:ea typeface="Nimbus Sans"/>
                <a:cs typeface="Nimbus Sans"/>
              </a:rPr>
              <a:t>09 / 12</a:t>
            </a:r>
          </a:p>
        </p:txBody>
      </p:sp>
    </p:spTree>
    <p:extLst>
      <p:ext uri="{BB962C8B-B14F-4D97-AF65-F5344CB8AC3E}">
        <p14:creationId xmlns:p14="http://schemas.microsoft.com/office/powerpoint/2010/main" val="310950710"/>
      </p:ext>
    </p:extLst>
  </p:cSld>
</p:sld>
</file>

<file path=ppt/slides/slide10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2070D"/>
            </a:gs>
            <a:gs pos="58000">
              <a:srgbClr val="061621"/>
            </a:gs>
            <a:gs pos="100000">
              <a:srgbClr val="02070D"/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erimeter">
            <a:extLst xmlns:a="http://schemas.openxmlformats.org/drawingml/2006/main">
              <a:ext uri="{FF2B5EF4-FFF2-40B4-BE49-F238E27FC236}">
                <a16:creationId xmlns:a16="http://schemas.microsoft.com/office/drawing/2014/main" id="{C8979581-26C8-4F41-95F9-427206DDF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152400"/>
            <a:ext cx="11887200" cy="6553200"/>
          </a:xfrm>
          <a:prstGeom xmlns:a="http://schemas.openxmlformats.org/drawingml/2006/main" prst="roundRect">
            <a:avLst>
              <a:gd name="adj" fmla="val 1163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176171"/>
            </a:solidFill>
            <a:prstDash val="solid"/>
          </a:ln>
        </p:spPr>
      </p:sp>
      <p:sp>
        <p:nvSpPr>
          <p:cNvPr id="2" name="left-guide">
            <a:extLst xmlns:a="http://schemas.openxmlformats.org/drawingml/2006/main">
              <a:ext uri="{FF2B5EF4-FFF2-40B4-BE49-F238E27FC236}">
                <a16:creationId xmlns:a16="http://schemas.microsoft.com/office/drawing/2014/main" id="{43DC2D93-5770-481D-B77B-636CDEF21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66700"/>
            <a:ext cx="9525" cy="632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3D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node">
            <a:extLst xmlns:a="http://schemas.openxmlformats.org/drawingml/2006/main">
              <a:ext uri="{FF2B5EF4-FFF2-40B4-BE49-F238E27FC236}">
                <a16:creationId xmlns:a16="http://schemas.microsoft.com/office/drawing/2014/main" id="{F280DF1F-5661-4EDD-B674-18391E278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2381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F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ottom-node">
            <a:extLst xmlns:a="http://schemas.openxmlformats.org/drawingml/2006/main">
              <a:ext uri="{FF2B5EF4-FFF2-40B4-BE49-F238E27FC236}">
                <a16:creationId xmlns:a16="http://schemas.microsoft.com/office/drawing/2014/main" id="{35B1FD66-1BC0-40CB-A7F8-A2FF053C5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65627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B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ge-eyebrow">
            <a:extLst xmlns:a="http://schemas.openxmlformats.org/drawingml/2006/main">
              <a:ext uri="{FF2B5EF4-FFF2-40B4-BE49-F238E27FC236}">
                <a16:creationId xmlns:a16="http://schemas.microsoft.com/office/drawing/2014/main" id="{5AD5E85D-98CC-49BD-9E9E-350B4FE63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35E0DF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 i="0">
                <a:solidFill>
                  <a:srgbClr val="35E0DF"/>
                </a:solidFill>
                <a:latin typeface="Nimbus Sans"/>
                <a:ea typeface="Nimbus Sans"/>
                <a:cs typeface="Nimbus Sans"/>
              </a:rPr>
              <a:t>10</a:t>
            </a:r>
          </a:p>
        </p:txBody>
      </p:sp>
      <p:sp>
        <p:nvSpPr>
          <p:cNvPr id="6" name="section-eyebrow">
            <a:extLst xmlns:a="http://schemas.openxmlformats.org/drawingml/2006/main">
              <a:ext uri="{FF2B5EF4-FFF2-40B4-BE49-F238E27FC236}">
                <a16:creationId xmlns:a16="http://schemas.microsoft.com/office/drawing/2014/main" id="{38B6169A-7C8A-4D91-929B-147949402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622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77F0E4"/>
                </a:solidFill>
                <a:latin typeface="Nimbus Sans"/>
                <a:ea typeface="Nimbus Sans"/>
                <a:cs typeface="Nimbus Sans"/>
              </a:defRPr>
            </a:pPr>
            <a:r>
              <a:rPr sz="1125" b="1" i="0">
                <a:solidFill>
                  <a:srgbClr val="77F0E4"/>
                </a:solidFill>
                <a:latin typeface="Nimbus Sans"/>
                <a:ea typeface="Nimbus Sans"/>
                <a:cs typeface="Nimbus Sans"/>
              </a:rPr>
              <a:t>BUSINESS + PLATFORM STRATEGY</a:t>
            </a:r>
          </a:p>
        </p:txBody>
      </p:sp>
      <p:sp>
        <p:nvSpPr>
          <p:cNvPr id="7" name="section-rule">
            <a:extLst xmlns:a="http://schemas.openxmlformats.org/drawingml/2006/main">
              <a:ext uri="{FF2B5EF4-FFF2-40B4-BE49-F238E27FC236}">
                <a16:creationId xmlns:a16="http://schemas.microsoft.com/office/drawing/2014/main" id="{0418BA65-A56C-4706-A002-1E745C15F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1500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E0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headline-white">
            <a:extLst xmlns:a="http://schemas.openxmlformats.org/drawingml/2006/main">
              <a:ext uri="{FF2B5EF4-FFF2-40B4-BE49-F238E27FC236}">
                <a16:creationId xmlns:a16="http://schemas.microsoft.com/office/drawing/2014/main" id="{C38107C0-213E-4046-99B6-D36CE2E80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42950"/>
            <a:ext cx="11201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000" b="1" i="0">
                <a:solidFill>
                  <a:srgbClr val="F5F8FA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 i="0">
                <a:solidFill>
                  <a:srgbClr val="F5F8FA"/>
                </a:solidFill>
                <a:latin typeface="Nimbus Sans"/>
                <a:ea typeface="Nimbus Sans"/>
                <a:cs typeface="Nimbus Sans"/>
              </a:rPr>
              <a:t>The same product thinking extends</a:t>
            </a:r>
          </a:p>
        </p:txBody>
      </p:sp>
      <p:sp>
        <p:nvSpPr>
          <p:cNvPr id="9" name="headline-cyan">
            <a:extLst xmlns:a="http://schemas.openxmlformats.org/drawingml/2006/main">
              <a:ext uri="{FF2B5EF4-FFF2-40B4-BE49-F238E27FC236}">
                <a16:creationId xmlns:a16="http://schemas.microsoft.com/office/drawing/2014/main" id="{078BD33C-4930-465A-B258-ED95AA141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71575"/>
            <a:ext cx="11201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000" b="1" i="0">
                <a:solidFill>
                  <a:srgbClr val="35E0DF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 i="0">
                <a:solidFill>
                  <a:srgbClr val="35E0DF"/>
                </a:solidFill>
                <a:latin typeface="Nimbus Sans"/>
                <a:ea typeface="Nimbus Sans"/>
                <a:cs typeface="Nimbus Sans"/>
              </a:rPr>
              <a:t>from creator value to enterprise readiness.</a:t>
            </a:r>
          </a:p>
        </p:txBody>
      </p:sp>
      <p:sp>
        <p:nvSpPr>
          <p:cNvPr id="10" name="subhead">
            <a:extLst xmlns:a="http://schemas.openxmlformats.org/drawingml/2006/main">
              <a:ext uri="{FF2B5EF4-FFF2-40B4-BE49-F238E27FC236}">
                <a16:creationId xmlns:a16="http://schemas.microsoft.com/office/drawing/2014/main" id="{9108FFBF-E89A-4ED0-A1B1-3E1B748DB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95450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 i="0">
                <a:solidFill>
                  <a:srgbClr val="D6E0E5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 i="0">
                <a:solidFill>
                  <a:srgbClr val="D6E0E5"/>
                </a:solidFill>
                <a:latin typeface="Nimbus Sans"/>
                <a:ea typeface="Nimbus Sans"/>
                <a:cs typeface="Nimbus Sans"/>
              </a:rPr>
              <a:t>B2C provides the proving ground. Studio adoption requires policy, deployment, billing, audit, rights, and partner boundaries.</a:t>
            </a:r>
          </a:p>
        </p:txBody>
      </p:sp>
      <p:sp>
        <p:nvSpPr>
          <p:cNvPr id="11" name="strategy-line">
            <a:extLst xmlns:a="http://schemas.openxmlformats.org/drawingml/2006/main">
              <a:ext uri="{FF2B5EF4-FFF2-40B4-BE49-F238E27FC236}">
                <a16:creationId xmlns:a16="http://schemas.microsoft.com/office/drawing/2014/main" id="{868993C4-47BC-4102-A75E-458E1B275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57500"/>
            <a:ext cx="895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17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tage-1-node">
            <a:extLst xmlns:a="http://schemas.openxmlformats.org/drawingml/2006/main">
              <a:ext uri="{FF2B5EF4-FFF2-40B4-BE49-F238E27FC236}">
                <a16:creationId xmlns:a16="http://schemas.microsoft.com/office/drawing/2014/main" id="{5FFEEA63-413D-434D-A690-9203C78EE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6860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070D"/>
          </a:solidFill>
          <a:ln xmlns:a="http://schemas.openxmlformats.org/drawingml/2006/main" w="14288">
            <a:solidFill>
              <a:srgbClr val="35E0DF"/>
            </a:solidFill>
            <a:prstDash val="solid"/>
          </a:ln>
        </p:spPr>
      </p:sp>
      <p:sp>
        <p:nvSpPr>
          <p:cNvPr id="13" name="stage-1-number">
            <a:extLst xmlns:a="http://schemas.openxmlformats.org/drawingml/2006/main">
              <a:ext uri="{FF2B5EF4-FFF2-40B4-BE49-F238E27FC236}">
                <a16:creationId xmlns:a16="http://schemas.microsoft.com/office/drawing/2014/main" id="{ADE59D2B-972C-4ED1-B561-56A8BD109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77177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 i="0">
                <a:solidFill>
                  <a:srgbClr val="77F0E4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77F0E4"/>
                </a:solidFill>
                <a:latin typeface="Nimbus Sans"/>
                <a:ea typeface="Nimbus Sans"/>
                <a:cs typeface="Nimbus Sans"/>
              </a:rPr>
              <a:t>01</a:t>
            </a:r>
          </a:p>
        </p:txBody>
      </p:sp>
      <p:sp>
        <p:nvSpPr>
          <p:cNvPr id="14" name="strategy-1-label">
            <a:extLst xmlns:a="http://schemas.openxmlformats.org/drawingml/2006/main">
              <a:ext uri="{FF2B5EF4-FFF2-40B4-BE49-F238E27FC236}">
                <a16:creationId xmlns:a16="http://schemas.microsoft.com/office/drawing/2014/main" id="{C9CFAF37-596A-40B4-A09C-39911D34D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194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35E0DF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35E0DF"/>
                </a:solidFill>
                <a:latin typeface="Nimbus Sans"/>
                <a:ea typeface="Nimbus Sans"/>
                <a:cs typeface="Nimbus Sans"/>
              </a:rPr>
              <a:t>B2C PRODUCT</a:t>
            </a:r>
          </a:p>
        </p:txBody>
      </p:sp>
      <p:sp>
        <p:nvSpPr>
          <p:cNvPr id="15" name="strategy-1-title">
            <a:extLst xmlns:a="http://schemas.openxmlformats.org/drawingml/2006/main">
              <a:ext uri="{FF2B5EF4-FFF2-40B4-BE49-F238E27FC236}">
                <a16:creationId xmlns:a16="http://schemas.microsoft.com/office/drawing/2014/main" id="{BEF5BBF2-EBA5-47F0-855B-52939F414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24250"/>
            <a:ext cx="228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1" i="0">
                <a:solidFill>
                  <a:srgbClr val="F5F8FA"/>
                </a:solidFill>
                <a:latin typeface="Nimbus Sans"/>
                <a:ea typeface="Nimbus Sans"/>
                <a:cs typeface="Nimbus Sans"/>
              </a:defRPr>
            </a:pPr>
            <a:r>
              <a:rPr sz="1725" b="1" i="0">
                <a:solidFill>
                  <a:srgbClr val="F5F8FA"/>
                </a:solidFill>
                <a:latin typeface="Nimbus Sans"/>
                <a:ea typeface="Nimbus Sans"/>
                <a:cs typeface="Nimbus Sans"/>
              </a:rPr>
              <a:t>Prove artist value</a:t>
            </a:r>
          </a:p>
        </p:txBody>
      </p:sp>
      <p:sp>
        <p:nvSpPr>
          <p:cNvPr id="16" name="strategy-1-rule">
            <a:extLst xmlns:a="http://schemas.openxmlformats.org/drawingml/2006/main">
              <a:ext uri="{FF2B5EF4-FFF2-40B4-BE49-F238E27FC236}">
                <a16:creationId xmlns:a16="http://schemas.microsoft.com/office/drawing/2014/main" id="{B247DC50-5B92-45C6-ADC9-EBAA04E03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71950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E0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trategy-1-body">
            <a:extLst xmlns:a="http://schemas.openxmlformats.org/drawingml/2006/main">
              <a:ext uri="{FF2B5EF4-FFF2-40B4-BE49-F238E27FC236}">
                <a16:creationId xmlns:a16="http://schemas.microsoft.com/office/drawing/2014/main" id="{2DE344B2-DD4B-462A-94BE-FF2239C04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00550"/>
            <a:ext cx="23336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 i="0">
                <a:solidFill>
                  <a:srgbClr val="D6E0E5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 i="0">
                <a:solidFill>
                  <a:srgbClr val="D6E0E5"/>
                </a:solidFill>
                <a:latin typeface="Nimbus Sans"/>
                <a:ea typeface="Nimbus Sans"/>
                <a:cs typeface="Nimbus Sans"/>
              </a:rPr>
              <a:t>Fast onboarding, clear controls, visible results, reliable workflows.</a:t>
            </a:r>
          </a:p>
        </p:txBody>
      </p:sp>
      <p:sp>
        <p:nvSpPr>
          <p:cNvPr id="18" name="stage-2-node">
            <a:extLst xmlns:a="http://schemas.openxmlformats.org/drawingml/2006/main">
              <a:ext uri="{FF2B5EF4-FFF2-40B4-BE49-F238E27FC236}">
                <a16:creationId xmlns:a16="http://schemas.microsoft.com/office/drawing/2014/main" id="{4B7E9A99-2BB1-4650-ACD2-67C42B05E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6860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070D"/>
          </a:solidFill>
          <a:ln xmlns:a="http://schemas.openxmlformats.org/drawingml/2006/main" w="14288">
            <a:solidFill>
              <a:srgbClr val="35E0DF"/>
            </a:solidFill>
            <a:prstDash val="solid"/>
          </a:ln>
        </p:spPr>
      </p:sp>
      <p:sp>
        <p:nvSpPr>
          <p:cNvPr id="19" name="stage-2-number">
            <a:extLst xmlns:a="http://schemas.openxmlformats.org/drawingml/2006/main">
              <a:ext uri="{FF2B5EF4-FFF2-40B4-BE49-F238E27FC236}">
                <a16:creationId xmlns:a16="http://schemas.microsoft.com/office/drawing/2014/main" id="{E38CE3D2-5289-4914-8C2F-CA9049AC2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77177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 i="0">
                <a:solidFill>
                  <a:srgbClr val="77F0E4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77F0E4"/>
                </a:solidFill>
                <a:latin typeface="Nimbus Sans"/>
                <a:ea typeface="Nimbus Sans"/>
                <a:cs typeface="Nimbus Sans"/>
              </a:rPr>
              <a:t>02</a:t>
            </a:r>
          </a:p>
        </p:txBody>
      </p:sp>
      <p:sp>
        <p:nvSpPr>
          <p:cNvPr id="20" name="strategy-2-label">
            <a:extLst xmlns:a="http://schemas.openxmlformats.org/drawingml/2006/main">
              <a:ext uri="{FF2B5EF4-FFF2-40B4-BE49-F238E27FC236}">
                <a16:creationId xmlns:a16="http://schemas.microsoft.com/office/drawing/2014/main" id="{07D284CA-4C0A-46F7-9FD5-795AC629D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2194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35E0DF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35E0DF"/>
                </a:solidFill>
                <a:latin typeface="Nimbus Sans"/>
                <a:ea typeface="Nimbus Sans"/>
                <a:cs typeface="Nimbus Sans"/>
              </a:rPr>
              <a:t>TEAM + STUDIO</a:t>
            </a:r>
          </a:p>
        </p:txBody>
      </p:sp>
      <p:sp>
        <p:nvSpPr>
          <p:cNvPr id="21" name="strategy-2-title">
            <a:extLst xmlns:a="http://schemas.openxmlformats.org/drawingml/2006/main">
              <a:ext uri="{FF2B5EF4-FFF2-40B4-BE49-F238E27FC236}">
                <a16:creationId xmlns:a16="http://schemas.microsoft.com/office/drawing/2014/main" id="{782A6F4C-7014-4B0B-B0ED-18E0EDEEE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524250"/>
            <a:ext cx="228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1" i="0">
                <a:solidFill>
                  <a:srgbClr val="F5F8FA"/>
                </a:solidFill>
                <a:latin typeface="Nimbus Sans"/>
                <a:ea typeface="Nimbus Sans"/>
                <a:cs typeface="Nimbus Sans"/>
              </a:defRPr>
            </a:pPr>
            <a:r>
              <a:rPr sz="1725" b="1" i="0">
                <a:solidFill>
                  <a:srgbClr val="F5F8FA"/>
                </a:solidFill>
                <a:latin typeface="Nimbus Sans"/>
                <a:ea typeface="Nimbus Sans"/>
                <a:cs typeface="Nimbus Sans"/>
              </a:rPr>
              <a:t>Add production trust</a:t>
            </a:r>
          </a:p>
        </p:txBody>
      </p:sp>
      <p:sp>
        <p:nvSpPr>
          <p:cNvPr id="22" name="strategy-2-rule">
            <a:extLst xmlns:a="http://schemas.openxmlformats.org/drawingml/2006/main">
              <a:ext uri="{FF2B5EF4-FFF2-40B4-BE49-F238E27FC236}">
                <a16:creationId xmlns:a16="http://schemas.microsoft.com/office/drawing/2014/main" id="{145725F9-25D0-4A1B-B3AE-1627A7740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171950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E0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trategy-2-body">
            <a:extLst xmlns:a="http://schemas.openxmlformats.org/drawingml/2006/main">
              <a:ext uri="{FF2B5EF4-FFF2-40B4-BE49-F238E27FC236}">
                <a16:creationId xmlns:a16="http://schemas.microsoft.com/office/drawing/2014/main" id="{792E6F71-C2DB-427F-A7F1-3559D2A5B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400550"/>
            <a:ext cx="23336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 i="0">
                <a:solidFill>
                  <a:srgbClr val="D6E0E5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 i="0">
                <a:solidFill>
                  <a:srgbClr val="D6E0E5"/>
                </a:solidFill>
                <a:latin typeface="Nimbus Sans"/>
                <a:ea typeface="Nimbus Sans"/>
                <a:cs typeface="Nimbus Sans"/>
              </a:rPr>
              <a:t>Identity, projects, policy, credits, receipts, packages, deployment profiles.</a:t>
            </a:r>
          </a:p>
        </p:txBody>
      </p:sp>
      <p:sp>
        <p:nvSpPr>
          <p:cNvPr id="24" name="stage-3-node">
            <a:extLst xmlns:a="http://schemas.openxmlformats.org/drawingml/2006/main">
              <a:ext uri="{FF2B5EF4-FFF2-40B4-BE49-F238E27FC236}">
                <a16:creationId xmlns:a16="http://schemas.microsoft.com/office/drawing/2014/main" id="{0C17E6D6-37B0-4BD1-A49E-9EFBCC609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6860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070D"/>
          </a:solidFill>
          <a:ln xmlns:a="http://schemas.openxmlformats.org/drawingml/2006/main" w="14288">
            <a:solidFill>
              <a:srgbClr val="35E0DF"/>
            </a:solidFill>
            <a:prstDash val="solid"/>
          </a:ln>
        </p:spPr>
      </p:sp>
      <p:sp>
        <p:nvSpPr>
          <p:cNvPr id="25" name="stage-3-number">
            <a:extLst xmlns:a="http://schemas.openxmlformats.org/drawingml/2006/main">
              <a:ext uri="{FF2B5EF4-FFF2-40B4-BE49-F238E27FC236}">
                <a16:creationId xmlns:a16="http://schemas.microsoft.com/office/drawing/2014/main" id="{8B8A55A7-87E7-46DA-9DB9-7D7BA03B3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77177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 i="0">
                <a:solidFill>
                  <a:srgbClr val="77F0E4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77F0E4"/>
                </a:solidFill>
                <a:latin typeface="Nimbus Sans"/>
                <a:ea typeface="Nimbus Sans"/>
                <a:cs typeface="Nimbus Sans"/>
              </a:rPr>
              <a:t>03</a:t>
            </a:r>
          </a:p>
        </p:txBody>
      </p:sp>
      <p:sp>
        <p:nvSpPr>
          <p:cNvPr id="26" name="strategy-3-label">
            <a:extLst xmlns:a="http://schemas.openxmlformats.org/drawingml/2006/main">
              <a:ext uri="{FF2B5EF4-FFF2-40B4-BE49-F238E27FC236}">
                <a16:creationId xmlns:a16="http://schemas.microsoft.com/office/drawing/2014/main" id="{2C0D26FF-58AB-49D9-847F-9BF7E39C3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194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35E0DF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35E0DF"/>
                </a:solidFill>
                <a:latin typeface="Nimbus Sans"/>
                <a:ea typeface="Nimbus Sans"/>
                <a:cs typeface="Nimbus Sans"/>
              </a:rPr>
              <a:t>PARTNER LAYER</a:t>
            </a:r>
          </a:p>
        </p:txBody>
      </p:sp>
      <p:sp>
        <p:nvSpPr>
          <p:cNvPr id="27" name="strategy-3-title">
            <a:extLst xmlns:a="http://schemas.openxmlformats.org/drawingml/2006/main">
              <a:ext uri="{FF2B5EF4-FFF2-40B4-BE49-F238E27FC236}">
                <a16:creationId xmlns:a16="http://schemas.microsoft.com/office/drawing/2014/main" id="{FA7C0329-B3D5-43E0-AF20-2FA758617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24250"/>
            <a:ext cx="228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1" i="0">
                <a:solidFill>
                  <a:srgbClr val="F5F8FA"/>
                </a:solidFill>
                <a:latin typeface="Nimbus Sans"/>
                <a:ea typeface="Nimbus Sans"/>
                <a:cs typeface="Nimbus Sans"/>
              </a:defRPr>
            </a:pPr>
            <a:r>
              <a:rPr sz="1725" b="1" i="0">
                <a:solidFill>
                  <a:srgbClr val="F5F8FA"/>
                </a:solidFill>
                <a:latin typeface="Nimbus Sans"/>
                <a:ea typeface="Nimbus Sans"/>
                <a:cs typeface="Nimbus Sans"/>
              </a:rPr>
              <a:t>Connect the ecosystem</a:t>
            </a:r>
          </a:p>
        </p:txBody>
      </p:sp>
      <p:sp>
        <p:nvSpPr>
          <p:cNvPr id="28" name="strategy-3-rule">
            <a:extLst xmlns:a="http://schemas.openxmlformats.org/drawingml/2006/main">
              <a:ext uri="{FF2B5EF4-FFF2-40B4-BE49-F238E27FC236}">
                <a16:creationId xmlns:a16="http://schemas.microsoft.com/office/drawing/2014/main" id="{2183AFF8-CC4D-4ADE-8DC7-4548E4773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171950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E0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strategy-3-body">
            <a:extLst xmlns:a="http://schemas.openxmlformats.org/drawingml/2006/main">
              <a:ext uri="{FF2B5EF4-FFF2-40B4-BE49-F238E27FC236}">
                <a16:creationId xmlns:a16="http://schemas.microsoft.com/office/drawing/2014/main" id="{2653A785-2B8D-44C2-8543-D06075614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400550"/>
            <a:ext cx="23336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 i="0">
                <a:solidFill>
                  <a:srgbClr val="D6E0E5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 i="0">
                <a:solidFill>
                  <a:srgbClr val="D6E0E5"/>
                </a:solidFill>
                <a:latin typeface="Nimbus Sans"/>
                <a:ea typeface="Nimbus Sans"/>
                <a:cs typeface="Nimbus Sans"/>
              </a:rPr>
              <a:t>Approved providers, MCP boundaries, agent planning, studio integrations.</a:t>
            </a:r>
          </a:p>
        </p:txBody>
      </p:sp>
      <p:sp>
        <p:nvSpPr>
          <p:cNvPr id="30" name="stage-4-node">
            <a:extLst xmlns:a="http://schemas.openxmlformats.org/drawingml/2006/main">
              <a:ext uri="{FF2B5EF4-FFF2-40B4-BE49-F238E27FC236}">
                <a16:creationId xmlns:a16="http://schemas.microsoft.com/office/drawing/2014/main" id="{6C334FDF-FF8A-4EDC-9B52-BFD3DBD3B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6860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070D"/>
          </a:solidFill>
          <a:ln xmlns:a="http://schemas.openxmlformats.org/drawingml/2006/main" w="14288">
            <a:solidFill>
              <a:srgbClr val="35E0DF"/>
            </a:solidFill>
            <a:prstDash val="solid"/>
          </a:ln>
        </p:spPr>
      </p:sp>
      <p:sp>
        <p:nvSpPr>
          <p:cNvPr id="31" name="stage-4-number">
            <a:extLst xmlns:a="http://schemas.openxmlformats.org/drawingml/2006/main">
              <a:ext uri="{FF2B5EF4-FFF2-40B4-BE49-F238E27FC236}">
                <a16:creationId xmlns:a16="http://schemas.microsoft.com/office/drawing/2014/main" id="{687BE64E-6F37-4F07-8DBA-8BA2DD04F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77177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 i="0">
                <a:solidFill>
                  <a:srgbClr val="77F0E4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77F0E4"/>
                </a:solidFill>
                <a:latin typeface="Nimbus Sans"/>
                <a:ea typeface="Nimbus Sans"/>
                <a:cs typeface="Nimbus Sans"/>
              </a:rPr>
              <a:t>04</a:t>
            </a:r>
          </a:p>
        </p:txBody>
      </p:sp>
      <p:sp>
        <p:nvSpPr>
          <p:cNvPr id="32" name="strategy-4-label">
            <a:extLst xmlns:a="http://schemas.openxmlformats.org/drawingml/2006/main">
              <a:ext uri="{FF2B5EF4-FFF2-40B4-BE49-F238E27FC236}">
                <a16:creationId xmlns:a16="http://schemas.microsoft.com/office/drawing/2014/main" id="{C40AED5A-F11B-4D8C-A945-D93BE3FEB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2194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35E0DF"/>
                </a:solidFill>
                <a:latin typeface="Nimbus Sans"/>
                <a:ea typeface="Nimbus Sans"/>
                <a:cs typeface="Nimbus Sans"/>
              </a:defRPr>
            </a:pPr>
            <a:r>
              <a:rPr sz="975" b="1" i="0">
                <a:solidFill>
                  <a:srgbClr val="35E0DF"/>
                </a:solidFill>
                <a:latin typeface="Nimbus Sans"/>
                <a:ea typeface="Nimbus Sans"/>
                <a:cs typeface="Nimbus Sans"/>
              </a:rPr>
              <a:t>CREATOR ECONOMY</a:t>
            </a:r>
          </a:p>
        </p:txBody>
      </p:sp>
      <p:sp>
        <p:nvSpPr>
          <p:cNvPr id="33" name="strategy-4-title">
            <a:extLst xmlns:a="http://schemas.openxmlformats.org/drawingml/2006/main">
              <a:ext uri="{FF2B5EF4-FFF2-40B4-BE49-F238E27FC236}">
                <a16:creationId xmlns:a16="http://schemas.microsoft.com/office/drawing/2014/main" id="{37B52327-ADD9-48D5-8CA5-F52DB4BBB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524250"/>
            <a:ext cx="228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1" i="0">
                <a:solidFill>
                  <a:srgbClr val="F5F8FA"/>
                </a:solidFill>
                <a:latin typeface="Nimbus Sans"/>
                <a:ea typeface="Nimbus Sans"/>
                <a:cs typeface="Nimbus Sans"/>
              </a:defRPr>
            </a:pPr>
            <a:r>
              <a:rPr sz="1725" b="1" i="0">
                <a:solidFill>
                  <a:srgbClr val="F5F8FA"/>
                </a:solidFill>
                <a:latin typeface="Nimbus Sans"/>
                <a:ea typeface="Nimbus Sans"/>
                <a:cs typeface="Nimbus Sans"/>
              </a:rPr>
              <a:t>Monetize methods</a:t>
            </a:r>
          </a:p>
        </p:txBody>
      </p:sp>
      <p:sp>
        <p:nvSpPr>
          <p:cNvPr id="34" name="strategy-4-rule">
            <a:extLst xmlns:a="http://schemas.openxmlformats.org/drawingml/2006/main">
              <a:ext uri="{FF2B5EF4-FFF2-40B4-BE49-F238E27FC236}">
                <a16:creationId xmlns:a16="http://schemas.microsoft.com/office/drawing/2014/main" id="{C3DAADDB-F289-4C1E-852A-559B605CB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171950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E0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strategy-4-body">
            <a:extLst xmlns:a="http://schemas.openxmlformats.org/drawingml/2006/main">
              <a:ext uri="{FF2B5EF4-FFF2-40B4-BE49-F238E27FC236}">
                <a16:creationId xmlns:a16="http://schemas.microsoft.com/office/drawing/2014/main" id="{679BAD19-76A5-49FD-975E-4F1FEC799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400550"/>
            <a:ext cx="23336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 i="0">
                <a:solidFill>
                  <a:srgbClr val="D6E0E5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 i="0">
                <a:solidFill>
                  <a:srgbClr val="D6E0E5"/>
                </a:solidFill>
                <a:latin typeface="Nimbus Sans"/>
                <a:ea typeface="Nimbus Sans"/>
                <a:cs typeface="Nimbus Sans"/>
              </a:rPr>
              <a:t>Private Packs first; curated reusable workflows once rights and trust are proven.</a:t>
            </a:r>
          </a:p>
        </p:txBody>
      </p:sp>
      <p:sp>
        <p:nvSpPr>
          <p:cNvPr id="36" name="strategy-callout-panel">
            <a:extLst xmlns:a="http://schemas.openxmlformats.org/drawingml/2006/main">
              <a:ext uri="{FF2B5EF4-FFF2-40B4-BE49-F238E27FC236}">
                <a16:creationId xmlns:a16="http://schemas.microsoft.com/office/drawing/2014/main" id="{B3905E83-2677-4A7D-BEDA-5D48EE065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19750"/>
            <a:ext cx="1009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92330"/>
          </a:solidFill>
          <a:ln xmlns:a="http://schemas.openxmlformats.org/drawingml/2006/main" w="9525">
            <a:solidFill>
              <a:srgbClr val="176171"/>
            </a:solidFill>
            <a:prstDash val="solid"/>
          </a:ln>
        </p:spPr>
      </p:sp>
      <p:sp>
        <p:nvSpPr>
          <p:cNvPr id="37" name="strategy-callout">
            <a:extLst xmlns:a="http://schemas.openxmlformats.org/drawingml/2006/main">
              <a:ext uri="{FF2B5EF4-FFF2-40B4-BE49-F238E27FC236}">
                <a16:creationId xmlns:a16="http://schemas.microsoft.com/office/drawing/2014/main" id="{BCFB08D2-2359-453B-B2AA-0BC06D794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762625"/>
            <a:ext cx="956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 i="0">
                <a:solidFill>
                  <a:srgbClr val="F5F8FA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 i="0">
                <a:solidFill>
                  <a:srgbClr val="F5F8FA"/>
                </a:solidFill>
                <a:latin typeface="Nimbus Sans"/>
                <a:ea typeface="Nimbus Sans"/>
                <a:cs typeface="Nimbus Sans"/>
              </a:rPr>
              <a:t>I can help a team connect the creative experience, the technical boundary, and the business sequence.</a:t>
            </a:r>
          </a:p>
        </p:txBody>
      </p:sp>
      <p:sp>
        <p:nvSpPr>
          <p:cNvPr id="38" name="footer-rule">
            <a:extLst xmlns:a="http://schemas.openxmlformats.org/drawingml/2006/main">
              <a:ext uri="{FF2B5EF4-FFF2-40B4-BE49-F238E27FC236}">
                <a16:creationId xmlns:a16="http://schemas.microsoft.com/office/drawing/2014/main" id="{70838B33-2C81-4855-9CAF-5F9B39352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29375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3D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footer-identity">
            <a:extLst xmlns:a="http://schemas.openxmlformats.org/drawingml/2006/main">
              <a:ext uri="{FF2B5EF4-FFF2-40B4-BE49-F238E27FC236}">
                <a16:creationId xmlns:a16="http://schemas.microsoft.com/office/drawing/2014/main" id="{71CB87DE-09C2-4887-85CD-80C5D5015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 i="0">
                <a:solidFill>
                  <a:srgbClr val="91A7B1"/>
                </a:solidFill>
                <a:latin typeface="Nimbus Sans"/>
                <a:ea typeface="Nimbus Sans"/>
                <a:cs typeface="Nimbus Sans"/>
              </a:defRPr>
            </a:pPr>
            <a:r>
              <a:rPr sz="900" b="0" i="0">
                <a:solidFill>
                  <a:srgbClr val="91A7B1"/>
                </a:solidFill>
                <a:latin typeface="Nimbus Sans"/>
                <a:ea typeface="Nimbus Sans"/>
                <a:cs typeface="Nimbus Sans"/>
              </a:rPr>
              <a:t>RONNIE CLELAND · CREATIVE AI PLATFORM ARCHITECT</a:t>
            </a:r>
          </a:p>
        </p:txBody>
      </p:sp>
      <p:sp>
        <p:nvSpPr>
          <p:cNvPr id="40" name="footer-page">
            <a:extLst xmlns:a="http://schemas.openxmlformats.org/drawingml/2006/main">
              <a:ext uri="{FF2B5EF4-FFF2-40B4-BE49-F238E27FC236}">
                <a16:creationId xmlns:a16="http://schemas.microsoft.com/office/drawing/2014/main" id="{5EA7CA20-6FF5-44AC-8770-68E6AF04B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1510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 i="0">
                <a:solidFill>
                  <a:srgbClr val="91A7B1"/>
                </a:solidFill>
                <a:latin typeface="Nimbus Sans"/>
                <a:ea typeface="Nimbus Sans"/>
                <a:cs typeface="Nimbus Sans"/>
              </a:defRPr>
            </a:pPr>
            <a:r>
              <a:rPr sz="900" b="0" i="0">
                <a:solidFill>
                  <a:srgbClr val="91A7B1"/>
                </a:solidFill>
                <a:latin typeface="Nimbus Sans"/>
                <a:ea typeface="Nimbus Sans"/>
                <a:cs typeface="Nimbus Sans"/>
              </a:rPr>
              <a:t>10 / 12</a:t>
            </a:r>
          </a:p>
        </p:txBody>
      </p:sp>
    </p:spTree>
    <p:extLst>
      <p:ext uri="{BB962C8B-B14F-4D97-AF65-F5344CB8AC3E}">
        <p14:creationId xmlns:p14="http://schemas.microsoft.com/office/powerpoint/2010/main" val="481173534"/>
      </p:ext>
    </p:extLst>
  </p:cSld>
</p:sld>
</file>

<file path=ppt/slides/slide1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2070D"/>
            </a:gs>
            <a:gs pos="58000">
              <a:srgbClr val="061621"/>
            </a:gs>
            <a:gs pos="100000">
              <a:srgbClr val="02070D"/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erimeter">
            <a:extLst xmlns:a="http://schemas.openxmlformats.org/drawingml/2006/main">
              <a:ext uri="{FF2B5EF4-FFF2-40B4-BE49-F238E27FC236}">
                <a16:creationId xmlns:a16="http://schemas.microsoft.com/office/drawing/2014/main" id="{F1579A07-AF14-4A18-A4BA-7CD9CE5C8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152400"/>
            <a:ext cx="11887200" cy="6553200"/>
          </a:xfrm>
          <a:prstGeom xmlns:a="http://schemas.openxmlformats.org/drawingml/2006/main" prst="roundRect">
            <a:avLst>
              <a:gd name="adj" fmla="val 1163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176171"/>
            </a:solidFill>
            <a:prstDash val="solid"/>
          </a:ln>
        </p:spPr>
      </p:sp>
      <p:sp>
        <p:nvSpPr>
          <p:cNvPr id="2" name="left-guide">
            <a:extLst xmlns:a="http://schemas.openxmlformats.org/drawingml/2006/main">
              <a:ext uri="{FF2B5EF4-FFF2-40B4-BE49-F238E27FC236}">
                <a16:creationId xmlns:a16="http://schemas.microsoft.com/office/drawing/2014/main" id="{28E6F0C8-8149-4A35-8838-86E846BC1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66700"/>
            <a:ext cx="9525" cy="632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3D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node">
            <a:extLst xmlns:a="http://schemas.openxmlformats.org/drawingml/2006/main">
              <a:ext uri="{FF2B5EF4-FFF2-40B4-BE49-F238E27FC236}">
                <a16:creationId xmlns:a16="http://schemas.microsoft.com/office/drawing/2014/main" id="{C2915D95-76F0-4DB1-B958-15048F02D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2381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F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ottom-node">
            <a:extLst xmlns:a="http://schemas.openxmlformats.org/drawingml/2006/main">
              <a:ext uri="{FF2B5EF4-FFF2-40B4-BE49-F238E27FC236}">
                <a16:creationId xmlns:a16="http://schemas.microsoft.com/office/drawing/2014/main" id="{9484D8B6-B7C6-4AD5-B3FD-9EBBD14AA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65627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B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ge-eyebrow">
            <a:extLst xmlns:a="http://schemas.openxmlformats.org/drawingml/2006/main">
              <a:ext uri="{FF2B5EF4-FFF2-40B4-BE49-F238E27FC236}">
                <a16:creationId xmlns:a16="http://schemas.microsoft.com/office/drawing/2014/main" id="{6BF13B3A-EC68-4D22-89CA-2DBE90EA9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35E0DF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 i="0">
                <a:solidFill>
                  <a:srgbClr val="35E0DF"/>
                </a:solidFill>
                <a:latin typeface="Nimbus Sans"/>
                <a:ea typeface="Nimbus Sans"/>
                <a:cs typeface="Nimbus Sans"/>
              </a:rPr>
              <a:t>11</a:t>
            </a:r>
          </a:p>
        </p:txBody>
      </p:sp>
      <p:sp>
        <p:nvSpPr>
          <p:cNvPr id="6" name="section-eyebrow">
            <a:extLst xmlns:a="http://schemas.openxmlformats.org/drawingml/2006/main">
              <a:ext uri="{FF2B5EF4-FFF2-40B4-BE49-F238E27FC236}">
                <a16:creationId xmlns:a16="http://schemas.microsoft.com/office/drawing/2014/main" id="{471CC9E5-43B5-43C4-8B0F-3F8D0FF03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622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77F0E4"/>
                </a:solidFill>
                <a:latin typeface="Nimbus Sans"/>
                <a:ea typeface="Nimbus Sans"/>
                <a:cs typeface="Nimbus Sans"/>
              </a:defRPr>
            </a:pPr>
            <a:r>
              <a:rPr sz="1125" b="1" i="0">
                <a:solidFill>
                  <a:srgbClr val="77F0E4"/>
                </a:solidFill>
                <a:latin typeface="Nimbus Sans"/>
                <a:ea typeface="Nimbus Sans"/>
                <a:cs typeface="Nimbus Sans"/>
              </a:rPr>
              <a:t>DIFFERENTIATION</a:t>
            </a:r>
          </a:p>
        </p:txBody>
      </p:sp>
      <p:sp>
        <p:nvSpPr>
          <p:cNvPr id="7" name="section-rule">
            <a:extLst xmlns:a="http://schemas.openxmlformats.org/drawingml/2006/main">
              <a:ext uri="{FF2B5EF4-FFF2-40B4-BE49-F238E27FC236}">
                <a16:creationId xmlns:a16="http://schemas.microsoft.com/office/drawing/2014/main" id="{C69491CF-C218-4092-A6DD-ED3BBB06F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1500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E0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headline-white">
            <a:extLst xmlns:a="http://schemas.openxmlformats.org/drawingml/2006/main">
              <a:ext uri="{FF2B5EF4-FFF2-40B4-BE49-F238E27FC236}">
                <a16:creationId xmlns:a16="http://schemas.microsoft.com/office/drawing/2014/main" id="{70B950E3-9D82-487F-9393-3883D37FD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42950"/>
            <a:ext cx="11201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225" b="1" i="0">
                <a:solidFill>
                  <a:srgbClr val="F5F8FA"/>
                </a:solidFill>
                <a:latin typeface="Nimbus Sans"/>
                <a:ea typeface="Nimbus Sans"/>
                <a:cs typeface="Nimbus Sans"/>
              </a:defRPr>
            </a:pPr>
            <a:r>
              <a:rPr sz="3225" b="1" i="0">
                <a:solidFill>
                  <a:srgbClr val="F5F8FA"/>
                </a:solidFill>
                <a:latin typeface="Nimbus Sans"/>
                <a:ea typeface="Nimbus Sans"/>
                <a:cs typeface="Nimbus Sans"/>
              </a:rPr>
              <a:t>My value sits at the overlap</a:t>
            </a:r>
          </a:p>
        </p:txBody>
      </p:sp>
      <p:sp>
        <p:nvSpPr>
          <p:cNvPr id="9" name="headline-cyan">
            <a:extLst xmlns:a="http://schemas.openxmlformats.org/drawingml/2006/main">
              <a:ext uri="{FF2B5EF4-FFF2-40B4-BE49-F238E27FC236}">
                <a16:creationId xmlns:a16="http://schemas.microsoft.com/office/drawing/2014/main" id="{5EC27953-D54A-4333-89AE-C399164D8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90625"/>
            <a:ext cx="11201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225" b="1" i="0">
                <a:solidFill>
                  <a:srgbClr val="35E0DF"/>
                </a:solidFill>
                <a:latin typeface="Nimbus Sans"/>
                <a:ea typeface="Nimbus Sans"/>
                <a:cs typeface="Nimbus Sans"/>
              </a:defRPr>
            </a:pPr>
            <a:r>
              <a:rPr sz="3225" b="1" i="0">
                <a:solidFill>
                  <a:srgbClr val="35E0DF"/>
                </a:solidFill>
                <a:latin typeface="Nimbus Sans"/>
                <a:ea typeface="Nimbus Sans"/>
                <a:cs typeface="Nimbus Sans"/>
              </a:rPr>
              <a:t>most teams split apart.</a:t>
            </a:r>
          </a:p>
        </p:txBody>
      </p:sp>
      <p:sp>
        <p:nvSpPr>
          <p:cNvPr id="10" name="subhead">
            <a:extLst xmlns:a="http://schemas.openxmlformats.org/drawingml/2006/main">
              <a:ext uri="{FF2B5EF4-FFF2-40B4-BE49-F238E27FC236}">
                <a16:creationId xmlns:a16="http://schemas.microsoft.com/office/drawing/2014/main" id="{9859AE96-1FE6-44EC-8FD2-6E439A1DC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2402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 i="0">
                <a:solidFill>
                  <a:srgbClr val="D6E0E5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 i="0">
                <a:solidFill>
                  <a:srgbClr val="D6E0E5"/>
                </a:solidFill>
                <a:latin typeface="Nimbus Sans"/>
                <a:ea typeface="Nimbus Sans"/>
                <a:cs typeface="Nimbus Sans"/>
              </a:rPr>
              <a:t>I can speak with artists, product leaders, designers, engineers, model providers, and partners without losing the creative objective.</a:t>
            </a:r>
          </a:p>
        </p:txBody>
      </p:sp>
      <p:sp>
        <p:nvSpPr>
          <p:cNvPr id="11" name="diff-1-label">
            <a:extLst xmlns:a="http://schemas.openxmlformats.org/drawingml/2006/main">
              <a:ext uri="{FF2B5EF4-FFF2-40B4-BE49-F238E27FC236}">
                <a16:creationId xmlns:a16="http://schemas.microsoft.com/office/drawing/2014/main" id="{3584DA26-0A73-4790-AE11-1A38727C1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35E0DF"/>
                </a:solidFill>
                <a:latin typeface="Nimbus Sans"/>
                <a:ea typeface="Nimbus Sans"/>
                <a:cs typeface="Nimbus Sans"/>
              </a:defRPr>
            </a:pPr>
            <a:r>
              <a:rPr sz="1125" b="1" i="0">
                <a:solidFill>
                  <a:srgbClr val="35E0DF"/>
                </a:solidFill>
                <a:latin typeface="Nimbus Sans"/>
                <a:ea typeface="Nimbus Sans"/>
                <a:cs typeface="Nimbus Sans"/>
              </a:rPr>
              <a:t>CREATIVE JUDGMENT</a:t>
            </a:r>
          </a:p>
        </p:txBody>
      </p:sp>
      <p:sp>
        <p:nvSpPr>
          <p:cNvPr id="12" name="diff-1-rule">
            <a:extLst xmlns:a="http://schemas.openxmlformats.org/drawingml/2006/main">
              <a:ext uri="{FF2B5EF4-FFF2-40B4-BE49-F238E27FC236}">
                <a16:creationId xmlns:a16="http://schemas.microsoft.com/office/drawing/2014/main" id="{1107E3CA-44D6-4346-AA82-D37C60085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609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E0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diff-1-body">
            <a:extLst xmlns:a="http://schemas.openxmlformats.org/drawingml/2006/main">
              <a:ext uri="{FF2B5EF4-FFF2-40B4-BE49-F238E27FC236}">
                <a16:creationId xmlns:a16="http://schemas.microsoft.com/office/drawing/2014/main" id="{9E45F371-4AE3-4662-B435-507A9A7FF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3238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6000"/>
              </a:lnSpc>
              <a:buNone/>
              <a:defRPr sz="1425" b="0" i="0">
                <a:solidFill>
                  <a:srgbClr val="F5F8FA"/>
                </a:solidFill>
                <a:latin typeface="Nimbus Sans"/>
                <a:ea typeface="Nimbus Sans"/>
                <a:cs typeface="Nimbus Sans"/>
              </a:defRPr>
            </a:pPr>
            <a:r>
              <a:rPr sz="1425" b="0" i="0">
                <a:solidFill>
                  <a:srgbClr val="F5F8FA"/>
                </a:solidFill>
                <a:latin typeface="Nimbus Sans"/>
                <a:ea typeface="Nimbus Sans"/>
                <a:cs typeface="Nimbus Sans"/>
              </a:rPr>
              <a:t>20 years of animation + VFX</a:t>
            </a:r>
          </a:p>
          <a:p xmlns:a="http://schemas.openxmlformats.org/drawingml/2006/main">
            <a:pPr algn="l">
              <a:lnSpc>
                <a:spcPct val="126000"/>
              </a:lnSpc>
              <a:buNone/>
              <a:defRPr sz="1425" b="0" i="0">
                <a:solidFill>
                  <a:srgbClr val="F5F8FA"/>
                </a:solidFill>
                <a:latin typeface="Nimbus Sans"/>
                <a:ea typeface="Nimbus Sans"/>
                <a:cs typeface="Nimbus Sans"/>
              </a:defRPr>
            </a:pPr>
            <a:r>
              <a:rPr sz="1425" b="0" i="0">
                <a:solidFill>
                  <a:srgbClr val="F5F8FA"/>
                </a:solidFill>
                <a:latin typeface="Nimbus Sans"/>
                <a:ea typeface="Nimbus Sans"/>
                <a:cs typeface="Nimbus Sans"/>
              </a:rPr>
              <a:t>Composition, lighting, story, review</a:t>
            </a:r>
          </a:p>
          <a:p xmlns:a="http://schemas.openxmlformats.org/drawingml/2006/main">
            <a:pPr algn="l">
              <a:lnSpc>
                <a:spcPct val="126000"/>
              </a:lnSpc>
              <a:buNone/>
              <a:defRPr sz="1425" b="0" i="0">
                <a:solidFill>
                  <a:srgbClr val="F5F8FA"/>
                </a:solidFill>
                <a:latin typeface="Nimbus Sans"/>
                <a:ea typeface="Nimbus Sans"/>
                <a:cs typeface="Nimbus Sans"/>
              </a:defRPr>
            </a:pPr>
            <a:r>
              <a:rPr sz="1425" b="0" i="0">
                <a:solidFill>
                  <a:srgbClr val="F5F8FA"/>
                </a:solidFill>
                <a:latin typeface="Nimbus Sans"/>
                <a:ea typeface="Nimbus Sans"/>
                <a:cs typeface="Nimbus Sans"/>
              </a:rPr>
              <a:t>Artist vocabulary and trust</a:t>
            </a:r>
          </a:p>
        </p:txBody>
      </p:sp>
      <p:sp>
        <p:nvSpPr>
          <p:cNvPr id="14" name="diff-1-divider">
            <a:extLst xmlns:a="http://schemas.openxmlformats.org/drawingml/2006/main">
              <a:ext uri="{FF2B5EF4-FFF2-40B4-BE49-F238E27FC236}">
                <a16:creationId xmlns:a16="http://schemas.microsoft.com/office/drawing/2014/main" id="{F18E978C-070D-410B-AC50-C9C4D45CD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781300"/>
            <a:ext cx="952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3D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diff-2-label">
            <a:extLst xmlns:a="http://schemas.openxmlformats.org/drawingml/2006/main">
              <a:ext uri="{FF2B5EF4-FFF2-40B4-BE49-F238E27FC236}">
                <a16:creationId xmlns:a16="http://schemas.microsoft.com/office/drawing/2014/main" id="{35515658-E2FB-43EB-BF4C-A07126A4B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78130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35E0DF"/>
                </a:solidFill>
                <a:latin typeface="Nimbus Sans"/>
                <a:ea typeface="Nimbus Sans"/>
                <a:cs typeface="Nimbus Sans"/>
              </a:defRPr>
            </a:pPr>
            <a:r>
              <a:rPr sz="1125" b="1" i="0">
                <a:solidFill>
                  <a:srgbClr val="35E0DF"/>
                </a:solidFill>
                <a:latin typeface="Nimbus Sans"/>
                <a:ea typeface="Nimbus Sans"/>
                <a:cs typeface="Nimbus Sans"/>
              </a:rPr>
              <a:t>PRODUCT + UX</a:t>
            </a:r>
          </a:p>
        </p:txBody>
      </p:sp>
      <p:sp>
        <p:nvSpPr>
          <p:cNvPr id="16" name="diff-2-rule">
            <a:extLst xmlns:a="http://schemas.openxmlformats.org/drawingml/2006/main">
              <a:ext uri="{FF2B5EF4-FFF2-40B4-BE49-F238E27FC236}">
                <a16:creationId xmlns:a16="http://schemas.microsoft.com/office/drawing/2014/main" id="{006EFA07-D655-48CF-9F36-ECDF092F4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124200"/>
            <a:ext cx="609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E0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diff-2-body">
            <a:extLst xmlns:a="http://schemas.openxmlformats.org/drawingml/2006/main">
              <a:ext uri="{FF2B5EF4-FFF2-40B4-BE49-F238E27FC236}">
                <a16:creationId xmlns:a16="http://schemas.microsoft.com/office/drawing/2014/main" id="{4A9DAAA2-ACC8-4A01-BF12-F66091B60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390900"/>
            <a:ext cx="3238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6000"/>
              </a:lnSpc>
              <a:buNone/>
              <a:defRPr sz="1425" b="0" i="0">
                <a:solidFill>
                  <a:srgbClr val="F5F8FA"/>
                </a:solidFill>
                <a:latin typeface="Nimbus Sans"/>
                <a:ea typeface="Nimbus Sans"/>
                <a:cs typeface="Nimbus Sans"/>
              </a:defRPr>
            </a:pPr>
            <a:r>
              <a:rPr sz="1425" b="0" i="0">
                <a:solidFill>
                  <a:srgbClr val="F5F8FA"/>
                </a:solidFill>
                <a:latin typeface="Nimbus Sans"/>
                <a:ea typeface="Nimbus Sans"/>
                <a:cs typeface="Nimbus Sans"/>
              </a:rPr>
              <a:t>Workflow architecture</a:t>
            </a:r>
          </a:p>
          <a:p xmlns:a="http://schemas.openxmlformats.org/drawingml/2006/main">
            <a:pPr algn="l">
              <a:lnSpc>
                <a:spcPct val="126000"/>
              </a:lnSpc>
              <a:buNone/>
              <a:defRPr sz="1425" b="0" i="0">
                <a:solidFill>
                  <a:srgbClr val="F5F8FA"/>
                </a:solidFill>
                <a:latin typeface="Nimbus Sans"/>
                <a:ea typeface="Nimbus Sans"/>
                <a:cs typeface="Nimbus Sans"/>
              </a:defRPr>
            </a:pPr>
            <a:r>
              <a:rPr sz="1425" b="0" i="0">
                <a:solidFill>
                  <a:srgbClr val="F5F8FA"/>
                </a:solidFill>
                <a:latin typeface="Nimbus Sans"/>
                <a:ea typeface="Nimbus Sans"/>
                <a:cs typeface="Nimbus Sans"/>
              </a:rPr>
              <a:t>Interaction systems and visual hierarchy</a:t>
            </a:r>
          </a:p>
          <a:p xmlns:a="http://schemas.openxmlformats.org/drawingml/2006/main">
            <a:pPr algn="l">
              <a:lnSpc>
                <a:spcPct val="126000"/>
              </a:lnSpc>
              <a:buNone/>
              <a:defRPr sz="1425" b="0" i="0">
                <a:solidFill>
                  <a:srgbClr val="F5F8FA"/>
                </a:solidFill>
                <a:latin typeface="Nimbus Sans"/>
                <a:ea typeface="Nimbus Sans"/>
                <a:cs typeface="Nimbus Sans"/>
              </a:defRPr>
            </a:pPr>
            <a:r>
              <a:rPr sz="1425" b="0" i="0">
                <a:solidFill>
                  <a:srgbClr val="F5F8FA"/>
                </a:solidFill>
                <a:latin typeface="Nimbus Sans"/>
                <a:ea typeface="Nimbus Sans"/>
                <a:cs typeface="Nimbus Sans"/>
              </a:rPr>
              <a:t>Feature definition and acceptance criteria</a:t>
            </a:r>
          </a:p>
        </p:txBody>
      </p:sp>
      <p:sp>
        <p:nvSpPr>
          <p:cNvPr id="18" name="diff-2-divider">
            <a:extLst xmlns:a="http://schemas.openxmlformats.org/drawingml/2006/main">
              <a:ext uri="{FF2B5EF4-FFF2-40B4-BE49-F238E27FC236}">
                <a16:creationId xmlns:a16="http://schemas.microsoft.com/office/drawing/2014/main" id="{3E905957-803E-4219-B561-09DBFBEDE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781300"/>
            <a:ext cx="952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3D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diff-3-label">
            <a:extLst xmlns:a="http://schemas.openxmlformats.org/drawingml/2006/main">
              <a:ext uri="{FF2B5EF4-FFF2-40B4-BE49-F238E27FC236}">
                <a16:creationId xmlns:a16="http://schemas.microsoft.com/office/drawing/2014/main" id="{2E820D9F-0E9C-4082-A42A-72DE77A16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78130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35E0DF"/>
                </a:solidFill>
                <a:latin typeface="Nimbus Sans"/>
                <a:ea typeface="Nimbus Sans"/>
                <a:cs typeface="Nimbus Sans"/>
              </a:defRPr>
            </a:pPr>
            <a:r>
              <a:rPr sz="1125" b="1" i="0">
                <a:solidFill>
                  <a:srgbClr val="35E0DF"/>
                </a:solidFill>
                <a:latin typeface="Nimbus Sans"/>
                <a:ea typeface="Nimbus Sans"/>
                <a:cs typeface="Nimbus Sans"/>
              </a:rPr>
              <a:t>TECHNICAL EXECUTION</a:t>
            </a:r>
          </a:p>
        </p:txBody>
      </p:sp>
      <p:sp>
        <p:nvSpPr>
          <p:cNvPr id="20" name="diff-3-rule">
            <a:extLst xmlns:a="http://schemas.openxmlformats.org/drawingml/2006/main">
              <a:ext uri="{FF2B5EF4-FFF2-40B4-BE49-F238E27FC236}">
                <a16:creationId xmlns:a16="http://schemas.microsoft.com/office/drawing/2014/main" id="{1922A761-1E5D-4B1E-93B2-359B56FD6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124200"/>
            <a:ext cx="609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E0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diff-3-body">
            <a:extLst xmlns:a="http://schemas.openxmlformats.org/drawingml/2006/main">
              <a:ext uri="{FF2B5EF4-FFF2-40B4-BE49-F238E27FC236}">
                <a16:creationId xmlns:a16="http://schemas.microsoft.com/office/drawing/2014/main" id="{8B7AFE78-A130-433B-BC6C-B5CCAE932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90900"/>
            <a:ext cx="3238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6000"/>
              </a:lnSpc>
              <a:buNone/>
              <a:defRPr sz="1425" b="0" i="0">
                <a:solidFill>
                  <a:srgbClr val="F5F8FA"/>
                </a:solidFill>
                <a:latin typeface="Nimbus Sans"/>
                <a:ea typeface="Nimbus Sans"/>
                <a:cs typeface="Nimbus Sans"/>
              </a:defRPr>
            </a:pPr>
            <a:r>
              <a:rPr sz="1425" b="0" i="0">
                <a:solidFill>
                  <a:srgbClr val="F5F8FA"/>
                </a:solidFill>
                <a:latin typeface="Nimbus Sans"/>
                <a:ea typeface="Nimbus Sans"/>
                <a:cs typeface="Nimbus Sans"/>
              </a:rPr>
              <a:t>HTML/CSS/JavaScript</a:t>
            </a:r>
          </a:p>
          <a:p xmlns:a="http://schemas.openxmlformats.org/drawingml/2006/main">
            <a:pPr algn="l">
              <a:lnSpc>
                <a:spcPct val="126000"/>
              </a:lnSpc>
              <a:buNone/>
              <a:defRPr sz="1425" b="0" i="0">
                <a:solidFill>
                  <a:srgbClr val="F5F8FA"/>
                </a:solidFill>
                <a:latin typeface="Nimbus Sans"/>
                <a:ea typeface="Nimbus Sans"/>
                <a:cs typeface="Nimbus Sans"/>
              </a:defRPr>
            </a:pPr>
            <a:r>
              <a:rPr sz="1425" b="0" i="0">
                <a:solidFill>
                  <a:srgbClr val="F5F8FA"/>
                </a:solidFill>
                <a:latin typeface="Nimbus Sans"/>
                <a:ea typeface="Nimbus Sans"/>
                <a:cs typeface="Nimbus Sans"/>
              </a:rPr>
              <a:t>Python/Flask services and REST</a:t>
            </a:r>
          </a:p>
          <a:p xmlns:a="http://schemas.openxmlformats.org/drawingml/2006/main">
            <a:pPr algn="l">
              <a:lnSpc>
                <a:spcPct val="126000"/>
              </a:lnSpc>
              <a:buNone/>
              <a:defRPr sz="1425" b="0" i="0">
                <a:solidFill>
                  <a:srgbClr val="F5F8FA"/>
                </a:solidFill>
                <a:latin typeface="Nimbus Sans"/>
                <a:ea typeface="Nimbus Sans"/>
                <a:cs typeface="Nimbus Sans"/>
              </a:defRPr>
            </a:pPr>
            <a:r>
              <a:rPr sz="1425" b="0" i="0">
                <a:solidFill>
                  <a:srgbClr val="F5F8FA"/>
                </a:solidFill>
                <a:latin typeface="Nimbus Sans"/>
                <a:ea typeface="Nimbus Sans"/>
                <a:cs typeface="Nimbus Sans"/>
              </a:rPr>
              <a:t>Provider routing, jobs, assets, policy</a:t>
            </a:r>
          </a:p>
        </p:txBody>
      </p:sp>
      <p:sp>
        <p:nvSpPr>
          <p:cNvPr id="22" name="diff-output-panel">
            <a:extLst xmlns:a="http://schemas.openxmlformats.org/drawingml/2006/main">
              <a:ext uri="{FF2B5EF4-FFF2-40B4-BE49-F238E27FC236}">
                <a16:creationId xmlns:a16="http://schemas.microsoft.com/office/drawing/2014/main" id="{444F39FB-2B41-441C-BE39-4C4BE5A39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143500"/>
            <a:ext cx="8572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92330"/>
          </a:solidFill>
          <a:ln xmlns:a="http://schemas.openxmlformats.org/drawingml/2006/main" w="9525">
            <a:solidFill>
              <a:srgbClr val="35E0DF"/>
            </a:solidFill>
            <a:prstDash val="solid"/>
          </a:ln>
        </p:spPr>
      </p:sp>
      <p:sp>
        <p:nvSpPr>
          <p:cNvPr id="23" name="diff-output">
            <a:extLst xmlns:a="http://schemas.openxmlformats.org/drawingml/2006/main">
              <a:ext uri="{FF2B5EF4-FFF2-40B4-BE49-F238E27FC236}">
                <a16:creationId xmlns:a16="http://schemas.microsoft.com/office/drawing/2014/main" id="{8DB6CD7F-C176-4673-B6BC-0989350ED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286375"/>
            <a:ext cx="800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 i="0">
                <a:solidFill>
                  <a:srgbClr val="77F0E4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 i="0">
                <a:solidFill>
                  <a:srgbClr val="77F0E4"/>
                </a:solidFill>
                <a:latin typeface="Nimbus Sans"/>
                <a:ea typeface="Nimbus Sans"/>
                <a:cs typeface="Nimbus Sans"/>
              </a:rPr>
              <a:t>SHIPPED CREATIVE AI WORKFLOWS</a:t>
            </a:r>
          </a:p>
        </p:txBody>
      </p:sp>
      <p:sp>
        <p:nvSpPr>
          <p:cNvPr id="24" name="diff-callout">
            <a:extLst xmlns:a="http://schemas.openxmlformats.org/drawingml/2006/main">
              <a:ext uri="{FF2B5EF4-FFF2-40B4-BE49-F238E27FC236}">
                <a16:creationId xmlns:a16="http://schemas.microsoft.com/office/drawing/2014/main" id="{38F73CB7-731D-4CF8-84C2-0EEE1F825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905500"/>
            <a:ext cx="876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0" i="0">
                <a:solidFill>
                  <a:srgbClr val="D6E0E5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D6E0E5"/>
                </a:solidFill>
                <a:latin typeface="Nimbus Sans"/>
                <a:ea typeface="Nimbus Sans"/>
                <a:cs typeface="Nimbus Sans"/>
              </a:rPr>
              <a:t>Not a handoff between disciplines—a continuous line from intent to implementation.</a:t>
            </a:r>
          </a:p>
        </p:txBody>
      </p:sp>
      <p:sp>
        <p:nvSpPr>
          <p:cNvPr id="2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D6E684D-E921-4009-A9ED-E201761E2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29375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3D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footer-identity">
            <a:extLst xmlns:a="http://schemas.openxmlformats.org/drawingml/2006/main">
              <a:ext uri="{FF2B5EF4-FFF2-40B4-BE49-F238E27FC236}">
                <a16:creationId xmlns:a16="http://schemas.microsoft.com/office/drawing/2014/main" id="{46B2997E-4C4A-4209-BBB6-83AC4A6B7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 i="0">
                <a:solidFill>
                  <a:srgbClr val="91A7B1"/>
                </a:solidFill>
                <a:latin typeface="Nimbus Sans"/>
                <a:ea typeface="Nimbus Sans"/>
                <a:cs typeface="Nimbus Sans"/>
              </a:defRPr>
            </a:pPr>
            <a:r>
              <a:rPr sz="900" b="0" i="0">
                <a:solidFill>
                  <a:srgbClr val="91A7B1"/>
                </a:solidFill>
                <a:latin typeface="Nimbus Sans"/>
                <a:ea typeface="Nimbus Sans"/>
                <a:cs typeface="Nimbus Sans"/>
              </a:rPr>
              <a:t>RONNIE CLELAND · CREATIVE AI PLATFORM ARCHITECT</a:t>
            </a:r>
          </a:p>
        </p:txBody>
      </p:sp>
      <p:sp>
        <p:nvSpPr>
          <p:cNvPr id="27" name="footer-page">
            <a:extLst xmlns:a="http://schemas.openxmlformats.org/drawingml/2006/main">
              <a:ext uri="{FF2B5EF4-FFF2-40B4-BE49-F238E27FC236}">
                <a16:creationId xmlns:a16="http://schemas.microsoft.com/office/drawing/2014/main" id="{42E1A560-0538-4372-BD1A-22B4F3158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1510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 i="0">
                <a:solidFill>
                  <a:srgbClr val="91A7B1"/>
                </a:solidFill>
                <a:latin typeface="Nimbus Sans"/>
                <a:ea typeface="Nimbus Sans"/>
                <a:cs typeface="Nimbus Sans"/>
              </a:defRPr>
            </a:pPr>
            <a:r>
              <a:rPr sz="900" b="0" i="0">
                <a:solidFill>
                  <a:srgbClr val="91A7B1"/>
                </a:solidFill>
                <a:latin typeface="Nimbus Sans"/>
                <a:ea typeface="Nimbus Sans"/>
                <a:cs typeface="Nimbus Sans"/>
              </a:rPr>
              <a:t>11 / 12</a:t>
            </a:r>
          </a:p>
        </p:txBody>
      </p:sp>
    </p:spTree>
    <p:extLst>
      <p:ext uri="{BB962C8B-B14F-4D97-AF65-F5344CB8AC3E}">
        <p14:creationId xmlns:p14="http://schemas.microsoft.com/office/powerpoint/2010/main" val="109571857"/>
      </p:ext>
    </p:extLst>
  </p:cSld>
</p:sld>
</file>

<file path=ppt/slides/slide12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2070D"/>
            </a:gs>
            <a:gs pos="58000">
              <a:srgbClr val="061621"/>
            </a:gs>
            <a:gs pos="100000">
              <a:srgbClr val="02070D"/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erimeter">
            <a:extLst xmlns:a="http://schemas.openxmlformats.org/drawingml/2006/main">
              <a:ext uri="{FF2B5EF4-FFF2-40B4-BE49-F238E27FC236}">
                <a16:creationId xmlns:a16="http://schemas.microsoft.com/office/drawing/2014/main" id="{41DE47F7-0EE2-4C24-8AFE-735AB0A9C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152400"/>
            <a:ext cx="11887200" cy="6553200"/>
          </a:xfrm>
          <a:prstGeom xmlns:a="http://schemas.openxmlformats.org/drawingml/2006/main" prst="roundRect">
            <a:avLst>
              <a:gd name="adj" fmla="val 1163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176171"/>
            </a:solidFill>
            <a:prstDash val="solid"/>
          </a:ln>
        </p:spPr>
      </p:sp>
      <p:sp>
        <p:nvSpPr>
          <p:cNvPr id="2" name="left-guide">
            <a:extLst xmlns:a="http://schemas.openxmlformats.org/drawingml/2006/main">
              <a:ext uri="{FF2B5EF4-FFF2-40B4-BE49-F238E27FC236}">
                <a16:creationId xmlns:a16="http://schemas.microsoft.com/office/drawing/2014/main" id="{3FE502F8-0749-45DE-9ACE-870DBD3E2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66700"/>
            <a:ext cx="9525" cy="632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3D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node">
            <a:extLst xmlns:a="http://schemas.openxmlformats.org/drawingml/2006/main">
              <a:ext uri="{FF2B5EF4-FFF2-40B4-BE49-F238E27FC236}">
                <a16:creationId xmlns:a16="http://schemas.microsoft.com/office/drawing/2014/main" id="{06620B5C-556B-4BAD-8078-3118B5BF8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2381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F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ottom-node">
            <a:extLst xmlns:a="http://schemas.openxmlformats.org/drawingml/2006/main">
              <a:ext uri="{FF2B5EF4-FFF2-40B4-BE49-F238E27FC236}">
                <a16:creationId xmlns:a16="http://schemas.microsoft.com/office/drawing/2014/main" id="{C05E2748-3693-450F-8C37-642935AD8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65627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B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ge-eyebrow">
            <a:extLst xmlns:a="http://schemas.openxmlformats.org/drawingml/2006/main">
              <a:ext uri="{FF2B5EF4-FFF2-40B4-BE49-F238E27FC236}">
                <a16:creationId xmlns:a16="http://schemas.microsoft.com/office/drawing/2014/main" id="{B713CE2F-287A-4890-AD80-426828D68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35E0DF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 i="0">
                <a:solidFill>
                  <a:srgbClr val="35E0DF"/>
                </a:solidFill>
                <a:latin typeface="Nimbus Sans"/>
                <a:ea typeface="Nimbus Sans"/>
                <a:cs typeface="Nimbus Sans"/>
              </a:rPr>
              <a:t>12</a:t>
            </a:r>
          </a:p>
        </p:txBody>
      </p:sp>
      <p:sp>
        <p:nvSpPr>
          <p:cNvPr id="6" name="section-eyebrow">
            <a:extLst xmlns:a="http://schemas.openxmlformats.org/drawingml/2006/main">
              <a:ext uri="{FF2B5EF4-FFF2-40B4-BE49-F238E27FC236}">
                <a16:creationId xmlns:a16="http://schemas.microsoft.com/office/drawing/2014/main" id="{A77093AD-1809-4506-B700-E769A5FBB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622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77F0E4"/>
                </a:solidFill>
                <a:latin typeface="Nimbus Sans"/>
                <a:ea typeface="Nimbus Sans"/>
                <a:cs typeface="Nimbus Sans"/>
              </a:defRPr>
            </a:pPr>
            <a:r>
              <a:rPr sz="1125" b="1" i="0">
                <a:solidFill>
                  <a:srgbClr val="77F0E4"/>
                </a:solidFill>
                <a:latin typeface="Nimbus Sans"/>
                <a:ea typeface="Nimbus Sans"/>
                <a:cs typeface="Nimbus Sans"/>
              </a:rPr>
              <a:t>WHERE I FIT</a:t>
            </a:r>
          </a:p>
        </p:txBody>
      </p:sp>
      <p:sp>
        <p:nvSpPr>
          <p:cNvPr id="7" name="section-rule">
            <a:extLst xmlns:a="http://schemas.openxmlformats.org/drawingml/2006/main">
              <a:ext uri="{FF2B5EF4-FFF2-40B4-BE49-F238E27FC236}">
                <a16:creationId xmlns:a16="http://schemas.microsoft.com/office/drawing/2014/main" id="{112975A4-968E-45F5-BBB1-221A188A9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1500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E0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losing-statement">
            <a:extLst xmlns:a="http://schemas.openxmlformats.org/drawingml/2006/main">
              <a:ext uri="{FF2B5EF4-FFF2-40B4-BE49-F238E27FC236}">
                <a16:creationId xmlns:a16="http://schemas.microsoft.com/office/drawing/2014/main" id="{465138ED-EDEA-40EF-82AF-EE58589C3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5715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 i="0">
                <a:solidFill>
                  <a:srgbClr val="F5F8FA"/>
                </a:solidFill>
                <a:latin typeface="Nimbus Sans"/>
                <a:ea typeface="Nimbus Sans"/>
                <a:cs typeface="Nimbus Sans"/>
              </a:defRPr>
            </a:pPr>
            <a:r>
              <a:rPr sz="2850" b="1" i="0">
                <a:solidFill>
                  <a:srgbClr val="F5F8FA"/>
                </a:solidFill>
                <a:latin typeface="Nimbus Sans"/>
                <a:ea typeface="Nimbus Sans"/>
                <a:cs typeface="Nimbus Sans"/>
              </a:rPr>
              <a:t>Bring me the creative problem that is still too visual, ambiguous, or production-specific for a conventional software team.</a:t>
            </a:r>
          </a:p>
        </p:txBody>
      </p:sp>
      <p:sp>
        <p:nvSpPr>
          <p:cNvPr id="9" name="closing-roles-label">
            <a:extLst xmlns:a="http://schemas.openxmlformats.org/drawingml/2006/main">
              <a:ext uri="{FF2B5EF4-FFF2-40B4-BE49-F238E27FC236}">
                <a16:creationId xmlns:a16="http://schemas.microsoft.com/office/drawing/2014/main" id="{BEC6B10C-CAC4-45B3-BC34-196F2D746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35E0DF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 i="0">
                <a:solidFill>
                  <a:srgbClr val="35E0DF"/>
                </a:solidFill>
                <a:latin typeface="Nimbus Sans"/>
                <a:ea typeface="Nimbus Sans"/>
                <a:cs typeface="Nimbus Sans"/>
              </a:rPr>
              <a:t>ROLES</a:t>
            </a:r>
          </a:p>
        </p:txBody>
      </p:sp>
      <p:sp>
        <p:nvSpPr>
          <p:cNvPr id="10" name="closing-role-1-dot">
            <a:extLst xmlns:a="http://schemas.openxmlformats.org/drawingml/2006/main">
              <a:ext uri="{FF2B5EF4-FFF2-40B4-BE49-F238E27FC236}">
                <a16:creationId xmlns:a16="http://schemas.microsoft.com/office/drawing/2014/main" id="{8713422F-69A5-4F63-A2AE-29805FB60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338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E0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losing-role-1">
            <a:extLst xmlns:a="http://schemas.openxmlformats.org/drawingml/2006/main">
              <a:ext uri="{FF2B5EF4-FFF2-40B4-BE49-F238E27FC236}">
                <a16:creationId xmlns:a16="http://schemas.microsoft.com/office/drawing/2014/main" id="{09017138-5202-4373-A6EC-84B24377C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576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 i="0">
                <a:solidFill>
                  <a:srgbClr val="D6E0E5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D6E0E5"/>
                </a:solidFill>
                <a:latin typeface="Nimbus Sans"/>
                <a:ea typeface="Nimbus Sans"/>
                <a:cs typeface="Nimbus Sans"/>
              </a:rPr>
              <a:t>Creative AI Platform Architect</a:t>
            </a:r>
          </a:p>
        </p:txBody>
      </p:sp>
      <p:sp>
        <p:nvSpPr>
          <p:cNvPr id="12" name="closing-role-2-dot">
            <a:extLst xmlns:a="http://schemas.openxmlformats.org/drawingml/2006/main">
              <a:ext uri="{FF2B5EF4-FFF2-40B4-BE49-F238E27FC236}">
                <a16:creationId xmlns:a16="http://schemas.microsoft.com/office/drawing/2014/main" id="{0AAA0ECC-0DF3-41C9-AF6E-795A22488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767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E0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closing-role-2">
            <a:extLst xmlns:a="http://schemas.openxmlformats.org/drawingml/2006/main">
              <a:ext uri="{FF2B5EF4-FFF2-40B4-BE49-F238E27FC236}">
                <a16:creationId xmlns:a16="http://schemas.microsoft.com/office/drawing/2014/main" id="{991FD3FB-80A4-4F3B-A778-E54A6CD43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005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 i="0">
                <a:solidFill>
                  <a:srgbClr val="D6E0E5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D6E0E5"/>
                </a:solidFill>
                <a:latin typeface="Nimbus Sans"/>
                <a:ea typeface="Nimbus Sans"/>
                <a:cs typeface="Nimbus Sans"/>
              </a:rPr>
              <a:t>AI Product Designer / Design Engineer</a:t>
            </a:r>
          </a:p>
        </p:txBody>
      </p:sp>
      <p:sp>
        <p:nvSpPr>
          <p:cNvPr id="14" name="closing-role-3-dot">
            <a:extLst xmlns:a="http://schemas.openxmlformats.org/drawingml/2006/main">
              <a:ext uri="{FF2B5EF4-FFF2-40B4-BE49-F238E27FC236}">
                <a16:creationId xmlns:a16="http://schemas.microsoft.com/office/drawing/2014/main" id="{99729CAA-3776-4458-93FC-0FC8B3C87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196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E0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losing-role-3">
            <a:extLst xmlns:a="http://schemas.openxmlformats.org/drawingml/2006/main">
              <a:ext uri="{FF2B5EF4-FFF2-40B4-BE49-F238E27FC236}">
                <a16:creationId xmlns:a16="http://schemas.microsoft.com/office/drawing/2014/main" id="{3AEEA77D-1EE7-4FD4-9298-9ECD7BE98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434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 i="0">
                <a:solidFill>
                  <a:srgbClr val="D6E0E5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D6E0E5"/>
                </a:solidFill>
                <a:latin typeface="Nimbus Sans"/>
                <a:ea typeface="Nimbus Sans"/>
                <a:cs typeface="Nimbus Sans"/>
              </a:rPr>
              <a:t>Creative R&amp;D Lead</a:t>
            </a:r>
          </a:p>
        </p:txBody>
      </p:sp>
      <p:sp>
        <p:nvSpPr>
          <p:cNvPr id="16" name="closing-role-4-dot">
            <a:extLst xmlns:a="http://schemas.openxmlformats.org/drawingml/2006/main">
              <a:ext uri="{FF2B5EF4-FFF2-40B4-BE49-F238E27FC236}">
                <a16:creationId xmlns:a16="http://schemas.microsoft.com/office/drawing/2014/main" id="{AA4E553E-A060-4614-B6EE-B3472CDAC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625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E0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closing-role-4">
            <a:extLst xmlns:a="http://schemas.openxmlformats.org/drawingml/2006/main">
              <a:ext uri="{FF2B5EF4-FFF2-40B4-BE49-F238E27FC236}">
                <a16:creationId xmlns:a16="http://schemas.microsoft.com/office/drawing/2014/main" id="{6D9044CC-AF3F-4304-9414-EA8CB067A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863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 i="0">
                <a:solidFill>
                  <a:srgbClr val="D6E0E5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D6E0E5"/>
                </a:solidFill>
                <a:latin typeface="Nimbus Sans"/>
                <a:ea typeface="Nimbus Sans"/>
                <a:cs typeface="Nimbus Sans"/>
              </a:rPr>
              <a:t>Generative AI Prototyping Lead</a:t>
            </a:r>
          </a:p>
        </p:txBody>
      </p:sp>
      <p:sp>
        <p:nvSpPr>
          <p:cNvPr id="18" name="closing-role-5-dot">
            <a:extLst xmlns:a="http://schemas.openxmlformats.org/drawingml/2006/main">
              <a:ext uri="{FF2B5EF4-FFF2-40B4-BE49-F238E27FC236}">
                <a16:creationId xmlns:a16="http://schemas.microsoft.com/office/drawing/2014/main" id="{6137C231-DD41-4E10-9B59-131A2C27D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054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E0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closing-role-5">
            <a:extLst xmlns:a="http://schemas.openxmlformats.org/drawingml/2006/main">
              <a:ext uri="{FF2B5EF4-FFF2-40B4-BE49-F238E27FC236}">
                <a16:creationId xmlns:a16="http://schemas.microsoft.com/office/drawing/2014/main" id="{1332B08E-AAE2-4848-8BA8-4C950E3F0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292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 i="0">
                <a:solidFill>
                  <a:srgbClr val="D6E0E5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 i="0">
                <a:solidFill>
                  <a:srgbClr val="D6E0E5"/>
                </a:solidFill>
                <a:latin typeface="Nimbus Sans"/>
                <a:ea typeface="Nimbus Sans"/>
                <a:cs typeface="Nimbus Sans"/>
              </a:rPr>
              <a:t>Technical Art Director — Emerging Technology</a:t>
            </a:r>
          </a:p>
        </p:txBody>
      </p:sp>
      <p:sp>
        <p:nvSpPr>
          <p:cNvPr id="20" name="closing-logo-frame">
            <a:extLst xmlns:a="http://schemas.openxmlformats.org/drawingml/2006/main">
              <a:ext uri="{FF2B5EF4-FFF2-40B4-BE49-F238E27FC236}">
                <a16:creationId xmlns:a16="http://schemas.microsoft.com/office/drawing/2014/main" id="{DA29C960-5626-4CB8-A3EA-60D7262E6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619125"/>
            <a:ext cx="3390900" cy="1847850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02070D"/>
          </a:solidFill>
          <a:ln xmlns:a="http://schemas.openxmlformats.org/drawingml/2006/main" w="9525">
            <a:solidFill>
              <a:srgbClr val="0B3D4B"/>
            </a:solidFill>
            <a:prstDash val="solid"/>
          </a:ln>
        </p:spPr>
      </p:sp>
      <p:pic>
        <p:nvPicPr>
          <p:cNvPr id="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483d7a53e24c69"/>
          <a:stretch xmlns:a="http://schemas.openxmlformats.org/drawingml/2006/main"/>
        </p:blipFill>
        <p:spPr>
          <a:xfrm xmlns:a="http://schemas.openxmlformats.org/drawingml/2006/main">
            <a:off x="7962900" y="650893"/>
            <a:ext cx="3333750" cy="1784314"/>
          </a:xfrm>
          <a:prstGeom xmlns:a="http://schemas.openxmlformats.org/drawingml/2006/main" prst="roundRect">
            <a:avLst>
              <a:gd name="adj" fmla="val 4255"/>
            </a:avLst>
          </a:prstGeom>
        </p:spPr>
      </p:pic>
      <p:sp>
        <p:nvSpPr>
          <p:cNvPr id="22" name="closing-bring-label">
            <a:extLst xmlns:a="http://schemas.openxmlformats.org/drawingml/2006/main">
              <a:ext uri="{FF2B5EF4-FFF2-40B4-BE49-F238E27FC236}">
                <a16:creationId xmlns:a16="http://schemas.microsoft.com/office/drawing/2014/main" id="{E2629466-2B19-48B5-A729-50422F1F8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8194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35E0DF"/>
                </a:solidFill>
                <a:latin typeface="Nimbus Sans"/>
                <a:ea typeface="Nimbus Sans"/>
                <a:cs typeface="Nimbus Sans"/>
              </a:defRPr>
            </a:pPr>
            <a:r>
              <a:rPr sz="1125" b="1" i="0">
                <a:solidFill>
                  <a:srgbClr val="35E0DF"/>
                </a:solidFill>
                <a:latin typeface="Nimbus Sans"/>
                <a:ea typeface="Nimbus Sans"/>
                <a:cs typeface="Nimbus Sans"/>
              </a:rPr>
              <a:t>WHAT I BRING</a:t>
            </a:r>
          </a:p>
        </p:txBody>
      </p:sp>
      <p:sp>
        <p:nvSpPr>
          <p:cNvPr id="23" name="closing-strength-1-dot">
            <a:extLst xmlns:a="http://schemas.openxmlformats.org/drawingml/2006/main">
              <a:ext uri="{FF2B5EF4-FFF2-40B4-BE49-F238E27FC236}">
                <a16:creationId xmlns:a16="http://schemas.microsoft.com/office/drawing/2014/main" id="{C4A87EB9-5256-466F-BC60-7BD67F4C0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2956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E0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closing-strength-1">
            <a:extLst xmlns:a="http://schemas.openxmlformats.org/drawingml/2006/main">
              <a:ext uri="{FF2B5EF4-FFF2-40B4-BE49-F238E27FC236}">
                <a16:creationId xmlns:a16="http://schemas.microsoft.com/office/drawing/2014/main" id="{1A1A20AC-3558-48DD-AF93-10E1B49B0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219450"/>
            <a:ext cx="1943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 i="0">
                <a:solidFill>
                  <a:srgbClr val="D6E0E5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 i="0">
                <a:solidFill>
                  <a:srgbClr val="D6E0E5"/>
                </a:solidFill>
                <a:latin typeface="Nimbus Sans"/>
                <a:ea typeface="Nimbus Sans"/>
                <a:cs typeface="Nimbus Sans"/>
              </a:rPr>
              <a:t>Artist credibility</a:t>
            </a:r>
          </a:p>
        </p:txBody>
      </p:sp>
      <p:sp>
        <p:nvSpPr>
          <p:cNvPr id="25" name="closing-strength-2-dot">
            <a:extLst xmlns:a="http://schemas.openxmlformats.org/drawingml/2006/main">
              <a:ext uri="{FF2B5EF4-FFF2-40B4-BE49-F238E27FC236}">
                <a16:creationId xmlns:a16="http://schemas.microsoft.com/office/drawing/2014/main" id="{EC434864-69C2-4F10-98E5-AAFC74792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2956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E0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closing-strength-2">
            <a:extLst xmlns:a="http://schemas.openxmlformats.org/drawingml/2006/main">
              <a:ext uri="{FF2B5EF4-FFF2-40B4-BE49-F238E27FC236}">
                <a16:creationId xmlns:a16="http://schemas.microsoft.com/office/drawing/2014/main" id="{0D87B10D-B91C-43D4-A44A-2925F6F81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219450"/>
            <a:ext cx="1943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 i="0">
                <a:solidFill>
                  <a:srgbClr val="D6E0E5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 i="0">
                <a:solidFill>
                  <a:srgbClr val="D6E0E5"/>
                </a:solidFill>
                <a:latin typeface="Nimbus Sans"/>
                <a:ea typeface="Nimbus Sans"/>
                <a:cs typeface="Nimbus Sans"/>
              </a:rPr>
              <a:t>Product judgment</a:t>
            </a:r>
          </a:p>
        </p:txBody>
      </p:sp>
      <p:sp>
        <p:nvSpPr>
          <p:cNvPr id="27" name="closing-strength-3-dot">
            <a:extLst xmlns:a="http://schemas.openxmlformats.org/drawingml/2006/main">
              <a:ext uri="{FF2B5EF4-FFF2-40B4-BE49-F238E27FC236}">
                <a16:creationId xmlns:a16="http://schemas.microsoft.com/office/drawing/2014/main" id="{5AB69EE9-909F-43E9-BBC0-FB75139C3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7909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E0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closing-strength-3">
            <a:extLst xmlns:a="http://schemas.openxmlformats.org/drawingml/2006/main">
              <a:ext uri="{FF2B5EF4-FFF2-40B4-BE49-F238E27FC236}">
                <a16:creationId xmlns:a16="http://schemas.microsoft.com/office/drawing/2014/main" id="{284A8F15-3657-4C54-9477-30FCCDCE4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714750"/>
            <a:ext cx="1943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 i="0">
                <a:solidFill>
                  <a:srgbClr val="D6E0E5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 i="0">
                <a:solidFill>
                  <a:srgbClr val="D6E0E5"/>
                </a:solidFill>
                <a:latin typeface="Nimbus Sans"/>
                <a:ea typeface="Nimbus Sans"/>
                <a:cs typeface="Nimbus Sans"/>
              </a:rPr>
              <a:t>Visual systems</a:t>
            </a:r>
          </a:p>
        </p:txBody>
      </p:sp>
      <p:sp>
        <p:nvSpPr>
          <p:cNvPr id="29" name="closing-strength-4-dot">
            <a:extLst xmlns:a="http://schemas.openxmlformats.org/drawingml/2006/main">
              <a:ext uri="{FF2B5EF4-FFF2-40B4-BE49-F238E27FC236}">
                <a16:creationId xmlns:a16="http://schemas.microsoft.com/office/drawing/2014/main" id="{BBFDDDDC-A184-4127-9EF1-0CDCCCE3E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7909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E0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closing-strength-4">
            <a:extLst xmlns:a="http://schemas.openxmlformats.org/drawingml/2006/main">
              <a:ext uri="{FF2B5EF4-FFF2-40B4-BE49-F238E27FC236}">
                <a16:creationId xmlns:a16="http://schemas.microsoft.com/office/drawing/2014/main" id="{34032752-74BC-4141-AA49-FF699ABF2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714750"/>
            <a:ext cx="1943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 i="0">
                <a:solidFill>
                  <a:srgbClr val="D6E0E5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 i="0">
                <a:solidFill>
                  <a:srgbClr val="D6E0E5"/>
                </a:solidFill>
                <a:latin typeface="Nimbus Sans"/>
                <a:ea typeface="Nimbus Sans"/>
                <a:cs typeface="Nimbus Sans"/>
              </a:rPr>
              <a:t>Full-stack initiative</a:t>
            </a:r>
          </a:p>
        </p:txBody>
      </p:sp>
      <p:sp>
        <p:nvSpPr>
          <p:cNvPr id="31" name="closing-strength-5-dot">
            <a:extLst xmlns:a="http://schemas.openxmlformats.org/drawingml/2006/main">
              <a:ext uri="{FF2B5EF4-FFF2-40B4-BE49-F238E27FC236}">
                <a16:creationId xmlns:a16="http://schemas.microsoft.com/office/drawing/2014/main" id="{CDF6A25E-F518-4072-BE17-7212F8B2E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2862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E0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closing-strength-5">
            <a:extLst xmlns:a="http://schemas.openxmlformats.org/drawingml/2006/main">
              <a:ext uri="{FF2B5EF4-FFF2-40B4-BE49-F238E27FC236}">
                <a16:creationId xmlns:a16="http://schemas.microsoft.com/office/drawing/2014/main" id="{D552E1AC-9D67-4419-9D96-432ADFDC7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210050"/>
            <a:ext cx="1943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 i="0">
                <a:solidFill>
                  <a:srgbClr val="D6E0E5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 i="0">
                <a:solidFill>
                  <a:srgbClr val="D6E0E5"/>
                </a:solidFill>
                <a:latin typeface="Nimbus Sans"/>
                <a:ea typeface="Nimbus Sans"/>
                <a:cs typeface="Nimbus Sans"/>
              </a:rPr>
              <a:t>Multimodal AI fluency</a:t>
            </a:r>
          </a:p>
        </p:txBody>
      </p:sp>
      <p:sp>
        <p:nvSpPr>
          <p:cNvPr id="33" name="closing-strength-6-dot">
            <a:extLst xmlns:a="http://schemas.openxmlformats.org/drawingml/2006/main">
              <a:ext uri="{FF2B5EF4-FFF2-40B4-BE49-F238E27FC236}">
                <a16:creationId xmlns:a16="http://schemas.microsoft.com/office/drawing/2014/main" id="{E21F0D70-40CE-48F8-85B7-A08D161C4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2862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E0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closing-strength-6">
            <a:extLst xmlns:a="http://schemas.openxmlformats.org/drawingml/2006/main">
              <a:ext uri="{FF2B5EF4-FFF2-40B4-BE49-F238E27FC236}">
                <a16:creationId xmlns:a16="http://schemas.microsoft.com/office/drawing/2014/main" id="{64AA1B77-7B17-4D44-A590-F10D6EB2F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210050"/>
            <a:ext cx="1943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 i="0">
                <a:solidFill>
                  <a:srgbClr val="D6E0E5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 i="0">
                <a:solidFill>
                  <a:srgbClr val="D6E0E5"/>
                </a:solidFill>
                <a:latin typeface="Nimbus Sans"/>
                <a:ea typeface="Nimbus Sans"/>
                <a:cs typeface="Nimbus Sans"/>
              </a:rPr>
              <a:t>Clear product storytelling</a:t>
            </a:r>
          </a:p>
        </p:txBody>
      </p:sp>
      <p:sp>
        <p:nvSpPr>
          <p:cNvPr id="35" name="contact-band">
            <a:extLst xmlns:a="http://schemas.openxmlformats.org/drawingml/2006/main">
              <a:ext uri="{FF2B5EF4-FFF2-40B4-BE49-F238E27FC236}">
                <a16:creationId xmlns:a16="http://schemas.microsoft.com/office/drawing/2014/main" id="{742368BC-CC8D-4122-A005-E9C94E1EC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857875"/>
            <a:ext cx="11201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092330"/>
          </a:solidFill>
          <a:ln xmlns:a="http://schemas.openxmlformats.org/drawingml/2006/main" w="9525">
            <a:solidFill>
              <a:srgbClr val="176171"/>
            </a:solidFill>
            <a:prstDash val="solid"/>
          </a:ln>
        </p:spPr>
      </p:sp>
      <p:sp>
        <p:nvSpPr>
          <p:cNvPr id="36" name="contact-email-label">
            <a:extLst xmlns:a="http://schemas.openxmlformats.org/drawingml/2006/main">
              <a:ext uri="{FF2B5EF4-FFF2-40B4-BE49-F238E27FC236}">
                <a16:creationId xmlns:a16="http://schemas.microsoft.com/office/drawing/2014/main" id="{78E7AD3A-06B2-470A-A91F-D562B5522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00750"/>
            <a:ext cx="609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35E0DF"/>
                </a:solidFill>
                <a:latin typeface="Nimbus Sans"/>
                <a:ea typeface="Nimbus Sans"/>
                <a:cs typeface="Nimbus Sans"/>
              </a:defRPr>
            </a:pPr>
            <a:r>
              <a:rPr sz="825" b="1" i="0">
                <a:solidFill>
                  <a:srgbClr val="35E0DF"/>
                </a:solidFill>
                <a:latin typeface="Nimbus Sans"/>
                <a:ea typeface="Nimbus Sans"/>
                <a:cs typeface="Nimbus Sans"/>
              </a:rPr>
              <a:t>EMAIL</a:t>
            </a:r>
          </a:p>
        </p:txBody>
      </p:sp>
      <p:sp>
        <p:nvSpPr>
          <p:cNvPr id="37" name="contact-email">
            <a:extLst xmlns:a="http://schemas.openxmlformats.org/drawingml/2006/main">
              <a:ext uri="{FF2B5EF4-FFF2-40B4-BE49-F238E27FC236}">
                <a16:creationId xmlns:a16="http://schemas.microsoft.com/office/drawing/2014/main" id="{BFF56B4F-9F8A-4BE3-AB15-CE4E36398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722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 i="0">
                <a:solidFill>
                  <a:srgbClr val="F5F8FA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 i="0">
                <a:solidFill>
                  <a:srgbClr val="F5F8FA"/>
                </a:solidFill>
                <a:latin typeface="Nimbus Sans"/>
                <a:ea typeface="Nimbus Sans"/>
                <a:cs typeface="Nimbus Sans"/>
                <a:hlinkClick xmlns:r="http://schemas.openxmlformats.org/officeDocument/2006/relationships" r:id="R0c45a218d356423c"/>
              </a:rPr>
              <a:t>ronnie@lumifyai.com</a:t>
            </a:r>
          </a:p>
        </p:txBody>
      </p:sp>
      <p:sp>
        <p:nvSpPr>
          <p:cNvPr id="38" name="contact-divider-1">
            <a:extLst xmlns:a="http://schemas.openxmlformats.org/drawingml/2006/main">
              <a:ext uri="{FF2B5EF4-FFF2-40B4-BE49-F238E27FC236}">
                <a16:creationId xmlns:a16="http://schemas.microsoft.com/office/drawing/2014/main" id="{85FB31E0-6FFB-4C0C-B938-0917BF389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981700"/>
            <a:ext cx="95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17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contact-linkedin-label">
            <a:extLst xmlns:a="http://schemas.openxmlformats.org/drawingml/2006/main">
              <a:ext uri="{FF2B5EF4-FFF2-40B4-BE49-F238E27FC236}">
                <a16:creationId xmlns:a16="http://schemas.microsoft.com/office/drawing/2014/main" id="{71786BB5-494A-4C8B-8120-F5FBBD9CF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6000750"/>
            <a:ext cx="800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35E0DF"/>
                </a:solidFill>
                <a:latin typeface="Nimbus Sans"/>
                <a:ea typeface="Nimbus Sans"/>
                <a:cs typeface="Nimbus Sans"/>
              </a:defRPr>
            </a:pPr>
            <a:r>
              <a:rPr sz="825" b="1" i="0">
                <a:solidFill>
                  <a:srgbClr val="35E0DF"/>
                </a:solidFill>
                <a:latin typeface="Nimbus Sans"/>
                <a:ea typeface="Nimbus Sans"/>
                <a:cs typeface="Nimbus Sans"/>
              </a:rPr>
              <a:t>LINKEDIN</a:t>
            </a:r>
          </a:p>
        </p:txBody>
      </p:sp>
      <p:sp>
        <p:nvSpPr>
          <p:cNvPr id="40" name="contact-linkedin">
            <a:extLst xmlns:a="http://schemas.openxmlformats.org/drawingml/2006/main">
              <a:ext uri="{FF2B5EF4-FFF2-40B4-BE49-F238E27FC236}">
                <a16:creationId xmlns:a16="http://schemas.microsoft.com/office/drawing/2014/main" id="{7A1F969B-09C7-4AA4-A0B3-A74E7EED4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61722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 i="0">
                <a:solidFill>
                  <a:srgbClr val="F5F8FA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 i="0">
                <a:solidFill>
                  <a:srgbClr val="F5F8FA"/>
                </a:solidFill>
                <a:latin typeface="Nimbus Sans"/>
                <a:ea typeface="Nimbus Sans"/>
                <a:cs typeface="Nimbus Sans"/>
                <a:hlinkClick xmlns:r="http://schemas.openxmlformats.org/officeDocument/2006/relationships" r:id="R9c71bbff245845d3"/>
              </a:rPr>
              <a:t>linkedin.com/in/ronniecleland</a:t>
            </a:r>
          </a:p>
        </p:txBody>
      </p:sp>
      <p:sp>
        <p:nvSpPr>
          <p:cNvPr id="41" name="contact-divider-2">
            <a:extLst xmlns:a="http://schemas.openxmlformats.org/drawingml/2006/main">
              <a:ext uri="{FF2B5EF4-FFF2-40B4-BE49-F238E27FC236}">
                <a16:creationId xmlns:a16="http://schemas.microsoft.com/office/drawing/2014/main" id="{90D27B66-8899-4D48-A3CE-4901C2ACB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981700"/>
            <a:ext cx="95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17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contact-web-label">
            <a:extLst xmlns:a="http://schemas.openxmlformats.org/drawingml/2006/main">
              <a:ext uri="{FF2B5EF4-FFF2-40B4-BE49-F238E27FC236}">
                <a16:creationId xmlns:a16="http://schemas.microsoft.com/office/drawing/2014/main" id="{5499EF1B-A63B-482D-AED9-DE53A1532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000750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35E0DF"/>
                </a:solidFill>
                <a:latin typeface="Nimbus Sans"/>
                <a:ea typeface="Nimbus Sans"/>
                <a:cs typeface="Nimbus Sans"/>
              </a:defRPr>
            </a:pPr>
            <a:r>
              <a:rPr sz="825" b="1" i="0">
                <a:solidFill>
                  <a:srgbClr val="35E0DF"/>
                </a:solidFill>
                <a:latin typeface="Nimbus Sans"/>
                <a:ea typeface="Nimbus Sans"/>
                <a:cs typeface="Nimbus Sans"/>
              </a:rPr>
              <a:t>WEB</a:t>
            </a:r>
          </a:p>
        </p:txBody>
      </p:sp>
      <p:sp>
        <p:nvSpPr>
          <p:cNvPr id="43" name="contact-web">
            <a:extLst xmlns:a="http://schemas.openxmlformats.org/drawingml/2006/main">
              <a:ext uri="{FF2B5EF4-FFF2-40B4-BE49-F238E27FC236}">
                <a16:creationId xmlns:a16="http://schemas.microsoft.com/office/drawing/2014/main" id="{B1FE4965-06EB-46B6-B772-DD2ED5D04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1722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 i="0">
                <a:solidFill>
                  <a:srgbClr val="F5F8FA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 i="0">
                <a:solidFill>
                  <a:srgbClr val="F5F8FA"/>
                </a:solidFill>
                <a:latin typeface="Nimbus Sans"/>
                <a:ea typeface="Nimbus Sans"/>
                <a:cs typeface="Nimbus Sans"/>
                <a:hlinkClick xmlns:r="http://schemas.openxmlformats.org/officeDocument/2006/relationships" r:id="R982ee91ada1b4774"/>
              </a:rPr>
              <a:t>ronniecleland.com</a:t>
            </a:r>
          </a:p>
        </p:txBody>
      </p:sp>
      <p:sp>
        <p:nvSpPr>
          <p:cNvPr id="44" name="closing-signoff">
            <a:extLst xmlns:a="http://schemas.openxmlformats.org/drawingml/2006/main">
              <a:ext uri="{FF2B5EF4-FFF2-40B4-BE49-F238E27FC236}">
                <a16:creationId xmlns:a16="http://schemas.microsoft.com/office/drawing/2014/main" id="{9583B759-BA96-4E2F-ACD9-8FC70EAA0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61722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91A7B1"/>
                </a:solidFill>
                <a:latin typeface="Nimbus Sans"/>
                <a:ea typeface="Nimbus Sans"/>
                <a:cs typeface="Nimbus Sans"/>
              </a:defRPr>
            </a:pPr>
            <a:r>
              <a:rPr sz="825" b="0" i="0">
                <a:solidFill>
                  <a:srgbClr val="91A7B1"/>
                </a:solidFill>
                <a:latin typeface="Nimbus Sans"/>
                <a:ea typeface="Nimbus Sans"/>
                <a:cs typeface="Nimbus Sans"/>
              </a:rPr>
              <a:t>RONNIE CLELAND · 2026</a:t>
            </a:r>
          </a:p>
        </p:txBody>
      </p:sp>
    </p:spTree>
    <p:extLst>
      <p:ext uri="{BB962C8B-B14F-4D97-AF65-F5344CB8AC3E}">
        <p14:creationId xmlns:p14="http://schemas.microsoft.com/office/powerpoint/2010/main" val="3211348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2026-07-13T22:10:43.6400000Z</dcterms:created>
  <dcterms:modified xsi:type="dcterms:W3CDTF">2026-07-13T22:10:43.6400000Z</dcterms:modified>
</coreProperties>
</file>